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6858000" cx="12191675"/>
  <p:notesSz cx="6858000" cy="12191675"/>
  <p:embeddedFontLst>
    <p:embeddedFont>
      <p:font typeface="Noto Sans KR"/>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GitCsNfJTryMDZbfKZefAIFILX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오가연"/>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964FCD-4E89-4973-9509-FDA47E31D4AA}">
  <a:tblStyle styleId="{45964FCD-4E89-4973-9509-FDA47E31D4A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FD2CFC7-18C8-48F0-B3CB-99CFFB3C879D}"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NotoSansKR-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customschemas.google.com/relationships/presentationmetadata" Target="metadata"/><Relationship Id="rId14" Type="http://schemas.openxmlformats.org/officeDocument/2006/relationships/slide" Target="slides/slide7.xml"/><Relationship Id="rId36" Type="http://schemas.openxmlformats.org/officeDocument/2006/relationships/font" Target="fonts/NotoSansKR-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31T08:39:12.235">
    <p:pos x="6000" y="0"/>
    <p:text>보류</p:text>
    <p:extLst>
      <p:ext uri="{C676402C-5697-4E1C-873F-D02D1690AC5C}">
        <p15:threadingInfo timeZoneBias="0"/>
      </p:ext>
      <p:ext uri="http://customooxmlschemas.google.com/">
        <go:slidesCustomData xmlns:go="http://customooxmlschemas.google.com/" commentPostId="AAACGPhVAK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오늘 발표는 완성형 자동 팩트체커가 아니라, 공식 통계로 검증 가능한 범위를 안전하게 자동화한 PoC를 기업 관점에서 설명하는 자리입니다. 핵심은 HCX-007, BGE-M3, PostgreSQL을 각각 구조화 추출, 후보 표 검색, 정확 좌표 승인으로 분리한 설계입니다.</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목차입니다. 먼저 왜 뉴스 수치 검증이 좌표 문제인지 설명하고, 이후 정제와 구조화, 최종 아키텍처, 평가 해석, 기업 관점의 기여 순서로 발표합니다.</a:t>
            </a:r>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기사 입력 및 정제</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03-2 HCX 구조화 · Ready Gate</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03-3 표 검색 (Stage A)</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i="1" lang="en-US" sz="1100">
                <a:latin typeface="Arial"/>
                <a:ea typeface="Arial"/>
                <a:cs typeface="Arial"/>
                <a:sym typeface="Arial"/>
              </a:rPr>
              <a:t>트러블슈팅 — 검색 전략 비교</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03-4 좌표 생성 (Stage B·C)</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i="1" lang="en-US" sz="1100">
                <a:latin typeface="Arial"/>
                <a:ea typeface="Arial"/>
                <a:cs typeface="Arial"/>
                <a:sym typeface="Arial"/>
              </a:rPr>
              <a:t>트러블슈팅 — 유사 좌표 vs 공식 좌표</a:t>
            </a:r>
            <a:endParaRPr i="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i="1" lang="en-US" sz="1100">
                <a:latin typeface="Arial"/>
                <a:ea typeface="Arial"/>
                <a:cs typeface="Arial"/>
                <a:sym typeface="Arial"/>
              </a:rPr>
              <a:t>트러블슈팅 — 표 계열 변경</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03-5 preflight · 공식값 대조</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i="1" lang="en-US" sz="1100">
                <a:latin typeface="Arial"/>
                <a:ea typeface="Arial"/>
                <a:cs typeface="Arial"/>
                <a:sym typeface="Arial"/>
              </a:rPr>
              <a:t>트러블슈팅 — 판정 경계</a:t>
            </a:r>
            <a:endParaRPr i="1"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프로젝트 배경입니다. 뉴스 기사에는 다양한 수치가 등장하지만, KOSIS 공식 통계로 직접 검증할 수 있는 수치는 제한적입니다. 따라서 핵심은 모든 것을 맞히는 서비스가 아니라 검증 가능 범위를 안전하게 자동화하는 것입니다.</a:t>
            </a:r>
            <a:endParaRPr/>
          </a:p>
        </p:txBody>
      </p:sp>
      <p:sp>
        <p:nvSpPr>
          <p:cNvPr id="86" name="Google Shape;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ae3b6faca_1_73: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g3fae3b6faca_1_73: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[발표 시간 1:10]</a:t>
            </a:r>
            <a:endParaRPr/>
          </a:p>
          <a:p>
            <a:pPr indent="0" lvl="0" marL="0" rtl="0" algn="l">
              <a:lnSpc>
                <a:spcPct val="100000"/>
              </a:lnSpc>
              <a:spcBef>
                <a:spcPts val="0"/>
              </a:spcBef>
              <a:spcAft>
                <a:spcPts val="0"/>
              </a:spcAft>
              <a:buSzPts val="1400"/>
              <a:buNone/>
            </a:pPr>
            <a:r>
              <a:rPr lang="en-US" sz="1200"/>
              <a:t>예를 들어 수출액이라는 자연어 표현만으로는 공식값을 조회할 수 없습니다. 정확한 통계표, 측정 항목, 지역이나 품목 같은 분류축, 기간, 단위를 모두 코드로 구성해야 합니다. 이 다섯 요소가 완성된 뒤에만 KOSIS API를 호출하고, 하나라도 불확실하면 자동 판정을 중단합니다.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pp.11–12, 15, 25</a:t>
            </a:r>
            <a:endParaRPr/>
          </a:p>
          <a:p>
            <a:pPr indent="0" lvl="0" marL="0" rtl="0" algn="l">
              <a:lnSpc>
                <a:spcPct val="100000"/>
              </a:lnSpc>
              <a:spcBef>
                <a:spcPts val="0"/>
              </a:spcBef>
              <a:spcAft>
                <a:spcPts val="0"/>
              </a:spcAft>
              <a:buSzPts val="1400"/>
              <a:buNone/>
            </a:pPr>
            <a:r>
              <a:rPr lang="en-US" sz="1200"/>
              <a:t>- ss.pdf, pp.9, 12</a:t>
            </a:r>
            <a:endParaRPr/>
          </a:p>
        </p:txBody>
      </p:sp>
      <p:sp>
        <p:nvSpPr>
          <p:cNvPr id="140" name="Google Shape;140;g3fae3b6faca_1_73: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전체 파이프라인입니다. 기사 입력과 전처리 이후 HCX가 measurement를 구조화하고, scope gate가 검증 가능 범위만 통과시킵니다. BGE는 후보 통계표를 넓게 올리고, PostgreSQL이 실제 존재하는 좌표 조합을 승인합니다. 마지막으로 공식값 대조를 거쳐 MATCH 또는 UNRESOLVED가 됩니다.</a:t>
            </a:r>
            <a:endParaRPr/>
          </a:p>
        </p:txBody>
      </p:sp>
      <p:sp>
        <p:nvSpPr>
          <p:cNvPr id="207" name="Google Shape;2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ae3b6faca_1_0: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g3fae3b6faca_1_0: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[발표 시간 1:05]</a:t>
            </a:r>
            <a:endParaRPr/>
          </a:p>
          <a:p>
            <a:pPr indent="0" lvl="0" marL="0" rtl="0" algn="l">
              <a:lnSpc>
                <a:spcPct val="100000"/>
              </a:lnSpc>
              <a:spcBef>
                <a:spcPts val="0"/>
              </a:spcBef>
              <a:spcAft>
                <a:spcPts val="0"/>
              </a:spcAft>
              <a:buSzPts val="1400"/>
              <a:buNone/>
            </a:pPr>
            <a:r>
              <a:rPr lang="en-US" sz="1200"/>
              <a:t>전체 흐름입니다. URL에서 수치 문장을 찾고 HCX가 주장과 측정값을 구조화합니다. Ready Gate가 KOSIS 검증 가능성을 선별한 뒤, 표 검색과 PostgreSQL 좌표 생성, KOSIS API 공식값 대조를 거쳐 근거가 포함된 판정을 만듭니다. MCP는 제한적인 후보 보완 수단일 뿐 최종 증거는 아닙니다.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pp.2, 14–15</a:t>
            </a:r>
            <a:endParaRPr/>
          </a:p>
          <a:p>
            <a:pPr indent="0" lvl="0" marL="0" rtl="0" algn="l">
              <a:lnSpc>
                <a:spcPct val="100000"/>
              </a:lnSpc>
              <a:spcBef>
                <a:spcPts val="0"/>
              </a:spcBef>
              <a:spcAft>
                <a:spcPts val="0"/>
              </a:spcAft>
              <a:buSzPts val="1400"/>
              <a:buNone/>
            </a:pPr>
            <a:r>
              <a:rPr lang="en-US" sz="1200"/>
              <a:t>- ss.pdf, pp.4–6</a:t>
            </a:r>
            <a:endParaRPr/>
          </a:p>
        </p:txBody>
      </p:sp>
      <p:sp>
        <p:nvSpPr>
          <p:cNvPr id="277" name="Google Shape;277;g3fae3b6faca_1_0: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ae89d27e9_0_6: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g3fae89d27e9_0_6: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[발표 시간 1:10]</a:t>
            </a:r>
            <a:endParaRPr/>
          </a:p>
          <a:p>
            <a:pPr indent="0" lvl="0" marL="0" rtl="0" algn="l">
              <a:lnSpc>
                <a:spcPct val="100000"/>
              </a:lnSpc>
              <a:spcBef>
                <a:spcPts val="0"/>
              </a:spcBef>
              <a:spcAft>
                <a:spcPts val="0"/>
              </a:spcAft>
              <a:buSzPts val="1400"/>
              <a:buNone/>
            </a:pPr>
            <a:r>
              <a:rPr lang="en-US" sz="1200"/>
              <a:t>예를 들어 수출액이라는 자연어 표현만으로는 공식값을 조회할 수 없습니다. 정확한 통계표, 측정 항목, 지역이나 품목 같은 분류축, 기간, 단위를 모두 코드로 구성해야 합니다. 이 다섯 요소가 완성된 뒤에만 KOSIS API를 호출하고, 하나라도 불확실하면 자동 판정을 중단합니다.</a:t>
            </a:r>
            <a:endParaRPr/>
          </a:p>
          <a:p>
            <a:pPr indent="0" lvl="0" marL="0" rtl="0" algn="l">
              <a:lnSpc>
                <a:spcPct val="95000"/>
              </a:lnSpc>
              <a:spcBef>
                <a:spcPts val="0"/>
              </a:spcBef>
              <a:spcAft>
                <a:spcPts val="0"/>
              </a:spcAft>
              <a:buClr>
                <a:srgbClr val="6F7E76"/>
              </a:buClr>
              <a:buSzPts val="1172"/>
              <a:buFont typeface="Malgun Gothic"/>
              <a:buNone/>
            </a:pPr>
            <a:r>
              <a:rPr lang="en-US" sz="1846">
                <a:solidFill>
                  <a:srgbClr val="6F7E76"/>
                </a:solidFill>
                <a:latin typeface="Arial"/>
                <a:ea typeface="Arial"/>
                <a:cs typeface="Arial"/>
                <a:sym typeface="Arial"/>
              </a:rPr>
              <a:t>기사 정제, 구조화, Ready Gate, Ready Gate</a:t>
            </a:r>
            <a:endParaRPr sz="1846">
              <a:solidFill>
                <a:srgbClr val="6F7E76"/>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pp.11–12, 15, 25</a:t>
            </a:r>
            <a:endParaRPr/>
          </a:p>
          <a:p>
            <a:pPr indent="0" lvl="0" marL="0" rtl="0" algn="l">
              <a:lnSpc>
                <a:spcPct val="100000"/>
              </a:lnSpc>
              <a:spcBef>
                <a:spcPts val="0"/>
              </a:spcBef>
              <a:spcAft>
                <a:spcPts val="0"/>
              </a:spcAft>
              <a:buSzPts val="1400"/>
              <a:buNone/>
            </a:pPr>
            <a:r>
              <a:rPr lang="en-US" sz="1200"/>
              <a:t>- ss.pdf, pp.9, 12</a:t>
            </a:r>
            <a:endParaRPr/>
          </a:p>
        </p:txBody>
      </p:sp>
      <p:sp>
        <p:nvSpPr>
          <p:cNvPr id="367" name="Google Shape;367;g3fae89d27e9_0_6:notes"/>
          <p:cNvSpPr txBox="1"/>
          <p:nvPr>
            <p:ph idx="12" type="sldNum"/>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aefd80bea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faefd80bea_4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Structured Output 슬라이드입니다. 초기에는 대화형 검토가 편했지만 재현성과 감사 가능성이 약했습니다. 그래서 HCX-007은 자유 답변이 아니라 정해진 스키마 필드를 채우는 구조화 추출기로 사용했습니다.</a:t>
            </a:r>
            <a:endParaRPr/>
          </a:p>
        </p:txBody>
      </p:sp>
      <p:sp>
        <p:nvSpPr>
          <p:cNvPr id="437" name="Google Shape;437;g3faefd80bea_4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aefd80bea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g3faefd80bea_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11개 규칙은 READY 게이트의 안전장치입니다. 숫자와 단위가 있어도 그것이 검증 대상 역할인지, KOSIS 공식 통계 범위인지, 기간과 분류축이 충분한지 확인합니다. 불확실하면 무리하게 MATCH로 보내지 않습니다.</a:t>
            </a:r>
            <a:endParaRPr/>
          </a:p>
        </p:txBody>
      </p:sp>
      <p:sp>
        <p:nvSpPr>
          <p:cNvPr id="508" name="Google Shape;508;g3faefd80bea_2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fae3b6faca_1_135: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g3fae3b6faca_1_135: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[발표 시간 1:05]</a:t>
            </a:r>
            <a:endParaRPr/>
          </a:p>
          <a:p>
            <a:pPr indent="0" lvl="0" marL="0" rtl="0" algn="l">
              <a:lnSpc>
                <a:spcPct val="100000"/>
              </a:lnSpc>
              <a:spcBef>
                <a:spcPts val="0"/>
              </a:spcBef>
              <a:spcAft>
                <a:spcPts val="0"/>
              </a:spcAft>
              <a:buSzPts val="1400"/>
              <a:buNone/>
            </a:pPr>
            <a:r>
              <a:rPr lang="en-US" sz="1200"/>
              <a:t>HCX는 숫자만 뽑지 않고 주장 원문과 앞뒤 문맥, 지표, 값, 단위, 기간, 대상 축을 구조화합니다. 그 다음 Ready Gate가 공공통계 성격인지, 기간과 단위가 해석 가능한지, 필요한 대상 축과 파생 계산 근거가 있는지 확인합니다. 통과한 측정값만 비싼 검색과 좌표 생성 단계로 보냅니다.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pp.4, 7–8</a:t>
            </a:r>
            <a:endParaRPr/>
          </a:p>
          <a:p>
            <a:pPr indent="0" lvl="0" marL="0" rtl="0" algn="l">
              <a:lnSpc>
                <a:spcPct val="100000"/>
              </a:lnSpc>
              <a:spcBef>
                <a:spcPts val="0"/>
              </a:spcBef>
              <a:spcAft>
                <a:spcPts val="0"/>
              </a:spcAft>
              <a:buSzPts val="1400"/>
              <a:buNone/>
            </a:pPr>
            <a:r>
              <a:rPr lang="en-US" sz="1200"/>
              <a:t>- ss.pdf, pp.7–8</a:t>
            </a:r>
            <a:endParaRPr/>
          </a:p>
        </p:txBody>
      </p:sp>
      <p:sp>
        <p:nvSpPr>
          <p:cNvPr id="585" name="Google Shape;585;g3fae3b6faca_1_135: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fafe51123f_6_0: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 name="Google Shape;700;g3fafe51123f_6_0: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Stage A, B, C는 같은 검색을 세 번 반복하는 구조가 아닙니다. Stage A는 관련 표를 찾고, Stage B는 그 표 안의 실제 ITEM과 OBJ 코드를 조합합니다. Stage C는 만들어진 좌표를 기사 의미와 다시 맞춰 최종 후보 순서를 정합니다.</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pp.9-13</a:t>
            </a:r>
            <a:endParaRPr/>
          </a:p>
        </p:txBody>
      </p:sp>
      <p:sp>
        <p:nvSpPr>
          <p:cNvPr id="701" name="Google Shape;701;g3fafe51123f_6_0: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fafe51123f_6_49: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4" name="Google Shape;774;g3fafe51123f_6_49: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Stage A의 입력은 Ready Gate를 통과한 claim입니다. 먼저 lexical 검색으로 공식 표명이나 기관명 같은 정확한 표현을 잡고, BGE-M3로 표현이 달라도 의미가 가까운 표를 찾습니다. 두 후보를 합친 뒤 reranker가 조사, 기관, 주기, 대상 축까지 반영해 표 후보 pool을 만듭니다. 이 단계에서는 좌표를 확정하지 않습니다.</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pp.9-10</a:t>
            </a:r>
            <a:endParaRPr/>
          </a:p>
        </p:txBody>
      </p:sp>
      <p:sp>
        <p:nvSpPr>
          <p:cNvPr id="775" name="Google Shape;775;g3fafe51123f_6_49: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fafe51123f_6_104: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3" name="Google Shape;853;g3fafe51123f_6_104: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Stage B는 벡터 검색이 아니라 후보 표 내부의 PostgreSQL 메타데이터 탐색입니다. 먼저 ITEM이 지표 의미와 단위에 맞는지 확인하고, 지역·성별·품목 같은 대상어를 실제 OBJ 코드에 연결합니다. 품목의 상하위 계층도 검사하며, 조합 수가 커지기 때문에 beam search로 상위 좌표만 유지합니다.</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pp.11-12</a:t>
            </a:r>
            <a:endParaRPr/>
          </a:p>
        </p:txBody>
      </p:sp>
      <p:sp>
        <p:nvSpPr>
          <p:cNvPr id="854" name="Google Shape;854;g3fafe51123f_6_104: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fafe51123f_6_158: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4" name="Google Shape;934;g3fafe51123f_6_158: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Stage C는 Stage B 좌표 후보를 기사 의미에 맞춰 다시 정렬합니다. ITEM 의미, OBJ 완전성, 범위, 주기, 단위, 표 family, Stage A 점수를 함께 봅니다. 기본 후보는 Top-3이고 rank 4와 5는 실패 복구용으로만 보존합니다. 높은 순위 후보라도 PostgreSQL preflight와 기간·단위 검사를 통과해야 API 후보가 됩니다.</a:t>
            </a:r>
            <a:endParaRPr/>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pp.12-13</a:t>
            </a:r>
            <a:endParaRPr/>
          </a:p>
        </p:txBody>
      </p:sp>
      <p:sp>
        <p:nvSpPr>
          <p:cNvPr id="935" name="Google Shape;935;g3fafe51123f_6_158: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ae3b6faca_1_225: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5" name="Google Shape;1025;g3fae3b6faca_1_225: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[발표 시간 0:55]</a:t>
            </a:r>
            <a:endParaRPr/>
          </a:p>
          <a:p>
            <a:pPr indent="0" lvl="0" marL="0" rtl="0" algn="l">
              <a:lnSpc>
                <a:spcPct val="100000"/>
              </a:lnSpc>
              <a:spcBef>
                <a:spcPts val="0"/>
              </a:spcBef>
              <a:spcAft>
                <a:spcPts val="0"/>
              </a:spcAft>
              <a:buSzPts val="1400"/>
              <a:buNone/>
            </a:pPr>
            <a:r>
              <a:rPr lang="en-US" sz="1200"/>
              <a:t>KOSIS API를 호출하기 전에 다섯 가지 preflight를 확인합니다. 표, ITEM, 모든 OBJ 코드, 기간 주기, 비교 가능한 단위가 모두 확인되어야 합니다. 통과한 좌표만 공식값과 비교하며, 차이가 나도 즉시 거짓으로 단정하지 않고 검토 필요 상태로 반환합니다.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pp.15, 17–18</a:t>
            </a:r>
            <a:endParaRPr/>
          </a:p>
        </p:txBody>
      </p:sp>
      <p:sp>
        <p:nvSpPr>
          <p:cNvPr id="1026" name="Google Shape;1026;g3fae3b6faca_1_225: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faefd80bea_2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8" name="Google Shape;1108;g3faefd80bea_2_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검색 전략 비교입니다. 초기에는 lexical이 더 좋은 구간도 있었습니다. 하지만 단어가 겹치지 않는 경우 BGE-M3가 후보 확장에 유용했습니다. 최종 구조에서는 BGE를 좌표 승인자가 아니라 후보 표 검색 역할로 제한했습니다.</a:t>
            </a:r>
            <a:endParaRPr/>
          </a:p>
          <a:p>
            <a:pPr indent="0" lvl="0" marL="0" rtl="0" algn="l">
              <a:lnSpc>
                <a:spcPct val="100000"/>
              </a:lnSpc>
              <a:spcBef>
                <a:spcPts val="0"/>
              </a:spcBef>
              <a:spcAft>
                <a:spcPts val="0"/>
              </a:spcAft>
              <a:buSzPts val="1400"/>
              <a:buNone/>
            </a:pPr>
            <a:r>
              <a:t/>
            </a:r>
            <a:endParaRPr/>
          </a:p>
          <a:p>
            <a:pPr indent="0" lvl="0" marL="0" rtl="0" algn="ctr">
              <a:lnSpc>
                <a:spcPct val="95000"/>
              </a:lnSpc>
              <a:spcBef>
                <a:spcPts val="0"/>
              </a:spcBef>
              <a:spcAft>
                <a:spcPts val="0"/>
              </a:spcAft>
              <a:buClr>
                <a:srgbClr val="173F2F"/>
              </a:buClr>
              <a:buSzPts val="1120"/>
              <a:buFont typeface="Malgun Gothic"/>
              <a:buNone/>
            </a:pPr>
            <a:r>
              <a:rPr b="1" lang="en-US" sz="1120">
                <a:solidFill>
                  <a:srgbClr val="173F2F"/>
                </a:solidFill>
              </a:rPr>
              <a:t>최종 구조에서는 “검색”과 “승인”을 분리해, BGE가 정답 좌표를 찾는다고 말하지 않습니다.</a:t>
            </a:r>
            <a:endParaRPr sz="1120"/>
          </a:p>
          <a:p>
            <a:pPr indent="0" lvl="0" marL="0" rtl="0" algn="l">
              <a:lnSpc>
                <a:spcPct val="100000"/>
              </a:lnSpc>
              <a:spcBef>
                <a:spcPts val="0"/>
              </a:spcBef>
              <a:spcAft>
                <a:spcPts val="0"/>
              </a:spcAft>
              <a:buSzPts val="1400"/>
              <a:buNone/>
            </a:pPr>
            <a:r>
              <a:t/>
            </a:r>
            <a:endParaRPr/>
          </a:p>
        </p:txBody>
      </p:sp>
      <p:sp>
        <p:nvSpPr>
          <p:cNvPr id="1109" name="Google Shape;1109;g3faefd80bea_2_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afe51123f_1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6" name="Google Shape;1146;g3fafe51123f_1_2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오늘 발표는 완성형 자동 팩트체커가 아니라, 공식 통계로 검증 가능한 범위를 안전하게 자동화한 PoC를 기업 관점에서 설명하는 자리입니다. 핵심은 HCX-007, BGE-M3, PostgreSQL을 각각 구조화 추출, 후보 표 검색, 정확 좌표 승인으로 분리한 설계입니다.</a:t>
            </a:r>
            <a:endParaRPr/>
          </a:p>
        </p:txBody>
      </p:sp>
      <p:sp>
        <p:nvSpPr>
          <p:cNvPr id="1147" name="Google Shape;1147;g3fafe51123f_1_2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3fafe51123f_1_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2" name="Google Shape;1222;g3fafe51123f_1_3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오늘 발표는 완성형 자동 팩트체커가 아니라, 공식 통계로 검증 가능한 범위를 안전하게 자동화한 PoC를 기업 관점에서 설명하는 자리입니다. 핵심은 HCX-007, BGE-M3, PostgreSQL을 각각 구조화 추출, 후보 표 검색, 정확 좌표 승인으로 분리한 설계입니다.</a:t>
            </a:r>
            <a:endParaRPr/>
          </a:p>
        </p:txBody>
      </p:sp>
      <p:sp>
        <p:nvSpPr>
          <p:cNvPr id="1223" name="Google Shape;1223;g3fafe51123f_1_3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fafe51123f_1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1" name="Google Shape;1281;g3fafe51123f_1_2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오늘 발표는 완성형 자동 팩트체커가 아니라, 공식 통계로 검증 가능한 범위를 안전하게 자동화한 PoC를 기업 관점에서 설명하는 자리입니다. 핵심은 HCX-007, BGE-M3, PostgreSQL을 각각 구조화 추출, 후보 표 검색, 정확 좌표 승인으로 분리한 설계입니다.</a:t>
            </a:r>
            <a:endParaRPr/>
          </a:p>
        </p:txBody>
      </p:sp>
      <p:sp>
        <p:nvSpPr>
          <p:cNvPr id="1282" name="Google Shape;1282;g3fafe51123f_1_2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fafe51123f_1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5" name="Google Shape;1345;g3fafe51123f_1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오늘 발표는 완성형 자동 팩트체커가 아니라, 공식 통계로 검증 가능한 범위를 안전하게 자동화한 PoC를 기업 관점에서 설명하는 자리입니다. 핵심은 HCX-007, BGE-M3, PostgreSQL을 각각 구조화 추출, 후보 표 검색, 정확 좌표 승인으로 분리한 설계입니다.</a:t>
            </a:r>
            <a:endParaRPr/>
          </a:p>
        </p:txBody>
      </p:sp>
      <p:sp>
        <p:nvSpPr>
          <p:cNvPr id="1346" name="Google Shape;1346;g3fafe51123f_1_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fafe51123f_0_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6" name="Google Shape;1406;g3fafe51123f_0_0: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최적화 과정에서 처리 지연을 개선한 과정을 공유드리겠습니다.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먼저 저희가 파악한 병목부터 말씀드리면, </a:t>
            </a:r>
            <a:r>
              <a:rPr b="1" lang="en-US" sz="1100">
                <a:latin typeface="Arial"/>
                <a:ea typeface="Arial"/>
                <a:cs typeface="Arial"/>
                <a:sym typeface="Arial"/>
              </a:rPr>
              <a:t>이 파이프라인은 계산이 느린 게 아니라 기다리는 시간이 길었습니다.</a:t>
            </a:r>
            <a:r>
              <a:rPr lang="en-US" sz="1100">
                <a:latin typeface="Arial"/>
                <a:ea typeface="Arial"/>
                <a:cs typeface="Arial"/>
                <a:sym typeface="Arial"/>
              </a:rPr>
              <a:t> HCX 응답을 기다리고, KOSIS API 왕복을 기다리고, 그 사이 GPU는 놀고 있었습니다. 그래서 계산을 빠르게 만드는 대신, </a:t>
            </a:r>
            <a:r>
              <a:rPr b="1" lang="en-US" sz="1100">
                <a:latin typeface="Arial"/>
                <a:ea typeface="Arial"/>
                <a:cs typeface="Arial"/>
                <a:sym typeface="Arial"/>
              </a:rPr>
              <a:t>기다리는 시간을 겹치는 방향</a:t>
            </a:r>
            <a:r>
              <a:rPr lang="en-US" sz="1100">
                <a:latin typeface="Arial"/>
                <a:ea typeface="Arial"/>
                <a:cs typeface="Arial"/>
                <a:sym typeface="Arial"/>
              </a:rPr>
              <a:t>으로 접근했습니다.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US" sz="1100">
                <a:latin typeface="Arial"/>
                <a:ea typeface="Arial"/>
                <a:cs typeface="Arial"/>
                <a:sym typeface="Arial"/>
              </a:rPr>
              <a:t>(위쪽 타임라인을 가리키며)</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위가 기존 순차 실행입니다. HCX가 끝나야 Stage A가 시작되고, 그게 끝나야 Stage C가 시작됩니다. 이 방식에서는 전체 시간이 </a:t>
            </a:r>
            <a:r>
              <a:rPr b="1" lang="en-US" sz="1100">
                <a:latin typeface="Arial"/>
                <a:ea typeface="Arial"/>
                <a:cs typeface="Arial"/>
                <a:sym typeface="Arial"/>
              </a:rPr>
              <a:t>각 단계의 합</a:t>
            </a:r>
            <a:r>
              <a:rPr lang="en-US" sz="1100">
                <a:latin typeface="Arial"/>
                <a:ea typeface="Arial"/>
                <a:cs typeface="Arial"/>
                <a:sym typeface="Arial"/>
              </a:rPr>
              <a:t>이 됩니다. 아래가 개선한 구조인데, 동시에 실행하면 전체 시간이 </a:t>
            </a:r>
            <a:r>
              <a:rPr b="1" lang="en-US" sz="1100">
                <a:latin typeface="Arial"/>
                <a:ea typeface="Arial"/>
                <a:cs typeface="Arial"/>
                <a:sym typeface="Arial"/>
              </a:rPr>
              <a:t>가장 오래 걸리는 단계 하나</a:t>
            </a:r>
            <a:r>
              <a:rPr lang="en-US" sz="1100">
                <a:latin typeface="Arial"/>
                <a:ea typeface="Arial"/>
                <a:cs typeface="Arial"/>
                <a:sym typeface="Arial"/>
              </a:rPr>
              <a:t>로 줄어듭니다. HCX는 최대 3개 claim을 병렬로 처리하고, Stage A는 legacy·balanced·metadata 세 검색을 동시에 돌리고, Stage C도 기본 후보와 metadata 후보를 함께 재순위합니다.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여기서 가장 크게 기여한 건 맨 아래 fallback 항목입니다. </a:t>
            </a:r>
            <a:r>
              <a:rPr b="1" lang="en-US" sz="1100">
                <a:latin typeface="Arial"/>
                <a:ea typeface="Arial"/>
                <a:cs typeface="Arial"/>
                <a:sym typeface="Arial"/>
              </a:rPr>
              <a:t>기존에는 앞 단계가 실패해야 fallback이 시작됐습니다.</a:t>
            </a:r>
            <a:r>
              <a:rPr lang="en-US" sz="1100">
                <a:latin typeface="Arial"/>
                <a:ea typeface="Arial"/>
                <a:cs typeface="Arial"/>
                <a:sym typeface="Arial"/>
              </a:rPr>
              <a:t> 즉 fallback 비용이 어려운 케이스에만 통째로 얹혔던 거죠. 저희가 관측한 p50 88초와 p95 290초의 격차가 정확히 이 구조에서 나왔습니다. 절반은 한 번에 성공해서 88초에 끝나는데, 어려운 케이스만 fallback 체인을 타면서 3배 넘게 걸린 겁니다.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그래서 </a:t>
            </a:r>
            <a:r>
              <a:rPr b="1" lang="en-US" sz="1100">
                <a:latin typeface="Arial"/>
                <a:ea typeface="Arial"/>
                <a:cs typeface="Arial"/>
                <a:sym typeface="Arial"/>
              </a:rPr>
              <a:t>metadata fallback을 미리 계산해두고 필요할 때만 채택하도록</a:t>
            </a:r>
            <a:r>
              <a:rPr lang="en-US" sz="1100">
                <a:latin typeface="Arial"/>
                <a:ea typeface="Arial"/>
                <a:cs typeface="Arial"/>
                <a:sym typeface="Arial"/>
              </a:rPr>
              <a:t> 바꿨습니다. fallback이 임계 경로에서 빠지면서, 어려운 케이스도 쉬운 케이스와 비슷한 시간에 끝나게 됐습니다. 이 방식은 쓰지 않을 결과도 계산하기 때문에 총 작업량은 오히려 늘어납니다. 다만 이 파이프라인에서는 대기 시간이 계산 비용보다 훨씬 비쌌기 때문에 이득이 되는 구조였습니다.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두 번째는 실제로 일을 덜 하도록 바꾼 부분입니다. Stage B에서는 한 기사 안에 같은 ITEM·OBJ 조합이 반복해서 나오는데, 이걸 중복 제거한 뒤 </a:t>
            </a:r>
            <a:r>
              <a:rPr b="1" lang="en-US" sz="1100">
                <a:latin typeface="Arial"/>
                <a:ea typeface="Arial"/>
                <a:cs typeface="Arial"/>
                <a:sym typeface="Arial"/>
              </a:rPr>
              <a:t>실행 단위로 한 번에 임베딩</a:t>
            </a:r>
            <a:r>
              <a:rPr lang="en-US" sz="1100">
                <a:latin typeface="Arial"/>
                <a:ea typeface="Arial"/>
                <a:cs typeface="Arial"/>
                <a:sym typeface="Arial"/>
              </a:rPr>
              <a:t>합니다. claim별로 쪼개서 GPU를 부르면 매번 작은 배치로 커널이 돌아 L4를 거의 놀리게 되는데, 일괄로 묶으면 호출 오버헤드가 분산되고 사용률이 올라갑니다. KOSIS API도 마찬가지로 같은 작업 안에서 동일한 좌표를 여러 번 요청하던 것을 제거했습니다. 이 두 가지는 트레이드오프 없이 순수하게 시간이 줄어드는 부분입니다.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US" sz="1100">
                <a:latin typeface="Arial"/>
                <a:ea typeface="Arial"/>
                <a:cs typeface="Arial"/>
                <a:sym typeface="Arial"/>
              </a:rPr>
              <a:t>(맨 아래 띠를 가리키며)</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마지막으로 중요한 점 하나를 말씀드리면, </a:t>
            </a:r>
            <a:r>
              <a:rPr b="1" lang="en-US" sz="1100">
                <a:latin typeface="Arial"/>
                <a:ea typeface="Arial"/>
                <a:cs typeface="Arial"/>
                <a:sym typeface="Arial"/>
              </a:rPr>
              <a:t>판정 로직은 전혀 손대지 않았습니다.</a:t>
            </a:r>
            <a:r>
              <a:rPr lang="en-US" sz="1100">
                <a:latin typeface="Arial"/>
                <a:ea typeface="Arial"/>
                <a:cs typeface="Arial"/>
                <a:sym typeface="Arial"/>
              </a:rPr>
              <a:t> v64 엔진은 코드 SHA로 고정돼 있어서 수정하면 재현성이 깨집니다. 그래서 엔진은 그대로 두고 </a:t>
            </a:r>
            <a:r>
              <a:rPr b="1" lang="en-US" sz="1100">
                <a:latin typeface="Arial"/>
                <a:ea typeface="Arial"/>
                <a:cs typeface="Arial"/>
                <a:sym typeface="Arial"/>
              </a:rPr>
              <a:t>호출하는 서비스 경로만 별도로 최적화</a:t>
            </a:r>
            <a:r>
              <a:rPr lang="en-US" sz="1100">
                <a:latin typeface="Arial"/>
                <a:ea typeface="Arial"/>
                <a:cs typeface="Arial"/>
                <a:sym typeface="Arial"/>
              </a:rPr>
              <a:t>했습니다. 같은 좌표에 같은 판정이 나오고, 속도만 개선된 구조입니다.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마무리 문장 — 두 가지 중 선택</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검증을 마치신 경우:</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최적화 경로로 dev600과 blind100을 다시 돌려 판정 결과가 한 건도 바뀌지 않는 것을 확인했습니다. 처리시간은 p50 OO초, p95 OO초로 단축됐습니다.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아직 검증 전인 경우 — 이렇게 말씀하시는 게 안전합니다:</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다만 동시 실행은 후보 정렬 순서에 영향을 줄 수 있어서, 최적화 경로로 전체 평가셋을 다시 돌려 판정이 동일한지 검증하는 작업이 남아 있습니다</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407" name="Google Shape;1407;g3fafe51123f_0_0:notes"/>
          <p:cNvSpPr txBox="1"/>
          <p:nvPr>
            <p:ph idx="12" type="sldNum"/>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3fafe51123f_1_9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3" name="Google Shape;1463;g3fafe51123f_1_93: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좌표 골드 300건에서는 사전에 정한 목표치를 통과했습니다. 이후 600건 규모로 mapping cache를 확장하면서 내부 최적화 성능은 약 90%까지 상승했습니다. 신규 통계표로 구성된 blind100에서는 54~58%로 성능 하락이 나타났으며, 이는 현재 시스템에서 검색 일반화가 가장 중요한 개선 과제임을 보여줍니다.</a:t>
            </a:r>
            <a:endParaRPr/>
          </a:p>
          <a:p>
            <a:pPr indent="0" lvl="0" marL="0" rtl="0" algn="l">
              <a:lnSpc>
                <a:spcPct val="100000"/>
              </a:lnSpc>
              <a:spcBef>
                <a:spcPts val="0"/>
              </a:spcBef>
              <a:spcAft>
                <a:spcPts val="0"/>
              </a:spcAft>
              <a:buSzPts val="1400"/>
              <a:buNone/>
            </a:pPr>
            <a:r>
              <a:t/>
            </a:r>
            <a:endParaRPr/>
          </a:p>
        </p:txBody>
      </p:sp>
      <p:sp>
        <p:nvSpPr>
          <p:cNvPr id="1464" name="Google Shape;1464;g3fafe51123f_1_93:notes"/>
          <p:cNvSpPr txBox="1"/>
          <p:nvPr>
            <p:ph idx="12" type="sldNum"/>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3f8727dd44b_2_0:notes"/>
          <p:cNvSpPr/>
          <p:nvPr>
            <p:ph idx="2" type="sldImg"/>
          </p:nvPr>
        </p:nvSpPr>
        <p:spPr>
          <a:xfrm>
            <a:off x="40" y="0"/>
            <a:ext cx="299992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5" name="Google Shape;1535;g3f8727dd44b_2_0:notes"/>
          <p:cNvSpPr txBox="1"/>
          <p:nvPr>
            <p:ph idx="1" type="body"/>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[발표 시간 1:00]</a:t>
            </a:r>
            <a:endParaRPr/>
          </a:p>
          <a:p>
            <a:pPr indent="0" lvl="0" marL="0" rtl="0" algn="l">
              <a:lnSpc>
                <a:spcPct val="100000"/>
              </a:lnSpc>
              <a:spcBef>
                <a:spcPts val="0"/>
              </a:spcBef>
              <a:spcAft>
                <a:spcPts val="0"/>
              </a:spcAft>
              <a:buSzPts val="1400"/>
              <a:buNone/>
            </a:pPr>
            <a:r>
              <a:rPr lang="en-US" sz="1200"/>
              <a:t>이 프로젝트는 새로운 기사 대부분에 답하는 상용 시스템이라기보다, 근거가 있을 때만 안전하게 판정하는 E2E PoC입니다. URL부터 공식 근거까지 연결하고 역할을 분리했으며 freeze 기반 평가도 구축했습니다. 반면 blind 일반화, evidence coverage, 처리시간은 명확한 개선 과제로 남아 있습니다.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t>[Sources]</a:t>
            </a:r>
            <a:endParaRPr/>
          </a:p>
          <a:p>
            <a:pPr indent="0" lvl="0" marL="0" rtl="0" algn="l">
              <a:lnSpc>
                <a:spcPct val="100000"/>
              </a:lnSpc>
              <a:spcBef>
                <a:spcPts val="0"/>
              </a:spcBef>
              <a:spcAft>
                <a:spcPts val="0"/>
              </a:spcAft>
              <a:buSzPts val="1400"/>
              <a:buNone/>
            </a:pPr>
            <a:r>
              <a:rPr lang="en-US" sz="1200"/>
              <a:t>- KOSIS 기반 뉴스 수치 팩트체크 PoC의 사본.pdf, pp.23–24, 28</a:t>
            </a:r>
            <a:endParaRPr/>
          </a:p>
        </p:txBody>
      </p:sp>
      <p:sp>
        <p:nvSpPr>
          <p:cNvPr id="1536" name="Google Shape;1536;g3f8727dd44b_2_0:notes"/>
          <p:cNvSpPr txBox="1"/>
          <p:nvPr>
            <p:ph idx="12" type="sldNum"/>
          </p:nvPr>
        </p:nvSpPr>
        <p:spPr>
          <a:xfrm>
            <a:off x="0" y="0"/>
            <a:ext cx="3000000" cy="39998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3faefd80bea_5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6" name="Google Shape;1576;g3faefd80bea_5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전체 파이프라인입니다. 기사 입력과 전처리 이후 HCX가 measurement를 구조화하고, scope gate가 검증 가능 범위만 통과시킵니다. BGE는 후보 통계표를 넓게 올리고, PostgreSQL이 실제 존재하는 좌표 조합을 승인합니다. 마지막으로 공식값 대조를 거쳐 MATCH 또는 UNRESOLVED가 됩니다.</a:t>
            </a:r>
            <a:endParaRPr/>
          </a:p>
        </p:txBody>
      </p:sp>
      <p:sp>
        <p:nvSpPr>
          <p:cNvPr id="1577" name="Google Shape;1577;g3faefd80bea_5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5" name="Google Shape;163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시연에서는 최종 MATCH 사례만 보여주기보다 안전한 의사결정 흐름을 보여주는 것이 좋습니다. claim 문장, measurement 추출, scope gate, BGE 후보 표, PostgreSQL 좌표 승인, MATCH 또는 UNRESOLVED까지 단계별 근거를 보여줍니다.</a:t>
            </a:r>
            <a:endParaRPr/>
          </a:p>
        </p:txBody>
      </p:sp>
      <p:sp>
        <p:nvSpPr>
          <p:cNvPr id="1636" name="Google Shape;163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fad817dd61_2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2" name="Google Shape;1662;g3fad817dd61_2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오늘 발표는 완성형 자동 팩트체커가 아니라, 공식 통계로 검증 가능한 범위를 안전하게 자동화한 PoC를 기업 관점에서 설명하는 자리입니다. 핵심은 HCX-007, BGE-M3, PostgreSQL을 각각 구조화 추출, 후보 표 검색, 정확 좌표 승인으로 분리한 설계입니다.</a:t>
            </a:r>
            <a:endParaRPr/>
          </a:p>
        </p:txBody>
      </p:sp>
      <p:sp>
        <p:nvSpPr>
          <p:cNvPr id="1663" name="Google Shape;1663;g3fad817dd61_2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g3faefd80bea_2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6" name="Google Shape;1676;g3faefd80bea_2_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DB 설계 전환입니다. 좌표까지 벡터 검색으로 직접 찾는 방식은 의미적으로 비슷한 후보를 많이 만들지만, 공식 통계에서는 정확한 좌표 조합이 중요합니다. 그래서 PostgreSQL을 좌표 승인 장치로 사용했습니다.</a:t>
            </a:r>
            <a:endParaRPr/>
          </a:p>
        </p:txBody>
      </p:sp>
      <p:sp>
        <p:nvSpPr>
          <p:cNvPr id="1677" name="Google Shape;1677;g3faefd80bea_2_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rgbClr val="F7F9F6"/>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 id="214748365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9" name="Shape 19"/>
        <p:cNvGrpSpPr/>
        <p:nvPr/>
      </p:nvGrpSpPr>
      <p:grpSpPr>
        <a:xfrm>
          <a:off x="0" y="0"/>
          <a:ext cx="0" cy="0"/>
          <a:chOff x="0" y="0"/>
          <a:chExt cx="0" cy="0"/>
        </a:xfrm>
      </p:grpSpPr>
      <p:sp>
        <p:nvSpPr>
          <p:cNvPr id="20" name="Google Shape;20;p1"/>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 name="Google Shape;21;p1"/>
          <p:cNvCxnSpPr/>
          <p:nvPr/>
        </p:nvCxnSpPr>
        <p:spPr>
          <a:xfrm>
            <a:off x="182880" y="5742432"/>
            <a:ext cx="1353312" cy="0"/>
          </a:xfrm>
          <a:prstGeom prst="straightConnector1">
            <a:avLst/>
          </a:prstGeom>
          <a:noFill/>
          <a:ln cap="flat" cmpd="sng" w="11425">
            <a:solidFill>
              <a:srgbClr val="D7E3DA"/>
            </a:solidFill>
            <a:prstDash val="solid"/>
            <a:round/>
            <a:headEnd len="sm" w="sm" type="none"/>
            <a:tailEnd len="sm" w="sm" type="none"/>
          </a:ln>
        </p:spPr>
      </p:cxnSp>
      <p:sp>
        <p:nvSpPr>
          <p:cNvPr id="22" name="Google Shape;22;p1"/>
          <p:cNvSpPr/>
          <p:nvPr/>
        </p:nvSpPr>
        <p:spPr>
          <a:xfrm>
            <a:off x="246888" y="5989320"/>
            <a:ext cx="73152" cy="73152"/>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393067" y="5957346"/>
            <a:ext cx="1097400" cy="137100"/>
          </a:xfrm>
          <a:prstGeom prst="rect">
            <a:avLst/>
          </a:prstGeom>
          <a:noFill/>
          <a:ln>
            <a:noFill/>
          </a:ln>
        </p:spPr>
        <p:txBody>
          <a:bodyPr anchorCtr="0" anchor="ctr" bIns="500" lIns="500" spcFirstLastPara="1" rIns="500" wrap="square" tIns="500">
            <a:norm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2026.09.02</a:t>
            </a:r>
            <a:endParaRPr b="0" i="0" sz="730" u="none" cap="none" strike="noStrike">
              <a:solidFill>
                <a:schemeClr val="dk1"/>
              </a:solidFill>
              <a:latin typeface="Malgun Gothic"/>
              <a:ea typeface="Malgun Gothic"/>
              <a:cs typeface="Malgun Gothic"/>
              <a:sym typeface="Malgun Gothic"/>
            </a:endParaRPr>
          </a:p>
        </p:txBody>
      </p:sp>
      <p:sp>
        <p:nvSpPr>
          <p:cNvPr id="24" name="Google Shape;24;p1"/>
          <p:cNvSpPr/>
          <p:nvPr/>
        </p:nvSpPr>
        <p:spPr>
          <a:xfrm>
            <a:off x="256032" y="6199632"/>
            <a:ext cx="1234440" cy="146304"/>
          </a:xfrm>
          <a:prstGeom prst="rect">
            <a:avLst/>
          </a:prstGeom>
          <a:noFill/>
          <a:ln>
            <a:noFill/>
          </a:ln>
        </p:spPr>
        <p:txBody>
          <a:bodyPr anchorCtr="0" anchor="ctr" bIns="500" lIns="500" spcFirstLastPara="1" rIns="500" wrap="square" tIns="500">
            <a:normAutofit/>
          </a:bodyPr>
          <a:lstStyle/>
          <a:p>
            <a:pPr indent="0" lvl="0" marL="0" marR="0" rtl="0" algn="l">
              <a:lnSpc>
                <a:spcPct val="95000"/>
              </a:lnSpc>
              <a:spcBef>
                <a:spcPts val="0"/>
              </a:spcBef>
              <a:spcAft>
                <a:spcPts val="0"/>
              </a:spcAft>
              <a:buClr>
                <a:srgbClr val="8A9B92"/>
              </a:buClr>
              <a:buSzPts val="620"/>
              <a:buFont typeface="Malgun Gothic"/>
              <a:buNone/>
            </a:pPr>
            <a:r>
              <a:rPr b="0" i="0" lang="en-US" sz="920" u="none" cap="none" strike="noStrike">
                <a:solidFill>
                  <a:srgbClr val="8A9B92"/>
                </a:solidFill>
                <a:latin typeface="Malgun Gothic"/>
                <a:ea typeface="Malgun Gothic"/>
                <a:cs typeface="Malgun Gothic"/>
                <a:sym typeface="Malgun Gothic"/>
              </a:rPr>
              <a:t>최종 프로젝트</a:t>
            </a:r>
            <a:endParaRPr b="0" i="0" sz="920" u="none" cap="none" strike="noStrike">
              <a:solidFill>
                <a:schemeClr val="dk1"/>
              </a:solidFill>
              <a:latin typeface="Malgun Gothic"/>
              <a:ea typeface="Malgun Gothic"/>
              <a:cs typeface="Malgun Gothic"/>
              <a:sym typeface="Malgun Gothic"/>
            </a:endParaRPr>
          </a:p>
        </p:txBody>
      </p:sp>
      <p:sp>
        <p:nvSpPr>
          <p:cNvPr id="25" name="Google Shape;25;p1"/>
          <p:cNvSpPr/>
          <p:nvPr/>
        </p:nvSpPr>
        <p:spPr>
          <a:xfrm>
            <a:off x="0" y="0"/>
            <a:ext cx="12191695" cy="100584"/>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2096225" y="2189585"/>
            <a:ext cx="9775200" cy="1626300"/>
          </a:xfrm>
          <a:prstGeom prst="roundRect">
            <a:avLst>
              <a:gd fmla="val 14737" name="adj"/>
            </a:avLst>
          </a:prstGeom>
          <a:solidFill>
            <a:srgbClr val="FFFFFF"/>
          </a:solidFill>
          <a:ln cap="flat" cmpd="sng" w="24600">
            <a:solidFill>
              <a:srgbClr val="D7E3DA"/>
            </a:solidFill>
            <a:prstDash val="solid"/>
            <a:round/>
            <a:headEnd len="sm" w="sm" type="none"/>
            <a:tailEnd len="sm" w="sm" type="none"/>
          </a:ln>
        </p:spPr>
        <p:txBody>
          <a:bodyPr anchorCtr="0" anchor="ctr" bIns="161200" lIns="161200" spcFirstLastPara="1" rIns="161200" wrap="square" tIns="161200">
            <a:noAutofit/>
          </a:bodyPr>
          <a:lstStyle/>
          <a:p>
            <a:pPr indent="0" lvl="0" marL="0" marR="0" rtl="0" algn="l">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Arial"/>
              <a:ea typeface="Arial"/>
              <a:cs typeface="Arial"/>
              <a:sym typeface="Arial"/>
            </a:endParaRPr>
          </a:p>
        </p:txBody>
      </p:sp>
      <p:sp>
        <p:nvSpPr>
          <p:cNvPr id="27" name="Google Shape;27;p1"/>
          <p:cNvSpPr/>
          <p:nvPr/>
        </p:nvSpPr>
        <p:spPr>
          <a:xfrm>
            <a:off x="3041515" y="2210321"/>
            <a:ext cx="8075700" cy="1273800"/>
          </a:xfrm>
          <a:prstGeom prst="rect">
            <a:avLst/>
          </a:prstGeom>
          <a:noFill/>
          <a:ln>
            <a:noFill/>
          </a:ln>
        </p:spPr>
        <p:txBody>
          <a:bodyPr anchorCtr="0" anchor="ctr" bIns="450" lIns="450" spcFirstLastPara="1" rIns="450" wrap="square" tIns="450">
            <a:normAutofit/>
          </a:bodyPr>
          <a:lstStyle/>
          <a:p>
            <a:pPr indent="0" lvl="0" marL="0" marR="0" rtl="0" algn="l">
              <a:lnSpc>
                <a:spcPct val="95000"/>
              </a:lnSpc>
              <a:spcBef>
                <a:spcPts val="0"/>
              </a:spcBef>
              <a:spcAft>
                <a:spcPts val="0"/>
              </a:spcAft>
              <a:buClr>
                <a:srgbClr val="173F2F"/>
              </a:buClr>
              <a:buSzPts val="4232"/>
              <a:buFont typeface="Malgun Gothic"/>
              <a:buNone/>
            </a:pPr>
            <a:r>
              <a:rPr b="1" i="0" lang="en-US" sz="4583" u="none" cap="none" strike="noStrike">
                <a:solidFill>
                  <a:srgbClr val="1F7A4F"/>
                </a:solidFill>
                <a:latin typeface="Arial"/>
                <a:ea typeface="Arial"/>
                <a:cs typeface="Arial"/>
                <a:sym typeface="Arial"/>
              </a:rPr>
              <a:t>AI 기반 뉴스 사실 검증 시스템</a:t>
            </a:r>
            <a:endParaRPr b="1" i="0" sz="4583" u="none" cap="none" strike="noStrike">
              <a:solidFill>
                <a:srgbClr val="1F7A4F"/>
              </a:solidFill>
              <a:latin typeface="Arial"/>
              <a:ea typeface="Arial"/>
              <a:cs typeface="Arial"/>
              <a:sym typeface="Arial"/>
            </a:endParaRPr>
          </a:p>
        </p:txBody>
      </p:sp>
      <p:sp>
        <p:nvSpPr>
          <p:cNvPr id="28" name="Google Shape;28;p1"/>
          <p:cNvSpPr/>
          <p:nvPr/>
        </p:nvSpPr>
        <p:spPr>
          <a:xfrm>
            <a:off x="8668048" y="5731900"/>
            <a:ext cx="3060900" cy="588000"/>
          </a:xfrm>
          <a:prstGeom prst="rect">
            <a:avLst/>
          </a:prstGeom>
          <a:noFill/>
          <a:ln>
            <a:noFill/>
          </a:ln>
        </p:spPr>
        <p:txBody>
          <a:bodyPr anchorCtr="0" anchor="ctr" bIns="200" lIns="200" spcFirstLastPara="1" rIns="200" wrap="square" tIns="200">
            <a:noAutofit/>
          </a:bodyPr>
          <a:lstStyle/>
          <a:p>
            <a:pPr indent="0" lvl="0" marL="0" marR="0" rtl="0" algn="r">
              <a:lnSpc>
                <a:spcPct val="150000"/>
              </a:lnSpc>
              <a:spcBef>
                <a:spcPts val="0"/>
              </a:spcBef>
              <a:spcAft>
                <a:spcPts val="0"/>
              </a:spcAft>
              <a:buClr>
                <a:srgbClr val="173F2F"/>
              </a:buClr>
              <a:buSzPts val="1954"/>
              <a:buFont typeface="Malgun Gothic"/>
              <a:buNone/>
            </a:pPr>
            <a:r>
              <a:rPr b="1" i="0" lang="en-US" sz="1317" u="none" cap="none" strike="noStrike">
                <a:solidFill>
                  <a:srgbClr val="173F2F"/>
                </a:solidFill>
                <a:latin typeface="Arial"/>
                <a:ea typeface="Arial"/>
                <a:cs typeface="Arial"/>
                <a:sym typeface="Arial"/>
              </a:rPr>
              <a:t>3조   김은결 </a:t>
            </a:r>
            <a:r>
              <a:rPr b="1" i="0" lang="en-US" sz="1150" u="none" cap="none" strike="noStrike">
                <a:solidFill>
                  <a:srgbClr val="10271D"/>
                </a:solidFill>
                <a:latin typeface="Calibri"/>
                <a:ea typeface="Calibri"/>
                <a:cs typeface="Calibri"/>
                <a:sym typeface="Calibri"/>
              </a:rPr>
              <a:t>·</a:t>
            </a:r>
            <a:r>
              <a:rPr b="0" i="0" lang="en-US" sz="1100" u="none" cap="none" strike="noStrike">
                <a:solidFill>
                  <a:schemeClr val="dk1"/>
                </a:solidFill>
                <a:latin typeface="Arial"/>
                <a:ea typeface="Arial"/>
                <a:cs typeface="Arial"/>
                <a:sym typeface="Arial"/>
              </a:rPr>
              <a:t> </a:t>
            </a:r>
            <a:r>
              <a:rPr b="1" i="0" lang="en-US" sz="1317" u="none" cap="none" strike="noStrike">
                <a:solidFill>
                  <a:srgbClr val="173F2F"/>
                </a:solidFill>
                <a:latin typeface="Arial"/>
                <a:ea typeface="Arial"/>
                <a:cs typeface="Arial"/>
                <a:sym typeface="Arial"/>
              </a:rPr>
              <a:t>구정현 </a:t>
            </a:r>
            <a:r>
              <a:rPr b="1" i="0" lang="en-US" sz="1150" u="none" cap="none" strike="noStrike">
                <a:solidFill>
                  <a:srgbClr val="10271D"/>
                </a:solidFill>
                <a:latin typeface="Calibri"/>
                <a:ea typeface="Calibri"/>
                <a:cs typeface="Calibri"/>
                <a:sym typeface="Calibri"/>
              </a:rPr>
              <a:t>·</a:t>
            </a:r>
            <a:r>
              <a:rPr b="1" i="0" lang="en-US" sz="1317" u="none" cap="none" strike="noStrike">
                <a:solidFill>
                  <a:srgbClr val="173F2F"/>
                </a:solidFill>
                <a:latin typeface="Arial"/>
                <a:ea typeface="Arial"/>
                <a:cs typeface="Arial"/>
                <a:sym typeface="Arial"/>
              </a:rPr>
              <a:t> 김진성 </a:t>
            </a:r>
            <a:r>
              <a:rPr b="1" i="0" lang="en-US" sz="1150" u="none" cap="none" strike="noStrike">
                <a:solidFill>
                  <a:srgbClr val="10271D"/>
                </a:solidFill>
                <a:latin typeface="Calibri"/>
                <a:ea typeface="Calibri"/>
                <a:cs typeface="Calibri"/>
                <a:sym typeface="Calibri"/>
              </a:rPr>
              <a:t>·</a:t>
            </a:r>
            <a:r>
              <a:rPr b="0" i="0" lang="en-US" sz="1100" u="none" cap="none" strike="noStrike">
                <a:solidFill>
                  <a:schemeClr val="dk1"/>
                </a:solidFill>
                <a:latin typeface="Arial"/>
                <a:ea typeface="Arial"/>
                <a:cs typeface="Arial"/>
                <a:sym typeface="Arial"/>
              </a:rPr>
              <a:t> </a:t>
            </a:r>
            <a:r>
              <a:rPr b="1" i="0" lang="en-US" sz="1317" u="none" cap="none" strike="noStrike">
                <a:solidFill>
                  <a:srgbClr val="173F2F"/>
                </a:solidFill>
                <a:latin typeface="Arial"/>
                <a:ea typeface="Arial"/>
                <a:cs typeface="Arial"/>
                <a:sym typeface="Arial"/>
              </a:rPr>
              <a:t>오가연</a:t>
            </a:r>
            <a:endParaRPr b="1" i="0" sz="1317" u="none" cap="none" strike="noStrike">
              <a:solidFill>
                <a:srgbClr val="173F2F"/>
              </a:solidFill>
              <a:latin typeface="Arial"/>
              <a:ea typeface="Arial"/>
              <a:cs typeface="Arial"/>
              <a:sym typeface="Arial"/>
            </a:endParaRPr>
          </a:p>
        </p:txBody>
      </p:sp>
      <p:sp>
        <p:nvSpPr>
          <p:cNvPr id="29" name="Google Shape;29;p1"/>
          <p:cNvSpPr txBox="1"/>
          <p:nvPr/>
        </p:nvSpPr>
        <p:spPr>
          <a:xfrm>
            <a:off x="3479537" y="3305710"/>
            <a:ext cx="7264500" cy="477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rgbClr val="1F2328"/>
                </a:solidFill>
                <a:highlight>
                  <a:srgbClr val="FFFFFF"/>
                </a:highlight>
                <a:latin typeface="Arial"/>
                <a:ea typeface="Arial"/>
                <a:cs typeface="Arial"/>
                <a:sym typeface="Arial"/>
              </a:rPr>
              <a:t>기사 URL을 입력하면 기사 안의 수치 주장과 실제 값을 비교하는 AI 기반 사실검증 시스템</a:t>
            </a:r>
            <a:r>
              <a:rPr b="1" i="0" lang="en-US" sz="1200" u="none" cap="none" strike="noStrike">
                <a:solidFill>
                  <a:schemeClr val="dk1"/>
                </a:solidFill>
                <a:latin typeface="Arial"/>
                <a:ea typeface="Arial"/>
                <a:cs typeface="Arial"/>
                <a:sym typeface="Arial"/>
              </a:rPr>
              <a:t> </a:t>
            </a:r>
            <a:endParaRPr b="1" i="0" sz="1500" u="none" cap="none" strike="noStrike">
              <a:solidFill>
                <a:srgbClr val="000000"/>
              </a:solidFill>
              <a:latin typeface="Arial"/>
              <a:ea typeface="Arial"/>
              <a:cs typeface="Arial"/>
              <a:sym typeface="Arial"/>
            </a:endParaRPr>
          </a:p>
        </p:txBody>
      </p:sp>
      <p:sp>
        <p:nvSpPr>
          <p:cNvPr id="30" name="Google Shape;30;p1"/>
          <p:cNvSpPr/>
          <p:nvPr/>
        </p:nvSpPr>
        <p:spPr>
          <a:xfrm>
            <a:off x="2057400" y="6510528"/>
            <a:ext cx="25602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Arial"/>
                <a:ea typeface="Arial"/>
                <a:cs typeface="Arial"/>
                <a:sym typeface="Arial"/>
              </a:rPr>
              <a:t>KOSIS 뉴스 수치 주장 검증 PoC</a:t>
            </a:r>
            <a:endParaRPr b="0" i="0" sz="6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35" name="Shape 35"/>
        <p:cNvGrpSpPr/>
        <p:nvPr/>
      </p:nvGrpSpPr>
      <p:grpSpPr>
        <a:xfrm>
          <a:off x="0" y="0"/>
          <a:ext cx="0" cy="0"/>
          <a:chOff x="0" y="0"/>
          <a:chExt cx="0" cy="0"/>
        </a:xfrm>
      </p:grpSpPr>
      <p:sp>
        <p:nvSpPr>
          <p:cNvPr id="36" name="Google Shape;36;p2"/>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2246478" y="534857"/>
            <a:ext cx="3140700" cy="905400"/>
          </a:xfrm>
          <a:prstGeom prst="rect">
            <a:avLst/>
          </a:prstGeom>
          <a:noFill/>
          <a:ln>
            <a:noFill/>
          </a:ln>
        </p:spPr>
        <p:txBody>
          <a:bodyPr anchorCtr="0" anchor="ctr" bIns="125" lIns="125" spcFirstLastPara="1" rIns="125" wrap="square" tIns="125">
            <a:normAutofit/>
          </a:bodyPr>
          <a:lstStyle/>
          <a:p>
            <a:pPr indent="0" lvl="0" marL="0" marR="0" rtl="0" algn="l">
              <a:lnSpc>
                <a:spcPct val="95000"/>
              </a:lnSpc>
              <a:spcBef>
                <a:spcPts val="0"/>
              </a:spcBef>
              <a:spcAft>
                <a:spcPts val="0"/>
              </a:spcAft>
              <a:buClr>
                <a:srgbClr val="1F7A4F"/>
              </a:buClr>
              <a:buSzPts val="850"/>
              <a:buFont typeface="Malgun Gothic"/>
              <a:buNone/>
            </a:pPr>
            <a:r>
              <a:rPr b="1" i="0" lang="en-US" sz="3000" u="none" cap="none" strike="noStrike">
                <a:solidFill>
                  <a:srgbClr val="1F7A4F"/>
                </a:solidFill>
                <a:latin typeface="Arial"/>
                <a:ea typeface="Arial"/>
                <a:cs typeface="Arial"/>
                <a:sym typeface="Arial"/>
              </a:rPr>
              <a:t>목차</a:t>
            </a:r>
            <a:endParaRPr b="0" i="0" sz="3200" u="none" cap="none" strike="noStrike">
              <a:solidFill>
                <a:schemeClr val="dk1"/>
              </a:solidFill>
              <a:latin typeface="Arial"/>
              <a:ea typeface="Arial"/>
              <a:cs typeface="Arial"/>
              <a:sym typeface="Arial"/>
            </a:endParaRPr>
          </a:p>
        </p:txBody>
      </p:sp>
      <p:sp>
        <p:nvSpPr>
          <p:cNvPr id="39" name="Google Shape;39;p2"/>
          <p:cNvSpPr/>
          <p:nvPr/>
        </p:nvSpPr>
        <p:spPr>
          <a:xfrm>
            <a:off x="2057400" y="6510528"/>
            <a:ext cx="2560320" cy="137160"/>
          </a:xfrm>
          <a:prstGeom prst="rect">
            <a:avLst/>
          </a:prstGeom>
          <a:noFill/>
          <a:ln>
            <a:noFill/>
          </a:ln>
        </p:spPr>
        <p:txBody>
          <a:bodyPr anchorCtr="0" anchor="ctr" bIns="500" lIns="500" spcFirstLastPara="1" rIns="500" wrap="square" tIns="500">
            <a:norm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Arial"/>
                <a:ea typeface="Arial"/>
                <a:cs typeface="Arial"/>
                <a:sym typeface="Arial"/>
              </a:rPr>
              <a:t>KOSIS 뉴스 수치 주장 검증 PoC</a:t>
            </a:r>
            <a:endParaRPr b="0" i="0" sz="650" u="none" cap="none" strike="noStrike">
              <a:solidFill>
                <a:schemeClr val="dk1"/>
              </a:solidFill>
              <a:latin typeface="Arial"/>
              <a:ea typeface="Arial"/>
              <a:cs typeface="Arial"/>
              <a:sym typeface="Arial"/>
            </a:endParaRPr>
          </a:p>
        </p:txBody>
      </p:sp>
      <p:sp>
        <p:nvSpPr>
          <p:cNvPr id="40" name="Google Shape;40;p2"/>
          <p:cNvSpPr/>
          <p:nvPr/>
        </p:nvSpPr>
        <p:spPr>
          <a:xfrm>
            <a:off x="2057400" y="1874525"/>
            <a:ext cx="9873900" cy="577800"/>
          </a:xfrm>
          <a:prstGeom prst="roundRect">
            <a:avLst>
              <a:gd fmla="val 25455" name="adj"/>
            </a:avLst>
          </a:prstGeom>
          <a:solidFill>
            <a:srgbClr val="FFFFFF"/>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41" name="Google Shape;41;p2"/>
          <p:cNvSpPr/>
          <p:nvPr/>
        </p:nvSpPr>
        <p:spPr>
          <a:xfrm>
            <a:off x="2246476" y="2021584"/>
            <a:ext cx="399000" cy="273000"/>
          </a:xfrm>
          <a:prstGeom prst="roundRect">
            <a:avLst>
              <a:gd fmla="val 53846" name="adj"/>
            </a:avLst>
          </a:prstGeom>
          <a:solidFill>
            <a:srgbClr val="E7F1EB"/>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42" name="Google Shape;42;p2"/>
          <p:cNvSpPr/>
          <p:nvPr/>
        </p:nvSpPr>
        <p:spPr>
          <a:xfrm>
            <a:off x="2298997" y="2021584"/>
            <a:ext cx="294300" cy="273000"/>
          </a:xfrm>
          <a:prstGeom prst="rect">
            <a:avLst/>
          </a:prstGeom>
          <a:noFill/>
          <a:ln>
            <a:noFill/>
          </a:ln>
        </p:spPr>
        <p:txBody>
          <a:bodyPr anchorCtr="0" anchor="ctr" bIns="125" lIns="125" spcFirstLastPara="1" rIns="125" wrap="square" tIns="125">
            <a:normAutofit/>
          </a:bodyPr>
          <a:lstStyle/>
          <a:p>
            <a:pPr indent="0" lvl="0" marL="0" marR="0" rtl="0" algn="ctr">
              <a:lnSpc>
                <a:spcPct val="95000"/>
              </a:lnSpc>
              <a:spcBef>
                <a:spcPts val="0"/>
              </a:spcBef>
              <a:spcAft>
                <a:spcPts val="0"/>
              </a:spcAft>
              <a:buClr>
                <a:srgbClr val="1F7A4F"/>
              </a:buClr>
              <a:buSzPts val="862"/>
              <a:buFont typeface="Malgun Gothic"/>
              <a:buNone/>
            </a:pPr>
            <a:r>
              <a:rPr b="1" i="0" lang="en-US" sz="1736" u="none" cap="none" strike="noStrike">
                <a:solidFill>
                  <a:srgbClr val="1F7A4F"/>
                </a:solidFill>
                <a:latin typeface="Arial"/>
                <a:ea typeface="Arial"/>
                <a:cs typeface="Arial"/>
                <a:sym typeface="Arial"/>
              </a:rPr>
              <a:t>01</a:t>
            </a:r>
            <a:endParaRPr b="0" i="0" sz="1736" u="none" cap="none" strike="noStrike">
              <a:solidFill>
                <a:schemeClr val="dk1"/>
              </a:solidFill>
              <a:latin typeface="Arial"/>
              <a:ea typeface="Arial"/>
              <a:cs typeface="Arial"/>
              <a:sym typeface="Arial"/>
            </a:endParaRPr>
          </a:p>
        </p:txBody>
      </p:sp>
      <p:sp>
        <p:nvSpPr>
          <p:cNvPr id="43" name="Google Shape;43;p2"/>
          <p:cNvSpPr/>
          <p:nvPr/>
        </p:nvSpPr>
        <p:spPr>
          <a:xfrm>
            <a:off x="3272450" y="2089238"/>
            <a:ext cx="17859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173F2F"/>
              </a:buClr>
              <a:buSzPts val="1436"/>
              <a:buFont typeface="Malgun Gothic"/>
              <a:buNone/>
            </a:pPr>
            <a:r>
              <a:rPr b="1" i="0" lang="en-US" sz="1710" u="none" cap="none" strike="noStrike">
                <a:solidFill>
                  <a:srgbClr val="173F2F"/>
                </a:solidFill>
                <a:latin typeface="Arial"/>
                <a:ea typeface="Arial"/>
                <a:cs typeface="Arial"/>
                <a:sym typeface="Arial"/>
              </a:rPr>
              <a:t>문제 정의</a:t>
            </a:r>
            <a:endParaRPr b="0" i="0" sz="1710" u="none" cap="none" strike="noStrike">
              <a:solidFill>
                <a:schemeClr val="dk1"/>
              </a:solidFill>
              <a:latin typeface="Arial"/>
              <a:ea typeface="Arial"/>
              <a:cs typeface="Arial"/>
              <a:sym typeface="Arial"/>
            </a:endParaRPr>
          </a:p>
        </p:txBody>
      </p:sp>
      <p:sp>
        <p:nvSpPr>
          <p:cNvPr id="44" name="Google Shape;44;p2"/>
          <p:cNvSpPr/>
          <p:nvPr/>
        </p:nvSpPr>
        <p:spPr>
          <a:xfrm>
            <a:off x="5131519" y="2089238"/>
            <a:ext cx="66177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6F7E76"/>
              </a:buClr>
              <a:buSzPts val="1172"/>
              <a:buFont typeface="Malgun Gothic"/>
              <a:buNone/>
            </a:pPr>
            <a:r>
              <a:rPr b="0" i="0" lang="en-US" sz="1846" u="none" cap="none" strike="noStrike">
                <a:solidFill>
                  <a:srgbClr val="6F7E76"/>
                </a:solidFill>
                <a:latin typeface="Arial"/>
                <a:ea typeface="Arial"/>
                <a:cs typeface="Arial"/>
                <a:sym typeface="Arial"/>
              </a:rPr>
              <a:t>프로젝트 배경</a:t>
            </a:r>
            <a:endParaRPr b="0" i="0" sz="1846" u="none" cap="none" strike="noStrike">
              <a:solidFill>
                <a:schemeClr val="dk1"/>
              </a:solidFill>
              <a:latin typeface="Arial"/>
              <a:ea typeface="Arial"/>
              <a:cs typeface="Arial"/>
              <a:sym typeface="Arial"/>
            </a:endParaRPr>
          </a:p>
        </p:txBody>
      </p:sp>
      <p:sp>
        <p:nvSpPr>
          <p:cNvPr id="45" name="Google Shape;45;p2"/>
          <p:cNvSpPr/>
          <p:nvPr/>
        </p:nvSpPr>
        <p:spPr>
          <a:xfrm>
            <a:off x="2057400" y="2693854"/>
            <a:ext cx="9873900" cy="577800"/>
          </a:xfrm>
          <a:prstGeom prst="roundRect">
            <a:avLst>
              <a:gd fmla="val 25455" name="adj"/>
            </a:avLst>
          </a:prstGeom>
          <a:solidFill>
            <a:srgbClr val="FFFFFF"/>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46" name="Google Shape;46;p2"/>
          <p:cNvSpPr/>
          <p:nvPr/>
        </p:nvSpPr>
        <p:spPr>
          <a:xfrm>
            <a:off x="2246476" y="2840914"/>
            <a:ext cx="399000" cy="273000"/>
          </a:xfrm>
          <a:prstGeom prst="roundRect">
            <a:avLst>
              <a:gd fmla="val 53846" name="adj"/>
            </a:avLst>
          </a:prstGeom>
          <a:solidFill>
            <a:srgbClr val="E7F1EB"/>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47" name="Google Shape;47;p2"/>
          <p:cNvSpPr/>
          <p:nvPr/>
        </p:nvSpPr>
        <p:spPr>
          <a:xfrm>
            <a:off x="2298997" y="2840914"/>
            <a:ext cx="294300" cy="273000"/>
          </a:xfrm>
          <a:prstGeom prst="rect">
            <a:avLst/>
          </a:prstGeom>
          <a:noFill/>
          <a:ln>
            <a:noFill/>
          </a:ln>
        </p:spPr>
        <p:txBody>
          <a:bodyPr anchorCtr="0" anchor="ctr" bIns="125" lIns="125" spcFirstLastPara="1" rIns="125" wrap="square" tIns="125">
            <a:normAutofit/>
          </a:bodyPr>
          <a:lstStyle/>
          <a:p>
            <a:pPr indent="0" lvl="0" marL="0" marR="0" rtl="0" algn="ctr">
              <a:lnSpc>
                <a:spcPct val="95000"/>
              </a:lnSpc>
              <a:spcBef>
                <a:spcPts val="0"/>
              </a:spcBef>
              <a:spcAft>
                <a:spcPts val="0"/>
              </a:spcAft>
              <a:buClr>
                <a:srgbClr val="1F7A4F"/>
              </a:buClr>
              <a:buSzPts val="862"/>
              <a:buFont typeface="Malgun Gothic"/>
              <a:buNone/>
            </a:pPr>
            <a:r>
              <a:rPr b="1" i="0" lang="en-US" sz="1736" u="none" cap="none" strike="noStrike">
                <a:solidFill>
                  <a:srgbClr val="1F7A4F"/>
                </a:solidFill>
                <a:latin typeface="Arial"/>
                <a:ea typeface="Arial"/>
                <a:cs typeface="Arial"/>
                <a:sym typeface="Arial"/>
              </a:rPr>
              <a:t>02</a:t>
            </a:r>
            <a:endParaRPr b="0" i="0" sz="1736" u="none" cap="none" strike="noStrike">
              <a:solidFill>
                <a:schemeClr val="dk1"/>
              </a:solidFill>
              <a:latin typeface="Arial"/>
              <a:ea typeface="Arial"/>
              <a:cs typeface="Arial"/>
              <a:sym typeface="Arial"/>
            </a:endParaRPr>
          </a:p>
        </p:txBody>
      </p:sp>
      <p:sp>
        <p:nvSpPr>
          <p:cNvPr id="48" name="Google Shape;48;p2"/>
          <p:cNvSpPr/>
          <p:nvPr/>
        </p:nvSpPr>
        <p:spPr>
          <a:xfrm>
            <a:off x="3272450" y="2908575"/>
            <a:ext cx="20478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173F2F"/>
              </a:buClr>
              <a:buSzPts val="1436"/>
              <a:buFont typeface="Malgun Gothic"/>
              <a:buNone/>
            </a:pPr>
            <a:r>
              <a:rPr b="1" i="0" lang="en-US" sz="1710" u="none" cap="none" strike="noStrike">
                <a:solidFill>
                  <a:srgbClr val="173F2F"/>
                </a:solidFill>
                <a:latin typeface="Arial"/>
                <a:ea typeface="Arial"/>
                <a:cs typeface="Arial"/>
                <a:sym typeface="Arial"/>
              </a:rPr>
              <a:t>프로젝트 계획</a:t>
            </a:r>
            <a:endParaRPr b="0" i="0" sz="1710" u="none" cap="none" strike="noStrike">
              <a:solidFill>
                <a:schemeClr val="dk1"/>
              </a:solidFill>
              <a:latin typeface="Arial"/>
              <a:ea typeface="Arial"/>
              <a:cs typeface="Arial"/>
              <a:sym typeface="Arial"/>
            </a:endParaRPr>
          </a:p>
        </p:txBody>
      </p:sp>
      <p:sp>
        <p:nvSpPr>
          <p:cNvPr id="49" name="Google Shape;49;p2"/>
          <p:cNvSpPr/>
          <p:nvPr/>
        </p:nvSpPr>
        <p:spPr>
          <a:xfrm>
            <a:off x="5131519" y="2908568"/>
            <a:ext cx="66177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6F7E76"/>
              </a:buClr>
              <a:buSzPts val="1172"/>
              <a:buFont typeface="Malgun Gothic"/>
              <a:buNone/>
            </a:pPr>
            <a:r>
              <a:rPr b="0" i="0" lang="en-US" sz="1846" u="none" cap="none" strike="noStrike">
                <a:solidFill>
                  <a:srgbClr val="6F7E76"/>
                </a:solidFill>
                <a:latin typeface="Arial"/>
                <a:ea typeface="Arial"/>
                <a:cs typeface="Arial"/>
                <a:sym typeface="Arial"/>
              </a:rPr>
              <a:t>프로젝트 파이프라인</a:t>
            </a:r>
            <a:endParaRPr b="0" i="0" sz="1846" u="none" cap="none" strike="noStrike">
              <a:solidFill>
                <a:schemeClr val="dk1"/>
              </a:solidFill>
              <a:latin typeface="Arial"/>
              <a:ea typeface="Arial"/>
              <a:cs typeface="Arial"/>
              <a:sym typeface="Arial"/>
            </a:endParaRPr>
          </a:p>
        </p:txBody>
      </p:sp>
      <p:sp>
        <p:nvSpPr>
          <p:cNvPr id="50" name="Google Shape;50;p2"/>
          <p:cNvSpPr/>
          <p:nvPr/>
        </p:nvSpPr>
        <p:spPr>
          <a:xfrm>
            <a:off x="2057400" y="3513196"/>
            <a:ext cx="9873900" cy="577800"/>
          </a:xfrm>
          <a:prstGeom prst="roundRect">
            <a:avLst>
              <a:gd fmla="val 25455" name="adj"/>
            </a:avLst>
          </a:prstGeom>
          <a:solidFill>
            <a:srgbClr val="FFFFFF"/>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51" name="Google Shape;51;p2"/>
          <p:cNvSpPr/>
          <p:nvPr/>
        </p:nvSpPr>
        <p:spPr>
          <a:xfrm>
            <a:off x="2246476" y="3660243"/>
            <a:ext cx="399000" cy="273000"/>
          </a:xfrm>
          <a:prstGeom prst="roundRect">
            <a:avLst>
              <a:gd fmla="val 53846" name="adj"/>
            </a:avLst>
          </a:prstGeom>
          <a:solidFill>
            <a:srgbClr val="E7F1EB"/>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52" name="Google Shape;52;p2"/>
          <p:cNvSpPr/>
          <p:nvPr/>
        </p:nvSpPr>
        <p:spPr>
          <a:xfrm>
            <a:off x="2298997" y="3660243"/>
            <a:ext cx="294300" cy="273000"/>
          </a:xfrm>
          <a:prstGeom prst="rect">
            <a:avLst/>
          </a:prstGeom>
          <a:noFill/>
          <a:ln>
            <a:noFill/>
          </a:ln>
        </p:spPr>
        <p:txBody>
          <a:bodyPr anchorCtr="0" anchor="ctr" bIns="125" lIns="125" spcFirstLastPara="1" rIns="125" wrap="square" tIns="125">
            <a:normAutofit/>
          </a:bodyPr>
          <a:lstStyle/>
          <a:p>
            <a:pPr indent="0" lvl="0" marL="0" marR="0" rtl="0" algn="ctr">
              <a:lnSpc>
                <a:spcPct val="95000"/>
              </a:lnSpc>
              <a:spcBef>
                <a:spcPts val="0"/>
              </a:spcBef>
              <a:spcAft>
                <a:spcPts val="0"/>
              </a:spcAft>
              <a:buClr>
                <a:srgbClr val="1F7A4F"/>
              </a:buClr>
              <a:buSzPts val="862"/>
              <a:buFont typeface="Malgun Gothic"/>
              <a:buNone/>
            </a:pPr>
            <a:r>
              <a:rPr b="1" i="0" lang="en-US" sz="1736" u="none" cap="none" strike="noStrike">
                <a:solidFill>
                  <a:srgbClr val="1F7A4F"/>
                </a:solidFill>
                <a:latin typeface="Arial"/>
                <a:ea typeface="Arial"/>
                <a:cs typeface="Arial"/>
                <a:sym typeface="Arial"/>
              </a:rPr>
              <a:t>03</a:t>
            </a:r>
            <a:endParaRPr b="0" i="0" sz="1736" u="none" cap="none" strike="noStrike">
              <a:solidFill>
                <a:schemeClr val="dk1"/>
              </a:solidFill>
              <a:latin typeface="Arial"/>
              <a:ea typeface="Arial"/>
              <a:cs typeface="Arial"/>
              <a:sym typeface="Arial"/>
            </a:endParaRPr>
          </a:p>
        </p:txBody>
      </p:sp>
      <p:sp>
        <p:nvSpPr>
          <p:cNvPr id="53" name="Google Shape;53;p2"/>
          <p:cNvSpPr/>
          <p:nvPr/>
        </p:nvSpPr>
        <p:spPr>
          <a:xfrm>
            <a:off x="3272450" y="3727897"/>
            <a:ext cx="17859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173F2F"/>
              </a:buClr>
              <a:buSzPts val="1436"/>
              <a:buFont typeface="Malgun Gothic"/>
              <a:buNone/>
            </a:pPr>
            <a:r>
              <a:rPr b="1" i="0" lang="en-US" sz="1710" u="none" cap="none" strike="noStrike">
                <a:solidFill>
                  <a:srgbClr val="173F2F"/>
                </a:solidFill>
                <a:latin typeface="Arial"/>
                <a:ea typeface="Arial"/>
                <a:cs typeface="Arial"/>
                <a:sym typeface="Arial"/>
              </a:rPr>
              <a:t>프로젝트 과정</a:t>
            </a:r>
            <a:endParaRPr b="0" i="0" sz="1710" u="none" cap="none" strike="noStrike">
              <a:solidFill>
                <a:schemeClr val="dk1"/>
              </a:solidFill>
              <a:latin typeface="Arial"/>
              <a:ea typeface="Arial"/>
              <a:cs typeface="Arial"/>
              <a:sym typeface="Arial"/>
            </a:endParaRPr>
          </a:p>
        </p:txBody>
      </p:sp>
      <p:sp>
        <p:nvSpPr>
          <p:cNvPr id="54" name="Google Shape;54;p2"/>
          <p:cNvSpPr/>
          <p:nvPr/>
        </p:nvSpPr>
        <p:spPr>
          <a:xfrm>
            <a:off x="5131525" y="3727900"/>
            <a:ext cx="7256100" cy="2286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6F7E76"/>
              </a:buClr>
              <a:buSzPts val="1172"/>
              <a:buFont typeface="Malgun Gothic"/>
              <a:buNone/>
            </a:pPr>
            <a:r>
              <a:rPr lang="en-US" sz="1846">
                <a:solidFill>
                  <a:srgbClr val="6F7E76"/>
                </a:solidFill>
              </a:rPr>
              <a:t>기사 정제, 입력 구조화, 검색 및 좌표확정, 판정, 트러블슈팅</a:t>
            </a:r>
            <a:endParaRPr sz="1846">
              <a:solidFill>
                <a:srgbClr val="6F7E76"/>
              </a:solidFill>
            </a:endParaRPr>
          </a:p>
        </p:txBody>
      </p:sp>
      <p:sp>
        <p:nvSpPr>
          <p:cNvPr id="55" name="Google Shape;55;p2"/>
          <p:cNvSpPr/>
          <p:nvPr/>
        </p:nvSpPr>
        <p:spPr>
          <a:xfrm>
            <a:off x="2057400" y="4332513"/>
            <a:ext cx="9873900" cy="577800"/>
          </a:xfrm>
          <a:prstGeom prst="roundRect">
            <a:avLst>
              <a:gd fmla="val 25455" name="adj"/>
            </a:avLst>
          </a:prstGeom>
          <a:solidFill>
            <a:srgbClr val="FFFFFF"/>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56" name="Google Shape;56;p2"/>
          <p:cNvSpPr/>
          <p:nvPr/>
        </p:nvSpPr>
        <p:spPr>
          <a:xfrm>
            <a:off x="2246476" y="4479572"/>
            <a:ext cx="399000" cy="273000"/>
          </a:xfrm>
          <a:prstGeom prst="roundRect">
            <a:avLst>
              <a:gd fmla="val 53846" name="adj"/>
            </a:avLst>
          </a:prstGeom>
          <a:solidFill>
            <a:srgbClr val="E7F1EB"/>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57" name="Google Shape;57;p2"/>
          <p:cNvSpPr/>
          <p:nvPr/>
        </p:nvSpPr>
        <p:spPr>
          <a:xfrm>
            <a:off x="2298997" y="4479572"/>
            <a:ext cx="294300" cy="273000"/>
          </a:xfrm>
          <a:prstGeom prst="rect">
            <a:avLst/>
          </a:prstGeom>
          <a:noFill/>
          <a:ln>
            <a:noFill/>
          </a:ln>
        </p:spPr>
        <p:txBody>
          <a:bodyPr anchorCtr="0" anchor="ctr" bIns="125" lIns="125" spcFirstLastPara="1" rIns="125" wrap="square" tIns="125">
            <a:normAutofit/>
          </a:bodyPr>
          <a:lstStyle/>
          <a:p>
            <a:pPr indent="0" lvl="0" marL="0" marR="0" rtl="0" algn="ctr">
              <a:lnSpc>
                <a:spcPct val="95000"/>
              </a:lnSpc>
              <a:spcBef>
                <a:spcPts val="0"/>
              </a:spcBef>
              <a:spcAft>
                <a:spcPts val="0"/>
              </a:spcAft>
              <a:buClr>
                <a:srgbClr val="1F7A4F"/>
              </a:buClr>
              <a:buSzPts val="862"/>
              <a:buFont typeface="Malgun Gothic"/>
              <a:buNone/>
            </a:pPr>
            <a:r>
              <a:rPr b="1" i="0" lang="en-US" sz="1736" u="none" cap="none" strike="noStrike">
                <a:solidFill>
                  <a:srgbClr val="1F7A4F"/>
                </a:solidFill>
                <a:latin typeface="Arial"/>
                <a:ea typeface="Arial"/>
                <a:cs typeface="Arial"/>
                <a:sym typeface="Arial"/>
              </a:rPr>
              <a:t>04</a:t>
            </a:r>
            <a:endParaRPr b="0" i="0" sz="1736" u="none" cap="none" strike="noStrike">
              <a:solidFill>
                <a:schemeClr val="dk1"/>
              </a:solidFill>
              <a:latin typeface="Arial"/>
              <a:ea typeface="Arial"/>
              <a:cs typeface="Arial"/>
              <a:sym typeface="Arial"/>
            </a:endParaRPr>
          </a:p>
        </p:txBody>
      </p:sp>
      <p:sp>
        <p:nvSpPr>
          <p:cNvPr id="58" name="Google Shape;58;p2"/>
          <p:cNvSpPr/>
          <p:nvPr/>
        </p:nvSpPr>
        <p:spPr>
          <a:xfrm>
            <a:off x="3272450" y="4547227"/>
            <a:ext cx="17859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173F2F"/>
              </a:buClr>
              <a:buSzPts val="1436"/>
              <a:buFont typeface="Malgun Gothic"/>
              <a:buNone/>
            </a:pPr>
            <a:r>
              <a:rPr b="1" i="0" lang="en-US" sz="1710" u="none" cap="none" strike="noStrike">
                <a:solidFill>
                  <a:srgbClr val="173F2F"/>
                </a:solidFill>
                <a:latin typeface="Arial"/>
                <a:ea typeface="Arial"/>
                <a:cs typeface="Arial"/>
                <a:sym typeface="Arial"/>
              </a:rPr>
              <a:t>평가 및 한계</a:t>
            </a:r>
            <a:endParaRPr b="0" i="0" sz="1710" u="none" cap="none" strike="noStrike">
              <a:solidFill>
                <a:schemeClr val="dk1"/>
              </a:solidFill>
              <a:latin typeface="Arial"/>
              <a:ea typeface="Arial"/>
              <a:cs typeface="Arial"/>
              <a:sym typeface="Arial"/>
            </a:endParaRPr>
          </a:p>
        </p:txBody>
      </p:sp>
      <p:sp>
        <p:nvSpPr>
          <p:cNvPr id="59" name="Google Shape;59;p2"/>
          <p:cNvSpPr/>
          <p:nvPr/>
        </p:nvSpPr>
        <p:spPr>
          <a:xfrm>
            <a:off x="5131519" y="4547227"/>
            <a:ext cx="66177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6F7E76"/>
              </a:buClr>
              <a:buSzPts val="1172"/>
              <a:buFont typeface="Malgun Gothic"/>
              <a:buNone/>
            </a:pPr>
            <a:r>
              <a:rPr b="0" i="0" lang="en-US" sz="1846" u="none" cap="none" strike="noStrike">
                <a:solidFill>
                  <a:srgbClr val="6F7E76"/>
                </a:solidFill>
                <a:latin typeface="Arial"/>
                <a:ea typeface="Arial"/>
                <a:cs typeface="Arial"/>
                <a:sym typeface="Arial"/>
              </a:rPr>
              <a:t>프로젝트 결과 평가 및 한계점</a:t>
            </a:r>
            <a:endParaRPr b="0" i="0" sz="1846" u="none" cap="none" strike="noStrike">
              <a:solidFill>
                <a:schemeClr val="dk1"/>
              </a:solidFill>
              <a:latin typeface="Arial"/>
              <a:ea typeface="Arial"/>
              <a:cs typeface="Arial"/>
              <a:sym typeface="Arial"/>
            </a:endParaRPr>
          </a:p>
        </p:txBody>
      </p:sp>
      <p:sp>
        <p:nvSpPr>
          <p:cNvPr id="60" name="Google Shape;60;p2"/>
          <p:cNvSpPr/>
          <p:nvPr/>
        </p:nvSpPr>
        <p:spPr>
          <a:xfrm>
            <a:off x="2057400" y="5151843"/>
            <a:ext cx="9873900" cy="577800"/>
          </a:xfrm>
          <a:prstGeom prst="roundRect">
            <a:avLst>
              <a:gd fmla="val 25455" name="adj"/>
            </a:avLst>
          </a:prstGeom>
          <a:solidFill>
            <a:srgbClr val="FFFFFF"/>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61" name="Google Shape;61;p2"/>
          <p:cNvSpPr/>
          <p:nvPr/>
        </p:nvSpPr>
        <p:spPr>
          <a:xfrm>
            <a:off x="2246476" y="5298902"/>
            <a:ext cx="399000" cy="273000"/>
          </a:xfrm>
          <a:prstGeom prst="roundRect">
            <a:avLst>
              <a:gd fmla="val 53846" name="adj"/>
            </a:avLst>
          </a:prstGeom>
          <a:solidFill>
            <a:srgbClr val="E7F1EB"/>
          </a:solidFill>
          <a:ln cap="flat" cmpd="sng" w="16025">
            <a:solidFill>
              <a:srgbClr val="D7E3DA"/>
            </a:solidFill>
            <a:prstDash val="solid"/>
            <a:round/>
            <a:headEnd len="sm" w="sm" type="none"/>
            <a:tailEnd len="sm" w="sm" type="none"/>
          </a:ln>
        </p:spPr>
        <p:txBody>
          <a:bodyPr anchorCtr="0" anchor="ctr" bIns="105025" lIns="105025" spcFirstLastPara="1" rIns="105025" wrap="square" tIns="105025">
            <a:noAutofit/>
          </a:bodyPr>
          <a:lstStyle/>
          <a:p>
            <a:pPr indent="0" lvl="0" marL="0" marR="0" rtl="0" algn="l">
              <a:lnSpc>
                <a:spcPct val="100000"/>
              </a:lnSpc>
              <a:spcBef>
                <a:spcPts val="0"/>
              </a:spcBef>
              <a:spcAft>
                <a:spcPts val="0"/>
              </a:spcAft>
              <a:buClr>
                <a:srgbClr val="000000"/>
              </a:buClr>
              <a:buSzPts val="2483"/>
              <a:buFont typeface="Arial"/>
              <a:buNone/>
            </a:pPr>
            <a:r>
              <a:t/>
            </a:r>
            <a:endParaRPr b="0" i="0" sz="2483" u="none" cap="none" strike="noStrike">
              <a:solidFill>
                <a:srgbClr val="000000"/>
              </a:solidFill>
              <a:latin typeface="Arial"/>
              <a:ea typeface="Arial"/>
              <a:cs typeface="Arial"/>
              <a:sym typeface="Arial"/>
            </a:endParaRPr>
          </a:p>
        </p:txBody>
      </p:sp>
      <p:sp>
        <p:nvSpPr>
          <p:cNvPr id="62" name="Google Shape;62;p2"/>
          <p:cNvSpPr/>
          <p:nvPr/>
        </p:nvSpPr>
        <p:spPr>
          <a:xfrm>
            <a:off x="2298997" y="5298902"/>
            <a:ext cx="294300" cy="273000"/>
          </a:xfrm>
          <a:prstGeom prst="rect">
            <a:avLst/>
          </a:prstGeom>
          <a:noFill/>
          <a:ln>
            <a:noFill/>
          </a:ln>
        </p:spPr>
        <p:txBody>
          <a:bodyPr anchorCtr="0" anchor="ctr" bIns="125" lIns="125" spcFirstLastPara="1" rIns="125" wrap="square" tIns="125">
            <a:normAutofit/>
          </a:bodyPr>
          <a:lstStyle/>
          <a:p>
            <a:pPr indent="0" lvl="0" marL="0" marR="0" rtl="0" algn="ctr">
              <a:lnSpc>
                <a:spcPct val="95000"/>
              </a:lnSpc>
              <a:spcBef>
                <a:spcPts val="0"/>
              </a:spcBef>
              <a:spcAft>
                <a:spcPts val="0"/>
              </a:spcAft>
              <a:buClr>
                <a:srgbClr val="1F7A4F"/>
              </a:buClr>
              <a:buSzPts val="862"/>
              <a:buFont typeface="Malgun Gothic"/>
              <a:buNone/>
            </a:pPr>
            <a:r>
              <a:rPr b="1" i="0" lang="en-US" sz="1736" u="none" cap="none" strike="noStrike">
                <a:solidFill>
                  <a:srgbClr val="1F7A4F"/>
                </a:solidFill>
                <a:latin typeface="Arial"/>
                <a:ea typeface="Arial"/>
                <a:cs typeface="Arial"/>
                <a:sym typeface="Arial"/>
              </a:rPr>
              <a:t>05</a:t>
            </a:r>
            <a:endParaRPr b="0" i="0" sz="1736" u="none" cap="none" strike="noStrike">
              <a:solidFill>
                <a:schemeClr val="dk1"/>
              </a:solidFill>
              <a:latin typeface="Arial"/>
              <a:ea typeface="Arial"/>
              <a:cs typeface="Arial"/>
              <a:sym typeface="Arial"/>
            </a:endParaRPr>
          </a:p>
        </p:txBody>
      </p:sp>
      <p:sp>
        <p:nvSpPr>
          <p:cNvPr id="63" name="Google Shape;63;p2"/>
          <p:cNvSpPr/>
          <p:nvPr/>
        </p:nvSpPr>
        <p:spPr>
          <a:xfrm>
            <a:off x="3272450" y="5366556"/>
            <a:ext cx="17859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173F2F"/>
              </a:buClr>
              <a:buSzPts val="1436"/>
              <a:buFont typeface="Malgun Gothic"/>
              <a:buNone/>
            </a:pPr>
            <a:r>
              <a:rPr b="1" i="0" lang="en-US" sz="1710" u="none" cap="none" strike="noStrike">
                <a:solidFill>
                  <a:srgbClr val="173F2F"/>
                </a:solidFill>
                <a:latin typeface="Arial"/>
                <a:ea typeface="Arial"/>
                <a:cs typeface="Arial"/>
                <a:sym typeface="Arial"/>
              </a:rPr>
              <a:t>챗봇 시연</a:t>
            </a:r>
            <a:endParaRPr b="0" i="0" sz="1710" u="none" cap="none" strike="noStrike">
              <a:solidFill>
                <a:schemeClr val="dk1"/>
              </a:solidFill>
              <a:latin typeface="Arial"/>
              <a:ea typeface="Arial"/>
              <a:cs typeface="Arial"/>
              <a:sym typeface="Arial"/>
            </a:endParaRPr>
          </a:p>
        </p:txBody>
      </p:sp>
      <p:sp>
        <p:nvSpPr>
          <p:cNvPr id="64" name="Google Shape;64;p2"/>
          <p:cNvSpPr/>
          <p:nvPr/>
        </p:nvSpPr>
        <p:spPr>
          <a:xfrm>
            <a:off x="5160827" y="5366556"/>
            <a:ext cx="6617700" cy="189000"/>
          </a:xfrm>
          <a:prstGeom prst="rect">
            <a:avLst/>
          </a:prstGeom>
          <a:noFill/>
          <a:ln>
            <a:noFill/>
          </a:ln>
        </p:spPr>
        <p:txBody>
          <a:bodyPr anchorCtr="0" anchor="ctr" bIns="575" lIns="575" spcFirstLastPara="1" rIns="575" wrap="square" tIns="575">
            <a:normAutofit/>
          </a:bodyPr>
          <a:lstStyle/>
          <a:p>
            <a:pPr indent="0" lvl="0" marL="0" marR="0" rtl="0" algn="l">
              <a:lnSpc>
                <a:spcPct val="95000"/>
              </a:lnSpc>
              <a:spcBef>
                <a:spcPts val="0"/>
              </a:spcBef>
              <a:spcAft>
                <a:spcPts val="0"/>
              </a:spcAft>
              <a:buClr>
                <a:srgbClr val="6F7E76"/>
              </a:buClr>
              <a:buSzPts val="1172"/>
              <a:buFont typeface="Malgun Gothic"/>
              <a:buNone/>
            </a:pPr>
            <a:r>
              <a:rPr b="0" i="0" lang="en-US" sz="1846" u="none" cap="none" strike="noStrike">
                <a:solidFill>
                  <a:srgbClr val="6F7E76"/>
                </a:solidFill>
                <a:latin typeface="Arial"/>
                <a:ea typeface="Arial"/>
                <a:cs typeface="Arial"/>
                <a:sym typeface="Arial"/>
              </a:rPr>
              <a:t>프로젝트 최종 챗봇 시연</a:t>
            </a:r>
            <a:endParaRPr b="0" i="0" sz="1846" u="none" cap="none" strike="noStrike">
              <a:solidFill>
                <a:schemeClr val="dk1"/>
              </a:solidFill>
              <a:latin typeface="Arial"/>
              <a:ea typeface="Arial"/>
              <a:cs typeface="Arial"/>
              <a:sym typeface="Arial"/>
            </a:endParaRPr>
          </a:p>
        </p:txBody>
      </p:sp>
      <p:sp>
        <p:nvSpPr>
          <p:cNvPr id="65" name="Google Shape;65;p2"/>
          <p:cNvSpPr/>
          <p:nvPr/>
        </p:nvSpPr>
        <p:spPr>
          <a:xfrm rot="10800000">
            <a:off x="-1988622" y="597512"/>
            <a:ext cx="577500" cy="3945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1411300" y="1668224"/>
            <a:ext cx="22500" cy="24228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1439869" y="16301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a:off x="-1211275" y="15539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문제 정의</a:t>
            </a:r>
            <a:endParaRPr b="1" i="0" sz="850" u="none" cap="none" strike="noStrike">
              <a:solidFill>
                <a:srgbClr val="11271D"/>
              </a:solidFill>
              <a:latin typeface="Arial"/>
              <a:ea typeface="Arial"/>
              <a:cs typeface="Arial"/>
              <a:sym typeface="Arial"/>
            </a:endParaRPr>
          </a:p>
        </p:txBody>
      </p:sp>
      <p:sp>
        <p:nvSpPr>
          <p:cNvPr id="69" name="Google Shape;69;p2"/>
          <p:cNvSpPr/>
          <p:nvPr/>
        </p:nvSpPr>
        <p:spPr>
          <a:xfrm>
            <a:off x="-1737969" y="235206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1211275" y="2163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계획</a:t>
            </a:r>
            <a:endParaRPr b="0" i="0" sz="1400" u="none" cap="none" strike="noStrike">
              <a:solidFill>
                <a:srgbClr val="9AA9A0"/>
              </a:solidFill>
              <a:latin typeface="Arial"/>
              <a:ea typeface="Arial"/>
              <a:cs typeface="Arial"/>
              <a:sym typeface="Arial"/>
            </a:endParaRPr>
          </a:p>
        </p:txBody>
      </p:sp>
      <p:sp>
        <p:nvSpPr>
          <p:cNvPr id="71" name="Google Shape;71;p2"/>
          <p:cNvSpPr/>
          <p:nvPr/>
        </p:nvSpPr>
        <p:spPr>
          <a:xfrm>
            <a:off x="-1211275" y="27731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72" name="Google Shape;72;p2"/>
          <p:cNvSpPr/>
          <p:nvPr/>
        </p:nvSpPr>
        <p:spPr>
          <a:xfrm>
            <a:off x="-1211275" y="33827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73" name="Google Shape;73;p2"/>
          <p:cNvSpPr/>
          <p:nvPr/>
        </p:nvSpPr>
        <p:spPr>
          <a:xfrm>
            <a:off x="-1211275" y="3984314"/>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sp>
        <p:nvSpPr>
          <p:cNvPr id="74" name="Google Shape;74;p2"/>
          <p:cNvSpPr/>
          <p:nvPr/>
        </p:nvSpPr>
        <p:spPr>
          <a:xfrm>
            <a:off x="-1439869" y="52877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1211275" y="5211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공식값 대조</a:t>
            </a:r>
            <a:endParaRPr b="0" i="0" sz="1400" u="none" cap="none" strike="noStrike">
              <a:solidFill>
                <a:srgbClr val="000000"/>
              </a:solidFill>
              <a:latin typeface="Arial"/>
              <a:ea typeface="Arial"/>
              <a:cs typeface="Arial"/>
              <a:sym typeface="Arial"/>
            </a:endParaRPr>
          </a:p>
        </p:txBody>
      </p:sp>
      <p:grpSp>
        <p:nvGrpSpPr>
          <p:cNvPr id="76" name="Google Shape;76;p2"/>
          <p:cNvGrpSpPr/>
          <p:nvPr/>
        </p:nvGrpSpPr>
        <p:grpSpPr>
          <a:xfrm>
            <a:off x="-1504742" y="1563436"/>
            <a:ext cx="209400" cy="209700"/>
            <a:chOff x="-3275292" y="2173036"/>
            <a:chExt cx="209400" cy="209700"/>
          </a:xfrm>
        </p:grpSpPr>
        <p:sp>
          <p:nvSpPr>
            <p:cNvPr id="77" name="Google Shape;77;p2"/>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2"/>
          <p:cNvSpPr/>
          <p:nvPr/>
        </p:nvSpPr>
        <p:spPr>
          <a:xfrm>
            <a:off x="-1440094" y="22397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1440094" y="28493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1440094" y="34589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1440094" y="40685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87" name="Shape 87"/>
        <p:cNvGrpSpPr/>
        <p:nvPr/>
      </p:nvGrpSpPr>
      <p:grpSpPr>
        <a:xfrm>
          <a:off x="0" y="0"/>
          <a:ext cx="0" cy="0"/>
          <a:chOff x="0" y="0"/>
          <a:chExt cx="0" cy="0"/>
        </a:xfrm>
      </p:grpSpPr>
      <p:sp>
        <p:nvSpPr>
          <p:cNvPr id="88" name="Google Shape;88;p3"/>
          <p:cNvSpPr/>
          <p:nvPr/>
        </p:nvSpPr>
        <p:spPr>
          <a:xfrm>
            <a:off x="-7529" y="68075"/>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3"/>
          <p:cNvPicPr preferRelativeResize="0"/>
          <p:nvPr/>
        </p:nvPicPr>
        <p:blipFill rotWithShape="1">
          <a:blip r:embed="rId3">
            <a:alphaModFix/>
          </a:blip>
          <a:srcRect b="21016" l="15676" r="0" t="22551"/>
          <a:stretch/>
        </p:blipFill>
        <p:spPr>
          <a:xfrm>
            <a:off x="7083150" y="728339"/>
            <a:ext cx="4905189" cy="1501676"/>
          </a:xfrm>
          <a:prstGeom prst="rect">
            <a:avLst/>
          </a:prstGeom>
          <a:noFill/>
          <a:ln>
            <a:noFill/>
          </a:ln>
        </p:spPr>
      </p:pic>
      <p:sp>
        <p:nvSpPr>
          <p:cNvPr id="90" name="Google Shape;90;p3"/>
          <p:cNvSpPr/>
          <p:nvPr/>
        </p:nvSpPr>
        <p:spPr>
          <a:xfrm>
            <a:off x="0" y="0"/>
            <a:ext cx="12191695" cy="100584"/>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a:off x="2263567" y="764075"/>
            <a:ext cx="4331700" cy="530400"/>
          </a:xfrm>
          <a:prstGeom prst="rect">
            <a:avLst/>
          </a:prstGeom>
          <a:noFill/>
          <a:ln>
            <a:noFill/>
          </a:ln>
        </p:spPr>
        <p:txBody>
          <a:bodyPr anchorCtr="0" anchor="ctr" bIns="0" lIns="0" spcFirstLastPara="1" rIns="0" wrap="square" tIns="0">
            <a:norm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프로젝트 배경</a:t>
            </a:r>
            <a:endParaRPr b="0" i="0" sz="2600" u="none" cap="none" strike="noStrike">
              <a:solidFill>
                <a:schemeClr val="dk1"/>
              </a:solidFill>
              <a:latin typeface="Malgun Gothic"/>
              <a:ea typeface="Malgun Gothic"/>
              <a:cs typeface="Malgun Gothic"/>
              <a:sym typeface="Malgun Gothic"/>
            </a:endParaRPr>
          </a:p>
        </p:txBody>
      </p:sp>
      <p:sp>
        <p:nvSpPr>
          <p:cNvPr id="92" name="Google Shape;92;p3"/>
          <p:cNvSpPr/>
          <p:nvPr/>
        </p:nvSpPr>
        <p:spPr>
          <a:xfrm>
            <a:off x="2057400" y="6510528"/>
            <a:ext cx="2560320" cy="137160"/>
          </a:xfrm>
          <a:prstGeom prst="rect">
            <a:avLst/>
          </a:prstGeom>
          <a:noFill/>
          <a:ln>
            <a:noFill/>
          </a:ln>
        </p:spPr>
        <p:txBody>
          <a:bodyPr anchorCtr="0" anchor="ctr" bIns="500" lIns="500" spcFirstLastPara="1" rIns="500" wrap="square" tIns="500">
            <a:norm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sp>
        <p:nvSpPr>
          <p:cNvPr id="93" name="Google Shape;93;p3"/>
          <p:cNvSpPr/>
          <p:nvPr/>
        </p:nvSpPr>
        <p:spPr>
          <a:xfrm>
            <a:off x="2380450" y="1957972"/>
            <a:ext cx="9367200" cy="1611900"/>
          </a:xfrm>
          <a:prstGeom prst="roundRect">
            <a:avLst>
              <a:gd fmla="val 19444" name="adj"/>
            </a:avLst>
          </a:prstGeom>
          <a:solidFill>
            <a:srgbClr val="FFFFFF"/>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US" sz="1550" u="none" cap="none" strike="noStrike">
                <a:solidFill>
                  <a:srgbClr val="202E27"/>
                </a:solidFill>
                <a:latin typeface="Arial"/>
                <a:ea typeface="Arial"/>
                <a:cs typeface="Arial"/>
                <a:sym typeface="Arial"/>
              </a:rPr>
              <a:t> 문제 배경</a:t>
            </a:r>
            <a:endParaRPr b="1" i="0" sz="1550" u="none" cap="none" strike="noStrike">
              <a:solidFill>
                <a:srgbClr val="202E27"/>
              </a:solidFill>
              <a:latin typeface="Arial"/>
              <a:ea typeface="Arial"/>
              <a:cs typeface="Arial"/>
              <a:sym typeface="Arial"/>
            </a:endParaRPr>
          </a:p>
        </p:txBody>
      </p:sp>
      <p:sp>
        <p:nvSpPr>
          <p:cNvPr id="94" name="Google Shape;94;p3"/>
          <p:cNvSpPr/>
          <p:nvPr/>
        </p:nvSpPr>
        <p:spPr>
          <a:xfrm>
            <a:off x="2624376" y="2167817"/>
            <a:ext cx="292500" cy="292500"/>
          </a:xfrm>
          <a:prstGeom prst="roundRect">
            <a:avLst>
              <a:gd fmla="val 25000" name="adj"/>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
          <p:cNvSpPr/>
          <p:nvPr/>
        </p:nvSpPr>
        <p:spPr>
          <a:xfrm>
            <a:off x="2669975" y="2200943"/>
            <a:ext cx="201300" cy="222900"/>
          </a:xfrm>
          <a:prstGeom prst="rect">
            <a:avLst/>
          </a:prstGeom>
          <a:noFill/>
          <a:ln>
            <a:noFill/>
          </a:ln>
        </p:spPr>
        <p:txBody>
          <a:bodyPr anchorCtr="0" anchor="ctr" bIns="500" lIns="500" spcFirstLastPara="1" rIns="500" wrap="square" tIns="500">
            <a:normAutofit/>
          </a:bodyPr>
          <a:lstStyle/>
          <a:p>
            <a:pPr indent="0" lvl="0" marL="0" marR="0" rtl="0" algn="ctr">
              <a:lnSpc>
                <a:spcPct val="95000"/>
              </a:lnSpc>
              <a:spcBef>
                <a:spcPts val="0"/>
              </a:spcBef>
              <a:spcAft>
                <a:spcPts val="0"/>
              </a:spcAft>
              <a:buClr>
                <a:srgbClr val="FFFFFF"/>
              </a:buClr>
              <a:buSzPts val="650"/>
              <a:buFont typeface="Malgun Gothic"/>
              <a:buNone/>
            </a:pPr>
            <a:r>
              <a:rPr b="1" i="0" lang="en-US" sz="1350" u="none" cap="none" strike="noStrike">
                <a:solidFill>
                  <a:srgbClr val="FFFFFF"/>
                </a:solidFill>
                <a:latin typeface="Malgun Gothic"/>
                <a:ea typeface="Malgun Gothic"/>
                <a:cs typeface="Malgun Gothic"/>
                <a:sym typeface="Malgun Gothic"/>
              </a:rPr>
              <a:t>1</a:t>
            </a:r>
            <a:endParaRPr b="0" i="0" sz="1350" u="none" cap="none" strike="noStrike">
              <a:solidFill>
                <a:schemeClr val="dk1"/>
              </a:solidFill>
              <a:latin typeface="Malgun Gothic"/>
              <a:ea typeface="Malgun Gothic"/>
              <a:cs typeface="Malgun Gothic"/>
              <a:sym typeface="Malgun Gothic"/>
            </a:endParaRPr>
          </a:p>
        </p:txBody>
      </p:sp>
      <p:sp>
        <p:nvSpPr>
          <p:cNvPr id="96" name="Google Shape;96;p3"/>
          <p:cNvSpPr/>
          <p:nvPr/>
        </p:nvSpPr>
        <p:spPr>
          <a:xfrm>
            <a:off x="4023350" y="2113497"/>
            <a:ext cx="7373100" cy="1270800"/>
          </a:xfrm>
          <a:prstGeom prst="rect">
            <a:avLst/>
          </a:prstGeom>
          <a:noFill/>
          <a:ln>
            <a:noFill/>
          </a:ln>
        </p:spPr>
        <p:txBody>
          <a:bodyPr anchorCtr="0" anchor="ctr" bIns="250" lIns="250" spcFirstLastPara="1" rIns="250" wrap="square" tIns="250">
            <a:normAutofit/>
          </a:bodyPr>
          <a:lstStyle/>
          <a:p>
            <a:pPr indent="-304800" lvl="0" marL="457200" marR="0" rtl="0" algn="l">
              <a:lnSpc>
                <a:spcPct val="115000"/>
              </a:lnSpc>
              <a:spcBef>
                <a:spcPts val="0"/>
              </a:spcBef>
              <a:spcAft>
                <a:spcPts val="0"/>
              </a:spcAft>
              <a:buClr>
                <a:srgbClr val="202E27"/>
              </a:buClr>
              <a:buSzPts val="1200"/>
              <a:buFont typeface="Arial"/>
              <a:buChar char="●"/>
            </a:pPr>
            <a:r>
              <a:rPr b="0" i="0" lang="en-US" sz="1200" u="none" cap="none" strike="noStrike">
                <a:solidFill>
                  <a:srgbClr val="202E27"/>
                </a:solidFill>
                <a:latin typeface="Arial"/>
                <a:ea typeface="Arial"/>
                <a:cs typeface="Arial"/>
                <a:sym typeface="Arial"/>
              </a:rPr>
              <a:t>뉴스 및 온라인 콘텐츠에서 왜곡된 통계 사용, 맥락 없는 수치 인용, 시점·단위 혼동, 일부 데이터만 발췌한 해석 오류 등이 지속적으로 발생</a:t>
            </a:r>
            <a:endParaRPr b="0" i="0" sz="1200" u="none" cap="none" strike="noStrike">
              <a:solidFill>
                <a:srgbClr val="202E27"/>
              </a:solidFill>
              <a:latin typeface="Arial"/>
              <a:ea typeface="Arial"/>
              <a:cs typeface="Arial"/>
              <a:sym typeface="Arial"/>
            </a:endParaRPr>
          </a:p>
          <a:p>
            <a:pPr indent="-304800" lvl="0" marL="457200" marR="0" rtl="0" algn="l">
              <a:lnSpc>
                <a:spcPct val="115000"/>
              </a:lnSpc>
              <a:spcBef>
                <a:spcPts val="0"/>
              </a:spcBef>
              <a:spcAft>
                <a:spcPts val="0"/>
              </a:spcAft>
              <a:buClr>
                <a:srgbClr val="202E27"/>
              </a:buClr>
              <a:buSzPts val="1200"/>
              <a:buFont typeface="Arial"/>
              <a:buChar char="●"/>
            </a:pPr>
            <a:r>
              <a:rPr b="0" i="0" lang="en-US" sz="1200" u="none" cap="none" strike="noStrike">
                <a:solidFill>
                  <a:srgbClr val="202E27"/>
                </a:solidFill>
                <a:latin typeface="Arial"/>
                <a:ea typeface="Arial"/>
                <a:cs typeface="Arial"/>
                <a:sym typeface="Arial"/>
              </a:rPr>
              <a:t>공식 통계자료 확인에 의존한 수작업 검증으로 누락 및 대응 지연 가능성이 존재 </a:t>
            </a:r>
            <a:endParaRPr b="1" i="0" sz="1400" u="none" cap="none" strike="noStrike">
              <a:solidFill>
                <a:srgbClr val="173F2F"/>
              </a:solidFill>
              <a:latin typeface="Arial"/>
              <a:ea typeface="Arial"/>
              <a:cs typeface="Arial"/>
              <a:sym typeface="Arial"/>
            </a:endParaRPr>
          </a:p>
        </p:txBody>
      </p:sp>
      <p:sp>
        <p:nvSpPr>
          <p:cNvPr id="97" name="Google Shape;97;p3"/>
          <p:cNvSpPr/>
          <p:nvPr/>
        </p:nvSpPr>
        <p:spPr>
          <a:xfrm>
            <a:off x="2380450" y="3961228"/>
            <a:ext cx="9367200" cy="1611900"/>
          </a:xfrm>
          <a:prstGeom prst="roundRect">
            <a:avLst>
              <a:gd fmla="val 19444"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550"/>
              <a:buFont typeface="Arial"/>
              <a:buNone/>
            </a:pPr>
            <a:r>
              <a:t/>
            </a:r>
            <a:endParaRPr b="1" i="0" sz="1550" u="none" cap="none" strike="noStrike">
              <a:solidFill>
                <a:srgbClr val="202E27"/>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en-US" sz="1550" u="none" cap="none" strike="noStrike">
                <a:solidFill>
                  <a:srgbClr val="202E27"/>
                </a:solidFill>
                <a:latin typeface="Arial"/>
                <a:ea typeface="Arial"/>
                <a:cs typeface="Arial"/>
                <a:sym typeface="Arial"/>
              </a:rPr>
              <a:t>프로젝트 목표</a:t>
            </a:r>
            <a:endParaRPr b="1" i="0" sz="1550" u="none" cap="none" strike="noStrike">
              <a:solidFill>
                <a:srgbClr val="202E2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8" name="Google Shape;98;p3"/>
          <p:cNvSpPr/>
          <p:nvPr/>
        </p:nvSpPr>
        <p:spPr>
          <a:xfrm>
            <a:off x="2624378" y="4166492"/>
            <a:ext cx="292500" cy="292500"/>
          </a:xfrm>
          <a:prstGeom prst="roundRect">
            <a:avLst>
              <a:gd fmla="val 25000" name="adj"/>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
          <p:cNvSpPr/>
          <p:nvPr/>
        </p:nvSpPr>
        <p:spPr>
          <a:xfrm>
            <a:off x="2670048" y="2903995"/>
            <a:ext cx="201300" cy="73200"/>
          </a:xfrm>
          <a:prstGeom prst="rect">
            <a:avLst/>
          </a:prstGeom>
          <a:noFill/>
          <a:ln>
            <a:noFill/>
          </a:ln>
        </p:spPr>
        <p:txBody>
          <a:bodyPr anchorCtr="0" anchor="ctr" bIns="500" lIns="500" spcFirstLastPara="1" rIns="500" wrap="square" tIns="500">
            <a:normAutofit/>
          </a:bodyPr>
          <a:lstStyle/>
          <a:p>
            <a:pPr indent="0" lvl="0" marL="0" marR="0" rtl="0" algn="ctr">
              <a:lnSpc>
                <a:spcPct val="95000"/>
              </a:lnSpc>
              <a:spcBef>
                <a:spcPts val="0"/>
              </a:spcBef>
              <a:spcAft>
                <a:spcPts val="0"/>
              </a:spcAft>
              <a:buClr>
                <a:srgbClr val="FFFFFF"/>
              </a:buClr>
              <a:buSzPts val="650"/>
              <a:buFont typeface="Malgun Gothic"/>
              <a:buNone/>
            </a:pPr>
            <a:r>
              <a:rPr b="1" i="0" lang="en-US" sz="650" u="none" cap="none" strike="noStrike">
                <a:solidFill>
                  <a:srgbClr val="FFFFFF"/>
                </a:solidFill>
                <a:latin typeface="Malgun Gothic"/>
                <a:ea typeface="Malgun Gothic"/>
                <a:cs typeface="Malgun Gothic"/>
                <a:sym typeface="Malgun Gothic"/>
              </a:rPr>
              <a:t>AI</a:t>
            </a:r>
            <a:endParaRPr b="0" i="0" sz="650" u="none" cap="none" strike="noStrike">
              <a:solidFill>
                <a:schemeClr val="dk1"/>
              </a:solidFill>
              <a:latin typeface="Malgun Gothic"/>
              <a:ea typeface="Malgun Gothic"/>
              <a:cs typeface="Malgun Gothic"/>
              <a:sym typeface="Malgun Gothic"/>
            </a:endParaRPr>
          </a:p>
        </p:txBody>
      </p:sp>
      <p:sp>
        <p:nvSpPr>
          <p:cNvPr id="100" name="Google Shape;100;p3"/>
          <p:cNvSpPr txBox="1"/>
          <p:nvPr/>
        </p:nvSpPr>
        <p:spPr>
          <a:xfrm>
            <a:off x="4076936" y="4218832"/>
            <a:ext cx="7225500" cy="12006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12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뉴스 기사 내 수치 기반 주장을 자동으로 탐지하고, 공식 통계 데이터와 비교 및 검증하여 사실 여부를 판별할 수 있는 자동 검증 시스템이 필요함</a:t>
            </a:r>
            <a:endParaRPr b="0" i="0" sz="1200" u="none" cap="none" strike="noStrike">
              <a:solidFill>
                <a:schemeClr val="dk1"/>
              </a:solidFill>
              <a:latin typeface="Arial"/>
              <a:ea typeface="Arial"/>
              <a:cs typeface="Arial"/>
              <a:sym typeface="Arial"/>
            </a:endParaRPr>
          </a:p>
          <a:p>
            <a:pPr indent="-304800" lvl="0" marL="457200" marR="0" rtl="0" algn="l">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본 프로젝트는 이러한 문제를 해결하기 위해 공공 데이터(Open API, 예: KOSIS 등) 기반 뉴스 사실 검증 PoC를 구축하는 것을 목표로 함</a:t>
            </a:r>
            <a:endParaRPr b="0" i="0" sz="1200" u="none" cap="none" strike="noStrike">
              <a:solidFill>
                <a:srgbClr val="202E27"/>
              </a:solidFill>
              <a:latin typeface="Arial"/>
              <a:ea typeface="Arial"/>
              <a:cs typeface="Arial"/>
              <a:sym typeface="Arial"/>
            </a:endParaRPr>
          </a:p>
        </p:txBody>
      </p:sp>
      <p:sp>
        <p:nvSpPr>
          <p:cNvPr id="101" name="Google Shape;101;p3"/>
          <p:cNvSpPr/>
          <p:nvPr/>
        </p:nvSpPr>
        <p:spPr>
          <a:xfrm>
            <a:off x="2669988" y="4201296"/>
            <a:ext cx="201300" cy="222900"/>
          </a:xfrm>
          <a:prstGeom prst="rect">
            <a:avLst/>
          </a:prstGeom>
          <a:noFill/>
          <a:ln>
            <a:noFill/>
          </a:ln>
        </p:spPr>
        <p:txBody>
          <a:bodyPr anchorCtr="0" anchor="ctr" bIns="500" lIns="500" spcFirstLastPara="1" rIns="500" wrap="square" tIns="500">
            <a:noAutofit/>
          </a:bodyPr>
          <a:lstStyle/>
          <a:p>
            <a:pPr indent="0" lvl="0" marL="0" marR="0" rtl="0" algn="ctr">
              <a:lnSpc>
                <a:spcPct val="95000"/>
              </a:lnSpc>
              <a:spcBef>
                <a:spcPts val="0"/>
              </a:spcBef>
              <a:spcAft>
                <a:spcPts val="0"/>
              </a:spcAft>
              <a:buClr>
                <a:srgbClr val="FFFFFF"/>
              </a:buClr>
              <a:buSzPts val="650"/>
              <a:buFont typeface="Malgun Gothic"/>
              <a:buNone/>
            </a:pPr>
            <a:r>
              <a:rPr b="1" i="0" lang="en-US" sz="1350" u="none" cap="none" strike="noStrike">
                <a:solidFill>
                  <a:srgbClr val="FFFFFF"/>
                </a:solidFill>
                <a:latin typeface="Malgun Gothic"/>
                <a:ea typeface="Malgun Gothic"/>
                <a:cs typeface="Malgun Gothic"/>
                <a:sym typeface="Malgun Gothic"/>
              </a:rPr>
              <a:t>2</a:t>
            </a:r>
            <a:endParaRPr b="0" i="0" sz="1350" u="none" cap="none" strike="noStrike">
              <a:solidFill>
                <a:schemeClr val="dk1"/>
              </a:solidFill>
              <a:latin typeface="Malgun Gothic"/>
              <a:ea typeface="Malgun Gothic"/>
              <a:cs typeface="Malgun Gothic"/>
              <a:sym typeface="Malgun Gothic"/>
            </a:endParaRPr>
          </a:p>
        </p:txBody>
      </p:sp>
      <p:cxnSp>
        <p:nvCxnSpPr>
          <p:cNvPr id="102" name="Google Shape;102;p3"/>
          <p:cNvCxnSpPr/>
          <p:nvPr/>
        </p:nvCxnSpPr>
        <p:spPr>
          <a:xfrm flipH="1">
            <a:off x="3701317" y="2176547"/>
            <a:ext cx="12600" cy="1165500"/>
          </a:xfrm>
          <a:prstGeom prst="straightConnector1">
            <a:avLst/>
          </a:prstGeom>
          <a:noFill/>
          <a:ln cap="flat" cmpd="sng" w="11425">
            <a:solidFill>
              <a:srgbClr val="D7E3DA"/>
            </a:solidFill>
            <a:prstDash val="solid"/>
            <a:round/>
            <a:headEnd len="sm" w="sm" type="none"/>
            <a:tailEnd len="sm" w="sm" type="none"/>
          </a:ln>
        </p:spPr>
      </p:cxnSp>
      <p:cxnSp>
        <p:nvCxnSpPr>
          <p:cNvPr id="103" name="Google Shape;103;p3"/>
          <p:cNvCxnSpPr/>
          <p:nvPr/>
        </p:nvCxnSpPr>
        <p:spPr>
          <a:xfrm flipH="1">
            <a:off x="3977642" y="4184428"/>
            <a:ext cx="12600" cy="1165500"/>
          </a:xfrm>
          <a:prstGeom prst="straightConnector1">
            <a:avLst/>
          </a:prstGeom>
          <a:noFill/>
          <a:ln cap="flat" cmpd="sng" w="11425">
            <a:solidFill>
              <a:srgbClr val="D7E3DA"/>
            </a:solidFill>
            <a:prstDash val="solid"/>
            <a:round/>
            <a:headEnd len="sm" w="sm" type="none"/>
            <a:tailEnd len="sm" w="sm" type="none"/>
          </a:ln>
        </p:spPr>
      </p:cxnSp>
      <p:sp>
        <p:nvSpPr>
          <p:cNvPr id="104" name="Google Shape;104;p3"/>
          <p:cNvSpPr/>
          <p:nvPr/>
        </p:nvSpPr>
        <p:spPr>
          <a:xfrm rot="-5400000">
            <a:off x="-2775933" y="154917"/>
            <a:ext cx="18900" cy="3048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rot="-5400000">
            <a:off x="-947133" y="1374117"/>
            <a:ext cx="18900" cy="609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rot="-5400000">
            <a:off x="-4328583" y="164074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flipH="1">
            <a:off x="-4649092" y="1745525"/>
            <a:ext cx="876300" cy="23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lang="en-US" sz="788">
                <a:solidFill>
                  <a:srgbClr val="66786E"/>
                </a:solidFill>
              </a:rPr>
              <a:t>기사 입력</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rot="-5400000">
            <a:off x="-3718983" y="164074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flipH="1">
            <a:off x="-4021547" y="1745525"/>
            <a:ext cx="876300" cy="23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전처리</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rot="-5400000">
            <a:off x="-3109383" y="164074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flipH="1">
            <a:off x="-3394002" y="1745525"/>
            <a:ext cx="876300" cy="23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HCX-007</a:t>
            </a:r>
            <a:endParaRPr b="0" i="0" sz="1400" u="none" cap="none" strike="noStrike">
              <a:solidFill>
                <a:srgbClr val="000000"/>
              </a:solidFill>
              <a:latin typeface="Arial"/>
              <a:ea typeface="Arial"/>
              <a:cs typeface="Arial"/>
              <a:sym typeface="Arial"/>
            </a:endParaRPr>
          </a:p>
        </p:txBody>
      </p:sp>
      <p:sp>
        <p:nvSpPr>
          <p:cNvPr id="112" name="Google Shape;112;p3"/>
          <p:cNvSpPr/>
          <p:nvPr/>
        </p:nvSpPr>
        <p:spPr>
          <a:xfrm rot="-5400000">
            <a:off x="-2499783" y="164074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flipH="1">
            <a:off x="-2766457" y="1745525"/>
            <a:ext cx="876300" cy="23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scope gate</a:t>
            </a:r>
            <a:endParaRPr b="0" i="0" sz="1400" u="none" cap="none" strike="noStrike">
              <a:solidFill>
                <a:srgbClr val="000000"/>
              </a:solidFill>
              <a:latin typeface="Arial"/>
              <a:ea typeface="Arial"/>
              <a:cs typeface="Arial"/>
              <a:sym typeface="Arial"/>
            </a:endParaRPr>
          </a:p>
        </p:txBody>
      </p:sp>
      <p:sp>
        <p:nvSpPr>
          <p:cNvPr id="114" name="Google Shape;114;p3"/>
          <p:cNvSpPr/>
          <p:nvPr/>
        </p:nvSpPr>
        <p:spPr>
          <a:xfrm flipH="1">
            <a:off x="-2138924" y="1745525"/>
            <a:ext cx="876300" cy="23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i="0" lang="en-US" sz="750" u="none" cap="none" strike="noStrike">
                <a:solidFill>
                  <a:srgbClr val="66786E"/>
                </a:solidFill>
              </a:rPr>
              <a:t>BGE-M3</a:t>
            </a:r>
            <a:endParaRPr i="0" sz="750" u="none" cap="none" strike="noStrike">
              <a:solidFill>
                <a:srgbClr val="66786E"/>
              </a:solidFill>
            </a:endParaRPr>
          </a:p>
        </p:txBody>
      </p:sp>
      <p:sp>
        <p:nvSpPr>
          <p:cNvPr id="115" name="Google Shape;115;p3"/>
          <p:cNvSpPr/>
          <p:nvPr/>
        </p:nvSpPr>
        <p:spPr>
          <a:xfrm rot="-5400000">
            <a:off x="-1347108" y="1574065"/>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rot="-5400000">
            <a:off x="-1309008" y="161216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flipH="1">
            <a:off x="-1511367" y="1745525"/>
            <a:ext cx="876300" cy="23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i="0" lang="en-US" sz="750" u="none" cap="none" strike="noStrike">
                <a:solidFill>
                  <a:srgbClr val="66786E"/>
                </a:solidFill>
              </a:rPr>
              <a:t>PostgreSQL</a:t>
            </a:r>
            <a:endParaRPr i="0" sz="750" u="none" cap="none" strike="noStrike">
              <a:solidFill>
                <a:srgbClr val="66786E"/>
              </a:solidFill>
            </a:endParaRPr>
          </a:p>
        </p:txBody>
      </p:sp>
      <p:sp>
        <p:nvSpPr>
          <p:cNvPr id="118" name="Google Shape;118;p3"/>
          <p:cNvSpPr/>
          <p:nvPr/>
        </p:nvSpPr>
        <p:spPr>
          <a:xfrm rot="-5400000">
            <a:off x="-670983" y="1640742"/>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flipH="1">
            <a:off x="-883822" y="1745525"/>
            <a:ext cx="876300" cy="23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공식값 대조</a:t>
            </a:r>
            <a:endParaRPr b="0" i="0" sz="1400" u="none" cap="none" strike="noStrike">
              <a:solidFill>
                <a:srgbClr val="66786E"/>
              </a:solidFill>
              <a:latin typeface="Arial"/>
              <a:ea typeface="Arial"/>
              <a:cs typeface="Arial"/>
              <a:sym typeface="Arial"/>
            </a:endParaRPr>
          </a:p>
        </p:txBody>
      </p:sp>
      <p:sp>
        <p:nvSpPr>
          <p:cNvPr id="120" name="Google Shape;120;p3"/>
          <p:cNvSpPr/>
          <p:nvPr/>
        </p:nvSpPr>
        <p:spPr>
          <a:xfrm>
            <a:off x="441575" y="1934874"/>
            <a:ext cx="22500" cy="24228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413006" y="189683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641600" y="18206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문제 정의</a:t>
            </a:r>
            <a:endParaRPr b="1" i="0" sz="850" u="none" cap="none" strike="noStrike">
              <a:solidFill>
                <a:srgbClr val="11271D"/>
              </a:solidFill>
              <a:latin typeface="Arial"/>
              <a:ea typeface="Arial"/>
              <a:cs typeface="Arial"/>
              <a:sym typeface="Arial"/>
            </a:endParaRPr>
          </a:p>
        </p:txBody>
      </p:sp>
      <p:sp>
        <p:nvSpPr>
          <p:cNvPr id="123" name="Google Shape;123;p3"/>
          <p:cNvSpPr/>
          <p:nvPr/>
        </p:nvSpPr>
        <p:spPr>
          <a:xfrm>
            <a:off x="641600" y="24302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계획</a:t>
            </a:r>
            <a:endParaRPr b="0" i="0" sz="1400" u="none" cap="none" strike="noStrike">
              <a:solidFill>
                <a:srgbClr val="9AA9A0"/>
              </a:solidFill>
              <a:latin typeface="Arial"/>
              <a:ea typeface="Arial"/>
              <a:cs typeface="Arial"/>
              <a:sym typeface="Arial"/>
            </a:endParaRPr>
          </a:p>
        </p:txBody>
      </p:sp>
      <p:sp>
        <p:nvSpPr>
          <p:cNvPr id="124" name="Google Shape;124;p3"/>
          <p:cNvSpPr/>
          <p:nvPr/>
        </p:nvSpPr>
        <p:spPr>
          <a:xfrm>
            <a:off x="641600" y="30398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125" name="Google Shape;125;p3"/>
          <p:cNvSpPr/>
          <p:nvPr/>
        </p:nvSpPr>
        <p:spPr>
          <a:xfrm>
            <a:off x="641600" y="36494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126" name="Google Shape;126;p3"/>
          <p:cNvSpPr/>
          <p:nvPr/>
        </p:nvSpPr>
        <p:spPr>
          <a:xfrm>
            <a:off x="641600" y="4250964"/>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27" name="Google Shape;127;p3"/>
          <p:cNvGrpSpPr/>
          <p:nvPr/>
        </p:nvGrpSpPr>
        <p:grpSpPr>
          <a:xfrm>
            <a:off x="348133" y="1830086"/>
            <a:ext cx="209400" cy="209700"/>
            <a:chOff x="-3275292" y="2173036"/>
            <a:chExt cx="209400" cy="209700"/>
          </a:xfrm>
        </p:grpSpPr>
        <p:sp>
          <p:nvSpPr>
            <p:cNvPr id="128" name="Google Shape;128;p3"/>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0" name="Google Shape;130;p3"/>
          <p:cNvSpPr/>
          <p:nvPr/>
        </p:nvSpPr>
        <p:spPr>
          <a:xfrm>
            <a:off x="412781" y="250643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a:off x="412781" y="311603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412781" y="372563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412781" y="433523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01.·문제 정의</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rot="-5400000">
            <a:off x="-1932766" y="1636260"/>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41" name="Shape 141"/>
        <p:cNvGrpSpPr/>
        <p:nvPr/>
      </p:nvGrpSpPr>
      <p:grpSpPr>
        <a:xfrm>
          <a:off x="0" y="0"/>
          <a:ext cx="0" cy="0"/>
          <a:chOff x="0" y="0"/>
          <a:chExt cx="0" cy="0"/>
        </a:xfrm>
      </p:grpSpPr>
      <p:sp>
        <p:nvSpPr>
          <p:cNvPr id="142" name="Google Shape;142;g3fae3b6faca_1_73"/>
          <p:cNvSpPr/>
          <p:nvPr/>
        </p:nvSpPr>
        <p:spPr>
          <a:xfrm>
            <a:off x="0" y="57150"/>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43" name="Google Shape;143;g3fae3b6faca_1_73"/>
          <p:cNvSpPr/>
          <p:nvPr/>
        </p:nvSpPr>
        <p:spPr>
          <a:xfrm>
            <a:off x="6029632" y="3035018"/>
            <a:ext cx="17334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44" name="Google Shape;144;g3fae3b6faca_1_73"/>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3fae3b6faca_1_73"/>
          <p:cNvSpPr/>
          <p:nvPr/>
        </p:nvSpPr>
        <p:spPr>
          <a:xfrm>
            <a:off x="2095444" y="295275"/>
            <a:ext cx="1952573" cy="295275"/>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fae3b6faca_1_73"/>
          <p:cNvSpPr/>
          <p:nvPr/>
        </p:nvSpPr>
        <p:spPr>
          <a:xfrm>
            <a:off x="2209741" y="304800"/>
            <a:ext cx="1723979"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05 · 핵심 난제</a:t>
            </a:r>
            <a:endParaRPr b="0" i="0" sz="1400" u="none" cap="none" strike="noStrike">
              <a:solidFill>
                <a:srgbClr val="000000"/>
              </a:solidFill>
              <a:latin typeface="Arial"/>
              <a:ea typeface="Arial"/>
              <a:cs typeface="Arial"/>
              <a:sym typeface="Arial"/>
            </a:endParaRPr>
          </a:p>
        </p:txBody>
      </p:sp>
      <p:sp>
        <p:nvSpPr>
          <p:cNvPr id="147" name="Google Shape;147;g3fae3b6faca_1_73"/>
          <p:cNvSpPr/>
          <p:nvPr/>
        </p:nvSpPr>
        <p:spPr>
          <a:xfrm>
            <a:off x="2095444" y="714375"/>
            <a:ext cx="9524746" cy="523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10271D"/>
                </a:solidFill>
                <a:latin typeface="Calibri"/>
                <a:ea typeface="Calibri"/>
                <a:cs typeface="Calibri"/>
                <a:sym typeface="Calibri"/>
              </a:rPr>
              <a:t>자연어 한 문장을 “정확한 통계 좌표”로</a:t>
            </a:r>
            <a:endParaRPr b="0" i="0" sz="1400" u="none" cap="none" strike="noStrike">
              <a:solidFill>
                <a:srgbClr val="000000"/>
              </a:solidFill>
              <a:latin typeface="Arial"/>
              <a:ea typeface="Arial"/>
              <a:cs typeface="Arial"/>
              <a:sym typeface="Arial"/>
            </a:endParaRPr>
          </a:p>
        </p:txBody>
      </p:sp>
      <p:sp>
        <p:nvSpPr>
          <p:cNvPr id="148" name="Google Shape;148;g3fae3b6faca_1_73"/>
          <p:cNvSpPr/>
          <p:nvPr/>
        </p:nvSpPr>
        <p:spPr>
          <a:xfrm>
            <a:off x="2114494" y="1228725"/>
            <a:ext cx="9429499" cy="323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97B71"/>
                </a:solidFill>
                <a:latin typeface="Calibri"/>
                <a:ea typeface="Calibri"/>
                <a:cs typeface="Calibri"/>
                <a:sym typeface="Calibri"/>
              </a:rPr>
              <a:t>유사한 표를 찾는 것만으로는 공식값을 조회할 수 없다.</a:t>
            </a:r>
            <a:endParaRPr b="0" i="0" sz="1400" u="none" cap="none" strike="noStrike">
              <a:solidFill>
                <a:srgbClr val="000000"/>
              </a:solidFill>
              <a:latin typeface="Arial"/>
              <a:ea typeface="Arial"/>
              <a:cs typeface="Arial"/>
              <a:sym typeface="Arial"/>
            </a:endParaRPr>
          </a:p>
        </p:txBody>
      </p:sp>
      <p:sp>
        <p:nvSpPr>
          <p:cNvPr id="149" name="Google Shape;149;g3fae3b6faca_1_73"/>
          <p:cNvSpPr/>
          <p:nvPr/>
        </p:nvSpPr>
        <p:spPr>
          <a:xfrm>
            <a:off x="2095444" y="6543675"/>
            <a:ext cx="2666929"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97B71"/>
                </a:solidFill>
                <a:latin typeface="Calibri"/>
                <a:ea typeface="Calibri"/>
                <a:cs typeface="Calibri"/>
                <a:sym typeface="Calibri"/>
              </a:rPr>
              <a:t>KOSIS 뉴스 수치 주장 검증 PoC</a:t>
            </a:r>
            <a:endParaRPr b="0" i="0" sz="1400" u="none" cap="none" strike="noStrike">
              <a:solidFill>
                <a:srgbClr val="000000"/>
              </a:solidFill>
              <a:latin typeface="Arial"/>
              <a:ea typeface="Arial"/>
              <a:cs typeface="Arial"/>
              <a:sym typeface="Arial"/>
            </a:endParaRPr>
          </a:p>
        </p:txBody>
      </p:sp>
      <p:sp>
        <p:nvSpPr>
          <p:cNvPr id="150" name="Google Shape;150;g3fae3b6faca_1_73"/>
          <p:cNvSpPr/>
          <p:nvPr/>
        </p:nvSpPr>
        <p:spPr>
          <a:xfrm>
            <a:off x="2238733" y="1906380"/>
            <a:ext cx="9486600" cy="695400"/>
          </a:xfrm>
          <a:prstGeom prst="roundRect">
            <a:avLst>
              <a:gd fmla="val 16438" name="adj"/>
            </a:avLst>
          </a:prstGeom>
          <a:solidFill>
            <a:srgbClr val="10271D"/>
          </a:solidFill>
          <a:ln cap="flat" cmpd="sng" w="9525">
            <a:solidFill>
              <a:srgbClr val="1027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fae3b6faca_1_73"/>
          <p:cNvSpPr/>
          <p:nvPr/>
        </p:nvSpPr>
        <p:spPr>
          <a:xfrm>
            <a:off x="2457802" y="2115930"/>
            <a:ext cx="857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FD1C4"/>
                </a:solidFill>
                <a:latin typeface="Calibri"/>
                <a:ea typeface="Calibri"/>
                <a:cs typeface="Calibri"/>
                <a:sym typeface="Calibri"/>
              </a:rPr>
              <a:t>기사 주장</a:t>
            </a:r>
            <a:endParaRPr b="0" i="0" sz="1400" u="none" cap="none" strike="noStrike">
              <a:solidFill>
                <a:srgbClr val="000000"/>
              </a:solidFill>
              <a:latin typeface="Arial"/>
              <a:ea typeface="Arial"/>
              <a:cs typeface="Arial"/>
              <a:sym typeface="Arial"/>
            </a:endParaRPr>
          </a:p>
        </p:txBody>
      </p:sp>
      <p:sp>
        <p:nvSpPr>
          <p:cNvPr id="152" name="Google Shape;152;g3fae3b6faca_1_73"/>
          <p:cNvSpPr/>
          <p:nvPr/>
        </p:nvSpPr>
        <p:spPr>
          <a:xfrm>
            <a:off x="3419801" y="2096880"/>
            <a:ext cx="7905600" cy="33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FFFFFF"/>
                </a:solidFill>
                <a:latin typeface="Calibri"/>
                <a:ea typeface="Calibri"/>
                <a:cs typeface="Calibri"/>
                <a:sym typeface="Calibri"/>
              </a:rPr>
              <a:t>“지난해 우리나라 전체 수출액은 6,838억 달러…”</a:t>
            </a:r>
            <a:endParaRPr b="0" i="0" sz="1400" u="none" cap="none" strike="noStrike">
              <a:solidFill>
                <a:srgbClr val="000000"/>
              </a:solidFill>
              <a:latin typeface="Arial"/>
              <a:ea typeface="Arial"/>
              <a:cs typeface="Arial"/>
              <a:sym typeface="Arial"/>
            </a:endParaRPr>
          </a:p>
        </p:txBody>
      </p:sp>
      <p:sp>
        <p:nvSpPr>
          <p:cNvPr id="153" name="Google Shape;153;g3fae3b6faca_1_73"/>
          <p:cNvSpPr/>
          <p:nvPr/>
        </p:nvSpPr>
        <p:spPr>
          <a:xfrm>
            <a:off x="2238733" y="3039855"/>
            <a:ext cx="17334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54" name="Google Shape;154;g3fae3b6faca_1_73"/>
          <p:cNvSpPr/>
          <p:nvPr/>
        </p:nvSpPr>
        <p:spPr>
          <a:xfrm>
            <a:off x="2353030" y="3173205"/>
            <a:ext cx="1504800" cy="276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550" u="none" cap="none" strike="noStrike">
                <a:solidFill>
                  <a:srgbClr val="10271D"/>
                </a:solidFill>
                <a:latin typeface="Calibri"/>
                <a:ea typeface="Calibri"/>
                <a:cs typeface="Calibri"/>
                <a:sym typeface="Calibri"/>
              </a:rPr>
              <a:t>tbl_id</a:t>
            </a:r>
            <a:endParaRPr b="0" i="0" sz="1600" u="none" cap="none" strike="noStrike">
              <a:solidFill>
                <a:srgbClr val="000000"/>
              </a:solidFill>
              <a:latin typeface="Arial"/>
              <a:ea typeface="Arial"/>
              <a:cs typeface="Arial"/>
              <a:sym typeface="Arial"/>
            </a:endParaRPr>
          </a:p>
        </p:txBody>
      </p:sp>
      <p:sp>
        <p:nvSpPr>
          <p:cNvPr id="155" name="Google Shape;155;g3fae3b6faca_1_73"/>
          <p:cNvSpPr/>
          <p:nvPr/>
        </p:nvSpPr>
        <p:spPr>
          <a:xfrm>
            <a:off x="2353030" y="3535155"/>
            <a:ext cx="1504800" cy="24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250" u="none" cap="none" strike="noStrike">
                <a:solidFill>
                  <a:srgbClr val="697B71"/>
                </a:solidFill>
                <a:latin typeface="Calibri"/>
                <a:ea typeface="Calibri"/>
                <a:cs typeface="Calibri"/>
                <a:sym typeface="Calibri"/>
              </a:rPr>
              <a:t>통계표</a:t>
            </a:r>
            <a:endParaRPr b="0" i="0" sz="1600" u="none" cap="none" strike="noStrike">
              <a:solidFill>
                <a:srgbClr val="000000"/>
              </a:solidFill>
              <a:latin typeface="Arial"/>
              <a:ea typeface="Arial"/>
              <a:cs typeface="Arial"/>
              <a:sym typeface="Arial"/>
            </a:endParaRPr>
          </a:p>
        </p:txBody>
      </p:sp>
      <p:sp>
        <p:nvSpPr>
          <p:cNvPr id="156" name="Google Shape;156;g3fae3b6faca_1_73"/>
          <p:cNvSpPr/>
          <p:nvPr/>
        </p:nvSpPr>
        <p:spPr>
          <a:xfrm>
            <a:off x="2924514" y="3839955"/>
            <a:ext cx="361800" cy="238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75"/>
              <a:buFont typeface="Arial"/>
              <a:buNone/>
            </a:pPr>
            <a:r>
              <a:rPr b="1" i="0" lang="en-US" sz="1475" u="none" cap="none" strike="noStrike">
                <a:solidFill>
                  <a:srgbClr val="3F7A57"/>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57" name="Google Shape;157;g3fae3b6faca_1_73"/>
          <p:cNvSpPr/>
          <p:nvPr/>
        </p:nvSpPr>
        <p:spPr>
          <a:xfrm>
            <a:off x="4134157" y="3039855"/>
            <a:ext cx="17334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58" name="Google Shape;158;g3fae3b6faca_1_73"/>
          <p:cNvSpPr/>
          <p:nvPr/>
        </p:nvSpPr>
        <p:spPr>
          <a:xfrm>
            <a:off x="4248454" y="3173205"/>
            <a:ext cx="1504800" cy="276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550" u="none" cap="none" strike="noStrike">
                <a:solidFill>
                  <a:srgbClr val="10271D"/>
                </a:solidFill>
                <a:latin typeface="Calibri"/>
                <a:ea typeface="Calibri"/>
                <a:cs typeface="Calibri"/>
                <a:sym typeface="Calibri"/>
              </a:rPr>
              <a:t>ITEM</a:t>
            </a:r>
            <a:endParaRPr b="0" i="0" sz="1600" u="none" cap="none" strike="noStrike">
              <a:solidFill>
                <a:srgbClr val="000000"/>
              </a:solidFill>
              <a:latin typeface="Arial"/>
              <a:ea typeface="Arial"/>
              <a:cs typeface="Arial"/>
              <a:sym typeface="Arial"/>
            </a:endParaRPr>
          </a:p>
        </p:txBody>
      </p:sp>
      <p:sp>
        <p:nvSpPr>
          <p:cNvPr id="159" name="Google Shape;159;g3fae3b6faca_1_73"/>
          <p:cNvSpPr/>
          <p:nvPr/>
        </p:nvSpPr>
        <p:spPr>
          <a:xfrm>
            <a:off x="4248454" y="3535155"/>
            <a:ext cx="1504800" cy="24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250" u="none" cap="none" strike="noStrike">
                <a:solidFill>
                  <a:srgbClr val="697B71"/>
                </a:solidFill>
                <a:latin typeface="Calibri"/>
                <a:ea typeface="Calibri"/>
                <a:cs typeface="Calibri"/>
                <a:sym typeface="Calibri"/>
              </a:rPr>
              <a:t>측정 항목</a:t>
            </a:r>
            <a:endParaRPr b="0" i="0" sz="1600" u="none" cap="none" strike="noStrike">
              <a:solidFill>
                <a:srgbClr val="000000"/>
              </a:solidFill>
              <a:latin typeface="Arial"/>
              <a:ea typeface="Arial"/>
              <a:cs typeface="Arial"/>
              <a:sym typeface="Arial"/>
            </a:endParaRPr>
          </a:p>
        </p:txBody>
      </p:sp>
      <p:sp>
        <p:nvSpPr>
          <p:cNvPr id="160" name="Google Shape;160;g3fae3b6faca_1_73"/>
          <p:cNvSpPr/>
          <p:nvPr/>
        </p:nvSpPr>
        <p:spPr>
          <a:xfrm>
            <a:off x="4819939" y="3839955"/>
            <a:ext cx="361800" cy="238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75"/>
              <a:buFont typeface="Arial"/>
              <a:buNone/>
            </a:pPr>
            <a:r>
              <a:rPr b="1" i="0" lang="en-US" sz="1475" u="none" cap="none" strike="noStrike">
                <a:solidFill>
                  <a:srgbClr val="3F7A57"/>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61" name="Google Shape;161;g3fae3b6faca_1_73"/>
          <p:cNvSpPr/>
          <p:nvPr/>
        </p:nvSpPr>
        <p:spPr>
          <a:xfrm>
            <a:off x="6143879" y="3173205"/>
            <a:ext cx="1504800" cy="276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550" u="none" cap="none" strike="noStrike">
                <a:solidFill>
                  <a:srgbClr val="1F2328"/>
                </a:solidFill>
                <a:latin typeface="Calibri"/>
                <a:ea typeface="Calibri"/>
                <a:cs typeface="Calibri"/>
                <a:sym typeface="Calibri"/>
              </a:rPr>
              <a:t>OBJ</a:t>
            </a:r>
            <a:endParaRPr b="0" i="0" sz="1600" u="none" cap="none" strike="noStrike">
              <a:solidFill>
                <a:srgbClr val="1F2328"/>
              </a:solidFill>
              <a:latin typeface="Arial"/>
              <a:ea typeface="Arial"/>
              <a:cs typeface="Arial"/>
              <a:sym typeface="Arial"/>
            </a:endParaRPr>
          </a:p>
        </p:txBody>
      </p:sp>
      <p:sp>
        <p:nvSpPr>
          <p:cNvPr id="162" name="Google Shape;162;g3fae3b6faca_1_73"/>
          <p:cNvSpPr/>
          <p:nvPr/>
        </p:nvSpPr>
        <p:spPr>
          <a:xfrm>
            <a:off x="6143879" y="3535155"/>
            <a:ext cx="1504800" cy="24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250" u="none" cap="none" strike="noStrike">
                <a:solidFill>
                  <a:srgbClr val="697B71"/>
                </a:solidFill>
                <a:latin typeface="Calibri"/>
                <a:ea typeface="Calibri"/>
                <a:cs typeface="Calibri"/>
                <a:sym typeface="Calibri"/>
              </a:rPr>
              <a:t>지역·품목 등</a:t>
            </a:r>
            <a:endParaRPr b="0" i="0" sz="1600" u="none" cap="none" strike="noStrike">
              <a:solidFill>
                <a:srgbClr val="000000"/>
              </a:solidFill>
              <a:latin typeface="Arial"/>
              <a:ea typeface="Arial"/>
              <a:cs typeface="Arial"/>
              <a:sym typeface="Arial"/>
            </a:endParaRPr>
          </a:p>
        </p:txBody>
      </p:sp>
      <p:sp>
        <p:nvSpPr>
          <p:cNvPr id="163" name="Google Shape;163;g3fae3b6faca_1_73"/>
          <p:cNvSpPr/>
          <p:nvPr/>
        </p:nvSpPr>
        <p:spPr>
          <a:xfrm>
            <a:off x="6715363" y="3839955"/>
            <a:ext cx="361800" cy="238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75"/>
              <a:buFont typeface="Arial"/>
              <a:buNone/>
            </a:pPr>
            <a:r>
              <a:rPr b="1" i="0" lang="en-US" sz="1475" u="none" cap="none" strike="noStrike">
                <a:solidFill>
                  <a:srgbClr val="3F7A57"/>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64" name="Google Shape;164;g3fae3b6faca_1_73"/>
          <p:cNvSpPr/>
          <p:nvPr/>
        </p:nvSpPr>
        <p:spPr>
          <a:xfrm>
            <a:off x="7925006" y="3039855"/>
            <a:ext cx="17334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65" name="Google Shape;165;g3fae3b6faca_1_73"/>
          <p:cNvSpPr/>
          <p:nvPr/>
        </p:nvSpPr>
        <p:spPr>
          <a:xfrm>
            <a:off x="8039303" y="3173205"/>
            <a:ext cx="1504800" cy="276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550" u="none" cap="none" strike="noStrike">
                <a:solidFill>
                  <a:srgbClr val="10271D"/>
                </a:solidFill>
                <a:latin typeface="Calibri"/>
                <a:ea typeface="Calibri"/>
                <a:cs typeface="Calibri"/>
                <a:sym typeface="Calibri"/>
              </a:rPr>
              <a:t>period</a:t>
            </a:r>
            <a:endParaRPr b="0" i="0" sz="1600" u="none" cap="none" strike="noStrike">
              <a:solidFill>
                <a:srgbClr val="000000"/>
              </a:solidFill>
              <a:latin typeface="Arial"/>
              <a:ea typeface="Arial"/>
              <a:cs typeface="Arial"/>
              <a:sym typeface="Arial"/>
            </a:endParaRPr>
          </a:p>
        </p:txBody>
      </p:sp>
      <p:sp>
        <p:nvSpPr>
          <p:cNvPr id="166" name="Google Shape;166;g3fae3b6faca_1_73"/>
          <p:cNvSpPr/>
          <p:nvPr/>
        </p:nvSpPr>
        <p:spPr>
          <a:xfrm>
            <a:off x="8039303" y="3535155"/>
            <a:ext cx="1504800" cy="24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250" u="none" cap="none" strike="noStrike">
                <a:solidFill>
                  <a:srgbClr val="697B71"/>
                </a:solidFill>
                <a:latin typeface="Calibri"/>
                <a:ea typeface="Calibri"/>
                <a:cs typeface="Calibri"/>
                <a:sym typeface="Calibri"/>
              </a:rPr>
              <a:t>기준 시점</a:t>
            </a:r>
            <a:endParaRPr b="0" i="0" sz="1600" u="none" cap="none" strike="noStrike">
              <a:solidFill>
                <a:srgbClr val="000000"/>
              </a:solidFill>
              <a:latin typeface="Arial"/>
              <a:ea typeface="Arial"/>
              <a:cs typeface="Arial"/>
              <a:sym typeface="Arial"/>
            </a:endParaRPr>
          </a:p>
        </p:txBody>
      </p:sp>
      <p:sp>
        <p:nvSpPr>
          <p:cNvPr id="167" name="Google Shape;167;g3fae3b6faca_1_73"/>
          <p:cNvSpPr/>
          <p:nvPr/>
        </p:nvSpPr>
        <p:spPr>
          <a:xfrm>
            <a:off x="8610788" y="3839955"/>
            <a:ext cx="361800" cy="238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75"/>
              <a:buFont typeface="Arial"/>
              <a:buNone/>
            </a:pPr>
            <a:r>
              <a:rPr b="1" i="0" lang="en-US" sz="1475" u="none" cap="none" strike="noStrike">
                <a:solidFill>
                  <a:srgbClr val="3F7A57"/>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68" name="Google Shape;168;g3fae3b6faca_1_73"/>
          <p:cNvSpPr/>
          <p:nvPr/>
        </p:nvSpPr>
        <p:spPr>
          <a:xfrm>
            <a:off x="9820431" y="3039855"/>
            <a:ext cx="17334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69" name="Google Shape;169;g3fae3b6faca_1_73"/>
          <p:cNvSpPr/>
          <p:nvPr/>
        </p:nvSpPr>
        <p:spPr>
          <a:xfrm>
            <a:off x="9934727" y="3173205"/>
            <a:ext cx="1504800" cy="276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550" u="none" cap="none" strike="noStrike">
                <a:solidFill>
                  <a:srgbClr val="10271D"/>
                </a:solidFill>
                <a:latin typeface="Calibri"/>
                <a:ea typeface="Calibri"/>
                <a:cs typeface="Calibri"/>
                <a:sym typeface="Calibri"/>
              </a:rPr>
              <a:t>unit</a:t>
            </a:r>
            <a:endParaRPr b="0" i="0" sz="1600" u="none" cap="none" strike="noStrike">
              <a:solidFill>
                <a:srgbClr val="000000"/>
              </a:solidFill>
              <a:latin typeface="Arial"/>
              <a:ea typeface="Arial"/>
              <a:cs typeface="Arial"/>
              <a:sym typeface="Arial"/>
            </a:endParaRPr>
          </a:p>
        </p:txBody>
      </p:sp>
      <p:sp>
        <p:nvSpPr>
          <p:cNvPr id="170" name="Google Shape;170;g3fae3b6faca_1_73"/>
          <p:cNvSpPr/>
          <p:nvPr/>
        </p:nvSpPr>
        <p:spPr>
          <a:xfrm>
            <a:off x="9934727" y="3535155"/>
            <a:ext cx="1504800" cy="247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250" u="none" cap="none" strike="noStrike">
                <a:solidFill>
                  <a:srgbClr val="697B71"/>
                </a:solidFill>
                <a:latin typeface="Calibri"/>
                <a:ea typeface="Calibri"/>
                <a:cs typeface="Calibri"/>
                <a:sym typeface="Calibri"/>
              </a:rPr>
              <a:t>비교 단위</a:t>
            </a:r>
            <a:endParaRPr b="0" i="0" sz="1600" u="none" cap="none" strike="noStrike">
              <a:solidFill>
                <a:srgbClr val="000000"/>
              </a:solidFill>
              <a:latin typeface="Arial"/>
              <a:ea typeface="Arial"/>
              <a:cs typeface="Arial"/>
              <a:sym typeface="Arial"/>
            </a:endParaRPr>
          </a:p>
        </p:txBody>
      </p:sp>
      <p:sp>
        <p:nvSpPr>
          <p:cNvPr id="171" name="Google Shape;171;g3fae3b6faca_1_73"/>
          <p:cNvSpPr/>
          <p:nvPr/>
        </p:nvSpPr>
        <p:spPr>
          <a:xfrm>
            <a:off x="10506212" y="3839955"/>
            <a:ext cx="361800" cy="238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75"/>
              <a:buFont typeface="Arial"/>
              <a:buNone/>
            </a:pPr>
            <a:r>
              <a:rPr b="1" i="0" lang="en-US" sz="1475" u="none" cap="none" strike="noStrike">
                <a:solidFill>
                  <a:srgbClr val="3F7A57"/>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72" name="Google Shape;172;g3fae3b6faca_1_73"/>
          <p:cNvSpPr/>
          <p:nvPr/>
        </p:nvSpPr>
        <p:spPr>
          <a:xfrm>
            <a:off x="3914822" y="3392280"/>
            <a:ext cx="1713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25"/>
              <a:buFont typeface="Arial"/>
              <a:buNone/>
            </a:pPr>
            <a:r>
              <a:rPr b="1" i="0" lang="en-US" sz="1625" u="none" cap="none" strike="noStrike">
                <a:solidFill>
                  <a:srgbClr val="697B71"/>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73" name="Google Shape;173;g3fae3b6faca_1_73"/>
          <p:cNvSpPr/>
          <p:nvPr/>
        </p:nvSpPr>
        <p:spPr>
          <a:xfrm>
            <a:off x="5810246" y="3392280"/>
            <a:ext cx="1713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25"/>
              <a:buFont typeface="Arial"/>
              <a:buNone/>
            </a:pPr>
            <a:r>
              <a:rPr b="1" i="0" lang="en-US" sz="1625" u="none" cap="none" strike="noStrike">
                <a:solidFill>
                  <a:srgbClr val="697B71"/>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74" name="Google Shape;174;g3fae3b6faca_1_73"/>
          <p:cNvSpPr/>
          <p:nvPr/>
        </p:nvSpPr>
        <p:spPr>
          <a:xfrm>
            <a:off x="7705671" y="3392280"/>
            <a:ext cx="1713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25"/>
              <a:buFont typeface="Arial"/>
              <a:buNone/>
            </a:pPr>
            <a:r>
              <a:rPr b="1" i="0" lang="en-US" sz="1625" u="none" cap="none" strike="noStrike">
                <a:solidFill>
                  <a:srgbClr val="697B71"/>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75" name="Google Shape;175;g3fae3b6faca_1_73"/>
          <p:cNvSpPr/>
          <p:nvPr/>
        </p:nvSpPr>
        <p:spPr>
          <a:xfrm>
            <a:off x="9601095" y="3392280"/>
            <a:ext cx="1713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25"/>
              <a:buFont typeface="Arial"/>
              <a:buNone/>
            </a:pPr>
            <a:r>
              <a:rPr b="1" i="0" lang="en-US" sz="1625" u="none" cap="none" strike="noStrike">
                <a:solidFill>
                  <a:srgbClr val="697B71"/>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76" name="Google Shape;176;g3fae3b6faca_1_73"/>
          <p:cNvSpPr/>
          <p:nvPr/>
        </p:nvSpPr>
        <p:spPr>
          <a:xfrm>
            <a:off x="2238733" y="4592430"/>
            <a:ext cx="9486600" cy="857400"/>
          </a:xfrm>
          <a:prstGeom prst="roundRect">
            <a:avLst>
              <a:gd fmla="val 13333"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177" name="Google Shape;177;g3fae3b6faca_1_73"/>
          <p:cNvSpPr/>
          <p:nvPr/>
        </p:nvSpPr>
        <p:spPr>
          <a:xfrm>
            <a:off x="3952001" y="4744830"/>
            <a:ext cx="19527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475" u="none" cap="none" strike="noStrike">
                <a:solidFill>
                  <a:srgbClr val="3F7A57"/>
                </a:solidFill>
                <a:latin typeface="Calibri"/>
                <a:ea typeface="Calibri"/>
                <a:cs typeface="Calibri"/>
                <a:sym typeface="Calibri"/>
              </a:rPr>
              <a:t>정확 좌표 완성</a:t>
            </a:r>
            <a:endParaRPr b="0" i="0" sz="1600" u="none" cap="none" strike="noStrike">
              <a:solidFill>
                <a:srgbClr val="000000"/>
              </a:solidFill>
              <a:latin typeface="Arial"/>
              <a:ea typeface="Arial"/>
              <a:cs typeface="Arial"/>
              <a:sym typeface="Arial"/>
            </a:endParaRPr>
          </a:p>
        </p:txBody>
      </p:sp>
      <p:sp>
        <p:nvSpPr>
          <p:cNvPr id="178" name="Google Shape;178;g3fae3b6faca_1_73"/>
          <p:cNvSpPr/>
          <p:nvPr/>
        </p:nvSpPr>
        <p:spPr>
          <a:xfrm>
            <a:off x="5833016" y="4744830"/>
            <a:ext cx="20001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75"/>
              <a:buFont typeface="Arial"/>
              <a:buNone/>
            </a:pPr>
            <a:r>
              <a:rPr b="1" i="0" lang="en-US" sz="1475" u="none" cap="none" strike="noStrike">
                <a:solidFill>
                  <a:srgbClr val="10271D"/>
                </a:solidFill>
                <a:latin typeface="Calibri"/>
                <a:ea typeface="Calibri"/>
                <a:cs typeface="Calibri"/>
                <a:sym typeface="Calibri"/>
              </a:rPr>
              <a:t>KOSIS API 조회</a:t>
            </a:r>
            <a:endParaRPr b="0" i="0" sz="1600" u="none" cap="none" strike="noStrike">
              <a:solidFill>
                <a:srgbClr val="000000"/>
              </a:solidFill>
              <a:latin typeface="Arial"/>
              <a:ea typeface="Arial"/>
              <a:cs typeface="Arial"/>
              <a:sym typeface="Arial"/>
            </a:endParaRPr>
          </a:p>
        </p:txBody>
      </p:sp>
      <p:sp>
        <p:nvSpPr>
          <p:cNvPr id="179" name="Google Shape;179;g3fae3b6faca_1_73"/>
          <p:cNvSpPr/>
          <p:nvPr/>
        </p:nvSpPr>
        <p:spPr>
          <a:xfrm>
            <a:off x="8138005" y="4744830"/>
            <a:ext cx="18096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75"/>
              <a:buFont typeface="Arial"/>
              <a:buNone/>
            </a:pPr>
            <a:r>
              <a:rPr b="1" i="0" lang="en-US" sz="1475" u="none" cap="none" strike="noStrike">
                <a:solidFill>
                  <a:srgbClr val="10271D"/>
                </a:solidFill>
                <a:latin typeface="Calibri"/>
                <a:ea typeface="Calibri"/>
                <a:cs typeface="Calibri"/>
                <a:sym typeface="Calibri"/>
              </a:rPr>
              <a:t>공식 근거</a:t>
            </a:r>
            <a:endParaRPr b="0" i="0" sz="1600" u="none" cap="none" strike="noStrike">
              <a:solidFill>
                <a:srgbClr val="000000"/>
              </a:solidFill>
              <a:latin typeface="Arial"/>
              <a:ea typeface="Arial"/>
              <a:cs typeface="Arial"/>
              <a:sym typeface="Arial"/>
            </a:endParaRPr>
          </a:p>
        </p:txBody>
      </p:sp>
      <p:sp>
        <p:nvSpPr>
          <p:cNvPr id="180" name="Google Shape;180;g3fae3b6faca_1_73"/>
          <p:cNvSpPr/>
          <p:nvPr/>
        </p:nvSpPr>
        <p:spPr>
          <a:xfrm>
            <a:off x="5428325" y="4744830"/>
            <a:ext cx="3810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75"/>
              <a:buFont typeface="Arial"/>
              <a:buNone/>
            </a:pPr>
            <a:r>
              <a:rPr b="1" i="0" lang="en-US" sz="1775" u="none" cap="none" strike="noStrike">
                <a:solidFill>
                  <a:srgbClr val="3F7A57"/>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81" name="Google Shape;181;g3fae3b6faca_1_73"/>
          <p:cNvSpPr/>
          <p:nvPr/>
        </p:nvSpPr>
        <p:spPr>
          <a:xfrm>
            <a:off x="6753462" y="4744830"/>
            <a:ext cx="3810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75"/>
              <a:buFont typeface="Arial"/>
              <a:buNone/>
            </a:pPr>
            <a:r>
              <a:t/>
            </a:r>
            <a:endParaRPr b="0" i="0" sz="1600" u="none" cap="none" strike="noStrike">
              <a:solidFill>
                <a:srgbClr val="000000"/>
              </a:solidFill>
              <a:latin typeface="Arial"/>
              <a:ea typeface="Arial"/>
              <a:cs typeface="Arial"/>
              <a:sym typeface="Arial"/>
            </a:endParaRPr>
          </a:p>
        </p:txBody>
      </p:sp>
      <p:sp>
        <p:nvSpPr>
          <p:cNvPr id="182" name="Google Shape;182;g3fae3b6faca_1_73"/>
          <p:cNvSpPr/>
          <p:nvPr/>
        </p:nvSpPr>
        <p:spPr>
          <a:xfrm>
            <a:off x="7795114" y="4744830"/>
            <a:ext cx="3810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75"/>
              <a:buFont typeface="Arial"/>
              <a:buNone/>
            </a:pPr>
            <a:r>
              <a:rPr b="1" i="0" lang="en-US" sz="1775" u="none" cap="none" strike="noStrike">
                <a:solidFill>
                  <a:srgbClr val="3F7A57"/>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83" name="Google Shape;183;g3fae3b6faca_1_73"/>
          <p:cNvSpPr/>
          <p:nvPr/>
        </p:nvSpPr>
        <p:spPr>
          <a:xfrm>
            <a:off x="2438752" y="5121068"/>
            <a:ext cx="8762700" cy="209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250" u="none" cap="none" strike="noStrike">
                <a:solidFill>
                  <a:srgbClr val="697B71"/>
                </a:solidFill>
                <a:latin typeface="Calibri"/>
                <a:ea typeface="Calibri"/>
                <a:cs typeface="Calibri"/>
                <a:sym typeface="Calibri"/>
              </a:rPr>
              <a:t>표·항목·분류·기간·단위 중 하나라도 확정되지 않으면 자동 판정을 중단</a:t>
            </a:r>
            <a:endParaRPr b="0" i="0" sz="1600" u="none" cap="none" strike="noStrike">
              <a:solidFill>
                <a:srgbClr val="000000"/>
              </a:solidFill>
              <a:latin typeface="Arial"/>
              <a:ea typeface="Arial"/>
              <a:cs typeface="Arial"/>
              <a:sym typeface="Arial"/>
            </a:endParaRPr>
          </a:p>
        </p:txBody>
      </p:sp>
      <p:sp>
        <p:nvSpPr>
          <p:cNvPr id="184" name="Google Shape;184;g3fae3b6faca_1_73"/>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fae3b6faca_1_73"/>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01.·문제 정의</a:t>
            </a:r>
            <a:endParaRPr b="0" i="0" sz="1400" u="none" cap="none" strike="noStrike">
              <a:solidFill>
                <a:srgbClr val="000000"/>
              </a:solidFill>
              <a:latin typeface="Arial"/>
              <a:ea typeface="Arial"/>
              <a:cs typeface="Arial"/>
              <a:sym typeface="Arial"/>
            </a:endParaRPr>
          </a:p>
        </p:txBody>
      </p:sp>
      <p:sp>
        <p:nvSpPr>
          <p:cNvPr id="186" name="Google Shape;186;g3fae3b6faca_1_73"/>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g3fae3b6faca_1_73"/>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02.·프로젝트 계획</a:t>
            </a:r>
            <a:endParaRPr b="0" i="0" sz="1400" u="none" cap="none" strike="noStrike">
              <a:solidFill>
                <a:srgbClr val="000000"/>
              </a:solidFill>
              <a:latin typeface="Arial"/>
              <a:ea typeface="Arial"/>
              <a:cs typeface="Arial"/>
              <a:sym typeface="Arial"/>
            </a:endParaRPr>
          </a:p>
        </p:txBody>
      </p:sp>
      <p:grpSp>
        <p:nvGrpSpPr>
          <p:cNvPr id="188" name="Google Shape;188;g3fae3b6faca_1_73"/>
          <p:cNvGrpSpPr/>
          <p:nvPr/>
        </p:nvGrpSpPr>
        <p:grpSpPr>
          <a:xfrm>
            <a:off x="345746" y="1820636"/>
            <a:ext cx="1171717" cy="2658928"/>
            <a:chOff x="-3079992" y="1835961"/>
            <a:chExt cx="1171717" cy="2658928"/>
          </a:xfrm>
        </p:grpSpPr>
        <p:sp>
          <p:nvSpPr>
            <p:cNvPr id="189" name="Google Shape;189;g3fae3b6faca_1_73"/>
            <p:cNvSpPr/>
            <p:nvPr/>
          </p:nvSpPr>
          <p:spPr>
            <a:xfrm>
              <a:off x="-2985497" y="1950259"/>
              <a:ext cx="19800" cy="6228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fae3b6faca_1_73"/>
            <p:cNvSpPr/>
            <p:nvPr/>
          </p:nvSpPr>
          <p:spPr>
            <a:xfrm>
              <a:off x="-2984600" y="2521750"/>
              <a:ext cx="19800" cy="18513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3fae3b6faca_1_73"/>
            <p:cNvSpPr/>
            <p:nvPr/>
          </p:nvSpPr>
          <p:spPr>
            <a:xfrm>
              <a:off x="-3015119" y="252176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fae3b6faca_1_73"/>
            <p:cNvSpPr/>
            <p:nvPr/>
          </p:nvSpPr>
          <p:spPr>
            <a:xfrm>
              <a:off x="-2784575" y="18359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93" name="Google Shape;193;g3fae3b6faca_1_73"/>
            <p:cNvSpPr/>
            <p:nvPr/>
          </p:nvSpPr>
          <p:spPr>
            <a:xfrm>
              <a:off x="-2784575" y="24455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프로젝트 계획</a:t>
              </a:r>
              <a:endParaRPr b="1" i="0" sz="850" u="none" cap="none" strike="noStrike">
                <a:solidFill>
                  <a:srgbClr val="11271D"/>
                </a:solidFill>
                <a:latin typeface="Arial"/>
                <a:ea typeface="Arial"/>
                <a:cs typeface="Arial"/>
                <a:sym typeface="Arial"/>
              </a:endParaRPr>
            </a:p>
          </p:txBody>
        </p:sp>
        <p:sp>
          <p:nvSpPr>
            <p:cNvPr id="194" name="Google Shape;194;g3fae3b6faca_1_73"/>
            <p:cNvSpPr/>
            <p:nvPr/>
          </p:nvSpPr>
          <p:spPr>
            <a:xfrm>
              <a:off x="-2784575" y="30551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195" name="Google Shape;195;g3fae3b6faca_1_73"/>
            <p:cNvSpPr/>
            <p:nvPr/>
          </p:nvSpPr>
          <p:spPr>
            <a:xfrm>
              <a:off x="-2784575" y="36647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196" name="Google Shape;196;g3fae3b6faca_1_73"/>
            <p:cNvSpPr/>
            <p:nvPr/>
          </p:nvSpPr>
          <p:spPr>
            <a:xfrm>
              <a:off x="-2784575" y="4266289"/>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97" name="Google Shape;197;g3fae3b6faca_1_73"/>
            <p:cNvGrpSpPr/>
            <p:nvPr/>
          </p:nvGrpSpPr>
          <p:grpSpPr>
            <a:xfrm>
              <a:off x="-3079992" y="2455011"/>
              <a:ext cx="209400" cy="209700"/>
              <a:chOff x="-3275292" y="2173036"/>
              <a:chExt cx="209400" cy="209700"/>
            </a:xfrm>
          </p:grpSpPr>
          <p:sp>
            <p:nvSpPr>
              <p:cNvPr id="198" name="Google Shape;198;g3fae3b6faca_1_73"/>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3fae3b6faca_1_73"/>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0" name="Google Shape;200;g3fae3b6faca_1_73"/>
            <p:cNvSpPr/>
            <p:nvPr/>
          </p:nvSpPr>
          <p:spPr>
            <a:xfrm>
              <a:off x="-3013394" y="31313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fae3b6faca_1_73"/>
            <p:cNvSpPr/>
            <p:nvPr/>
          </p:nvSpPr>
          <p:spPr>
            <a:xfrm>
              <a:off x="-3013394" y="37409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fae3b6faca_1_73"/>
            <p:cNvSpPr/>
            <p:nvPr/>
          </p:nvSpPr>
          <p:spPr>
            <a:xfrm>
              <a:off x="-3013394" y="43505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g3fae3b6faca_1_73"/>
            <p:cNvSpPr/>
            <p:nvPr/>
          </p:nvSpPr>
          <p:spPr>
            <a:xfrm>
              <a:off x="-3011444" y="191752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208" name="Shape 208"/>
        <p:cNvGrpSpPr/>
        <p:nvPr/>
      </p:nvGrpSpPr>
      <p:grpSpPr>
        <a:xfrm>
          <a:off x="0" y="0"/>
          <a:ext cx="0" cy="0"/>
          <a:chOff x="0" y="0"/>
          <a:chExt cx="0" cy="0"/>
        </a:xfrm>
      </p:grpSpPr>
      <p:sp>
        <p:nvSpPr>
          <p:cNvPr id="209" name="Google Shape;209;p4"/>
          <p:cNvSpPr/>
          <p:nvPr/>
        </p:nvSpPr>
        <p:spPr>
          <a:xfrm>
            <a:off x="-1412197" y="1668284"/>
            <a:ext cx="19800" cy="6228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1" name="Google Shape;211;p4"/>
          <p:cNvCxnSpPr/>
          <p:nvPr/>
        </p:nvCxnSpPr>
        <p:spPr>
          <a:xfrm>
            <a:off x="182880" y="5742432"/>
            <a:ext cx="1353312" cy="0"/>
          </a:xfrm>
          <a:prstGeom prst="straightConnector1">
            <a:avLst/>
          </a:prstGeom>
          <a:noFill/>
          <a:ln cap="flat" cmpd="sng" w="11425">
            <a:solidFill>
              <a:srgbClr val="D7E3DA"/>
            </a:solidFill>
            <a:prstDash val="solid"/>
            <a:round/>
            <a:headEnd len="sm" w="sm" type="none"/>
            <a:tailEnd len="sm" w="sm" type="none"/>
          </a:ln>
        </p:spPr>
      </p:cxnSp>
      <p:sp>
        <p:nvSpPr>
          <p:cNvPr id="212" name="Google Shape;212;p4"/>
          <p:cNvSpPr/>
          <p:nvPr/>
        </p:nvSpPr>
        <p:spPr>
          <a:xfrm>
            <a:off x="2057400" y="696438"/>
            <a:ext cx="9738300" cy="475500"/>
          </a:xfrm>
          <a:prstGeom prst="rect">
            <a:avLst/>
          </a:prstGeom>
          <a:noFill/>
          <a:ln>
            <a:noFill/>
          </a:ln>
        </p:spPr>
        <p:txBody>
          <a:bodyPr anchorCtr="0" anchor="ctr" bIns="0" lIns="0" spcFirstLastPara="1" rIns="0" wrap="square" tIns="0">
            <a:norm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전체 파이프라인</a:t>
            </a:r>
            <a:endParaRPr b="0" i="0" sz="2600" u="none" cap="none" strike="noStrike">
              <a:solidFill>
                <a:schemeClr val="dk1"/>
              </a:solidFill>
              <a:latin typeface="Malgun Gothic"/>
              <a:ea typeface="Malgun Gothic"/>
              <a:cs typeface="Malgun Gothic"/>
              <a:sym typeface="Malgun Gothic"/>
            </a:endParaRPr>
          </a:p>
        </p:txBody>
      </p:sp>
      <p:sp>
        <p:nvSpPr>
          <p:cNvPr id="213" name="Google Shape;213;p4"/>
          <p:cNvSpPr/>
          <p:nvPr/>
        </p:nvSpPr>
        <p:spPr>
          <a:xfrm>
            <a:off x="2057400" y="6510528"/>
            <a:ext cx="2560200" cy="137100"/>
          </a:xfrm>
          <a:prstGeom prst="rect">
            <a:avLst/>
          </a:prstGeom>
          <a:noFill/>
          <a:ln>
            <a:noFill/>
          </a:ln>
        </p:spPr>
        <p:txBody>
          <a:bodyPr anchorCtr="0" anchor="ctr" bIns="500" lIns="500" spcFirstLastPara="1" rIns="500" wrap="square" tIns="500">
            <a:norm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sp>
        <p:nvSpPr>
          <p:cNvPr id="214" name="Google Shape;214;p4"/>
          <p:cNvSpPr/>
          <p:nvPr/>
        </p:nvSpPr>
        <p:spPr>
          <a:xfrm>
            <a:off x="3084803" y="2038374"/>
            <a:ext cx="1976700" cy="1241100"/>
          </a:xfrm>
          <a:prstGeom prst="roundRect">
            <a:avLst>
              <a:gd fmla="val 17073" name="adj"/>
            </a:avLst>
          </a:prstGeom>
          <a:solidFill>
            <a:srgbClr val="FFFFFF"/>
          </a:solidFill>
          <a:ln cap="flat" cmpd="sng" w="23100">
            <a:solidFill>
              <a:srgbClr val="2D8C5E"/>
            </a:solidFill>
            <a:prstDash val="solid"/>
            <a:round/>
            <a:headEnd len="sm" w="sm" type="none"/>
            <a:tailEnd len="sm" w="sm" type="none"/>
          </a:ln>
        </p:spPr>
        <p:txBody>
          <a:bodyPr anchorCtr="0" anchor="ctr" bIns="151350" lIns="151350" spcFirstLastPara="1" rIns="151350" wrap="square" tIns="151350">
            <a:noAutofit/>
          </a:bodyPr>
          <a:lstStyle/>
          <a:p>
            <a:pPr indent="0" lvl="0" marL="0" marR="0" rtl="0" algn="l">
              <a:lnSpc>
                <a:spcPct val="100000"/>
              </a:lnSpc>
              <a:spcBef>
                <a:spcPts val="0"/>
              </a:spcBef>
              <a:spcAft>
                <a:spcPts val="0"/>
              </a:spcAft>
              <a:buClr>
                <a:srgbClr val="000000"/>
              </a:buClr>
              <a:buSzPts val="3477"/>
              <a:buFont typeface="Arial"/>
              <a:buNone/>
            </a:pPr>
            <a:r>
              <a:t/>
            </a:r>
            <a:endParaRPr b="0" i="0" sz="3477" u="none" cap="none" strike="noStrike">
              <a:solidFill>
                <a:srgbClr val="000000"/>
              </a:solidFill>
              <a:latin typeface="Arial"/>
              <a:ea typeface="Arial"/>
              <a:cs typeface="Arial"/>
              <a:sym typeface="Arial"/>
            </a:endParaRPr>
          </a:p>
        </p:txBody>
      </p:sp>
      <p:sp>
        <p:nvSpPr>
          <p:cNvPr id="215" name="Google Shape;215;p4"/>
          <p:cNvSpPr/>
          <p:nvPr/>
        </p:nvSpPr>
        <p:spPr>
          <a:xfrm>
            <a:off x="3128038" y="2308521"/>
            <a:ext cx="1855800" cy="272700"/>
          </a:xfrm>
          <a:prstGeom prst="rect">
            <a:avLst/>
          </a:prstGeom>
          <a:noFill/>
          <a:ln>
            <a:noFill/>
          </a:ln>
        </p:spPr>
        <p:txBody>
          <a:bodyPr anchorCtr="0" anchor="ctr" bIns="850" lIns="850" spcFirstLastPara="1" rIns="850" wrap="square" tIns="850">
            <a:normAutofit/>
          </a:bodyPr>
          <a:lstStyle/>
          <a:p>
            <a:pPr indent="0" lvl="0" marL="0" marR="0" rtl="0" algn="ctr">
              <a:lnSpc>
                <a:spcPct val="95000"/>
              </a:lnSpc>
              <a:spcBef>
                <a:spcPts val="0"/>
              </a:spcBef>
              <a:spcAft>
                <a:spcPts val="0"/>
              </a:spcAft>
              <a:buClr>
                <a:srgbClr val="8A9B92"/>
              </a:buClr>
              <a:buSzPts val="1457"/>
              <a:buFont typeface="Malgun Gothic"/>
              <a:buNone/>
            </a:pPr>
            <a:r>
              <a:rPr b="1" i="0" lang="en-US" sz="2316" u="none" cap="none" strike="noStrike">
                <a:solidFill>
                  <a:srgbClr val="2D8C5E"/>
                </a:solidFill>
                <a:latin typeface="Malgun Gothic"/>
                <a:ea typeface="Malgun Gothic"/>
                <a:cs typeface="Malgun Gothic"/>
                <a:sym typeface="Malgun Gothic"/>
              </a:rPr>
              <a:t>기사 입력</a:t>
            </a:r>
            <a:endParaRPr b="0" i="0" sz="2316" u="none" cap="none" strike="noStrike">
              <a:solidFill>
                <a:srgbClr val="2D8C5E"/>
              </a:solidFill>
              <a:latin typeface="Malgun Gothic"/>
              <a:ea typeface="Malgun Gothic"/>
              <a:cs typeface="Malgun Gothic"/>
              <a:sym typeface="Malgun Gothic"/>
            </a:endParaRPr>
          </a:p>
        </p:txBody>
      </p:sp>
      <p:sp>
        <p:nvSpPr>
          <p:cNvPr id="216" name="Google Shape;216;p4"/>
          <p:cNvSpPr/>
          <p:nvPr/>
        </p:nvSpPr>
        <p:spPr>
          <a:xfrm>
            <a:off x="3160494" y="2721302"/>
            <a:ext cx="1825200" cy="272700"/>
          </a:xfrm>
          <a:prstGeom prst="rect">
            <a:avLst/>
          </a:prstGeom>
          <a:noFill/>
          <a:ln>
            <a:noFill/>
          </a:ln>
        </p:spPr>
        <p:txBody>
          <a:bodyPr anchorCtr="0" anchor="ctr" bIns="850" lIns="850" spcFirstLastPara="1" rIns="850" wrap="square" tIns="850">
            <a:normAutofit/>
          </a:bodyPr>
          <a:lstStyle/>
          <a:p>
            <a:pPr indent="0" lvl="0" marL="0" marR="0" rtl="0" algn="ctr">
              <a:lnSpc>
                <a:spcPct val="95000"/>
              </a:lnSpc>
              <a:spcBef>
                <a:spcPts val="0"/>
              </a:spcBef>
              <a:spcAft>
                <a:spcPts val="0"/>
              </a:spcAft>
              <a:buClr>
                <a:srgbClr val="6F7E76"/>
              </a:buClr>
              <a:buSzPts val="1076"/>
              <a:buFont typeface="Malgun Gothic"/>
              <a:buNone/>
            </a:pPr>
            <a:r>
              <a:rPr b="0" i="0" lang="en-US" sz="1635" u="none" cap="none" strike="noStrike">
                <a:solidFill>
                  <a:srgbClr val="6F7E76"/>
                </a:solidFill>
                <a:latin typeface="Arial"/>
                <a:ea typeface="Arial"/>
                <a:cs typeface="Arial"/>
                <a:sym typeface="Arial"/>
              </a:rPr>
              <a:t>기사 URL</a:t>
            </a:r>
            <a:endParaRPr b="0" i="0" sz="1635" u="none" cap="none" strike="noStrike">
              <a:solidFill>
                <a:schemeClr val="dk1"/>
              </a:solidFill>
              <a:latin typeface="Arial"/>
              <a:ea typeface="Arial"/>
              <a:cs typeface="Arial"/>
              <a:sym typeface="Arial"/>
            </a:endParaRPr>
          </a:p>
        </p:txBody>
      </p:sp>
      <p:sp>
        <p:nvSpPr>
          <p:cNvPr id="217" name="Google Shape;217;p4"/>
          <p:cNvSpPr/>
          <p:nvPr/>
        </p:nvSpPr>
        <p:spPr>
          <a:xfrm>
            <a:off x="5250438" y="2416835"/>
            <a:ext cx="272700" cy="378600"/>
          </a:xfrm>
          <a:prstGeom prst="chevron">
            <a:avLst>
              <a:gd fmla="val 50000" name="adj"/>
            </a:avLst>
          </a:prstGeom>
          <a:solidFill>
            <a:srgbClr val="D7E3DA"/>
          </a:solidFill>
          <a:ln cap="flat" cmpd="sng" w="21025">
            <a:solidFill>
              <a:srgbClr val="D7E3DA"/>
            </a:solidFill>
            <a:prstDash val="solid"/>
            <a:round/>
            <a:headEnd len="sm" w="sm" type="none"/>
            <a:tailEnd len="sm" w="sm" type="none"/>
          </a:ln>
        </p:spPr>
        <p:txBody>
          <a:bodyPr anchorCtr="0" anchor="ctr" bIns="151350" lIns="151350" spcFirstLastPara="1" rIns="151350" wrap="square" tIns="151350">
            <a:noAutofit/>
          </a:bodyPr>
          <a:lstStyle/>
          <a:p>
            <a:pPr indent="0" lvl="0" marL="0" marR="0" rtl="0" algn="l">
              <a:lnSpc>
                <a:spcPct val="100000"/>
              </a:lnSpc>
              <a:spcBef>
                <a:spcPts val="0"/>
              </a:spcBef>
              <a:spcAft>
                <a:spcPts val="0"/>
              </a:spcAft>
              <a:buClr>
                <a:srgbClr val="000000"/>
              </a:buClr>
              <a:buSzPts val="3477"/>
              <a:buFont typeface="Arial"/>
              <a:buNone/>
            </a:pPr>
            <a:r>
              <a:t/>
            </a:r>
            <a:endParaRPr b="0" i="0" sz="3477" u="none" cap="none" strike="noStrike">
              <a:solidFill>
                <a:srgbClr val="000000"/>
              </a:solidFill>
              <a:latin typeface="Arial"/>
              <a:ea typeface="Arial"/>
              <a:cs typeface="Arial"/>
              <a:sym typeface="Arial"/>
            </a:endParaRPr>
          </a:p>
        </p:txBody>
      </p:sp>
      <p:sp>
        <p:nvSpPr>
          <p:cNvPr id="218" name="Google Shape;218;p4"/>
          <p:cNvSpPr/>
          <p:nvPr/>
        </p:nvSpPr>
        <p:spPr>
          <a:xfrm>
            <a:off x="5686810" y="2033849"/>
            <a:ext cx="1976700" cy="1241100"/>
          </a:xfrm>
          <a:prstGeom prst="roundRect">
            <a:avLst>
              <a:gd fmla="val 17073" name="adj"/>
            </a:avLst>
          </a:prstGeom>
          <a:solidFill>
            <a:srgbClr val="FFFFFF"/>
          </a:solidFill>
          <a:ln cap="flat" cmpd="sng" w="23100">
            <a:solidFill>
              <a:srgbClr val="528A62"/>
            </a:solidFill>
            <a:prstDash val="solid"/>
            <a:round/>
            <a:headEnd len="sm" w="sm" type="none"/>
            <a:tailEnd len="sm" w="sm" type="none"/>
          </a:ln>
        </p:spPr>
        <p:txBody>
          <a:bodyPr anchorCtr="0" anchor="ctr" bIns="151350" lIns="151350" spcFirstLastPara="1" rIns="151350" wrap="square" tIns="151350">
            <a:noAutofit/>
          </a:bodyPr>
          <a:lstStyle/>
          <a:p>
            <a:pPr indent="0" lvl="0" marL="0" marR="0" rtl="0" algn="l">
              <a:lnSpc>
                <a:spcPct val="100000"/>
              </a:lnSpc>
              <a:spcBef>
                <a:spcPts val="0"/>
              </a:spcBef>
              <a:spcAft>
                <a:spcPts val="0"/>
              </a:spcAft>
              <a:buClr>
                <a:srgbClr val="000000"/>
              </a:buClr>
              <a:buSzPts val="3177"/>
              <a:buFont typeface="Arial"/>
              <a:buNone/>
            </a:pPr>
            <a:r>
              <a:t/>
            </a:r>
            <a:endParaRPr b="0" i="0" sz="3177" u="none" cap="none" strike="noStrike">
              <a:solidFill>
                <a:srgbClr val="000000"/>
              </a:solidFill>
              <a:latin typeface="Arial"/>
              <a:ea typeface="Arial"/>
              <a:cs typeface="Arial"/>
              <a:sym typeface="Arial"/>
            </a:endParaRPr>
          </a:p>
        </p:txBody>
      </p:sp>
      <p:sp>
        <p:nvSpPr>
          <p:cNvPr id="219" name="Google Shape;219;p4"/>
          <p:cNvSpPr/>
          <p:nvPr/>
        </p:nvSpPr>
        <p:spPr>
          <a:xfrm>
            <a:off x="5747363" y="2308521"/>
            <a:ext cx="1855800" cy="272700"/>
          </a:xfrm>
          <a:prstGeom prst="rect">
            <a:avLst/>
          </a:prstGeom>
          <a:noFill/>
          <a:ln>
            <a:noFill/>
          </a:ln>
        </p:spPr>
        <p:txBody>
          <a:bodyPr anchorCtr="0" anchor="ctr" bIns="850" lIns="850" spcFirstLastPara="1" rIns="850" wrap="square" tIns="850">
            <a:normAutofit/>
          </a:bodyPr>
          <a:lstStyle/>
          <a:p>
            <a:pPr indent="0" lvl="0" marL="0" marR="0" rtl="0" algn="ctr">
              <a:lnSpc>
                <a:spcPct val="95000"/>
              </a:lnSpc>
              <a:spcBef>
                <a:spcPts val="0"/>
              </a:spcBef>
              <a:spcAft>
                <a:spcPts val="0"/>
              </a:spcAft>
              <a:buClr>
                <a:srgbClr val="8A9B92"/>
              </a:buClr>
              <a:buSzPts val="1457"/>
              <a:buFont typeface="Malgun Gothic"/>
              <a:buNone/>
            </a:pPr>
            <a:r>
              <a:rPr b="1" i="0" lang="en-US" sz="2316" u="none" cap="none" strike="noStrike">
                <a:solidFill>
                  <a:srgbClr val="2D8C5E"/>
                </a:solidFill>
                <a:latin typeface="Malgun Gothic"/>
                <a:ea typeface="Malgun Gothic"/>
                <a:cs typeface="Malgun Gothic"/>
                <a:sym typeface="Malgun Gothic"/>
              </a:rPr>
              <a:t>전처리</a:t>
            </a:r>
            <a:endParaRPr b="0" i="0" sz="2316" u="none" cap="none" strike="noStrike">
              <a:solidFill>
                <a:srgbClr val="2D8C5E"/>
              </a:solidFill>
              <a:latin typeface="Malgun Gothic"/>
              <a:ea typeface="Malgun Gothic"/>
              <a:cs typeface="Malgun Gothic"/>
              <a:sym typeface="Malgun Gothic"/>
            </a:endParaRPr>
          </a:p>
        </p:txBody>
      </p:sp>
      <p:sp>
        <p:nvSpPr>
          <p:cNvPr id="220" name="Google Shape;220;p4"/>
          <p:cNvSpPr/>
          <p:nvPr/>
        </p:nvSpPr>
        <p:spPr>
          <a:xfrm>
            <a:off x="5762501" y="2703984"/>
            <a:ext cx="1825200" cy="272700"/>
          </a:xfrm>
          <a:prstGeom prst="rect">
            <a:avLst/>
          </a:prstGeom>
          <a:noFill/>
          <a:ln>
            <a:noFill/>
          </a:ln>
        </p:spPr>
        <p:txBody>
          <a:bodyPr anchorCtr="0" anchor="ctr" bIns="850" lIns="850" spcFirstLastPara="1" rIns="850" wrap="square" tIns="850">
            <a:normAutofit/>
          </a:bodyPr>
          <a:lstStyle/>
          <a:p>
            <a:pPr indent="0" lvl="0" marL="0" marR="0" rtl="0" algn="ctr">
              <a:lnSpc>
                <a:spcPct val="95000"/>
              </a:lnSpc>
              <a:spcBef>
                <a:spcPts val="0"/>
              </a:spcBef>
              <a:spcAft>
                <a:spcPts val="0"/>
              </a:spcAft>
              <a:buClr>
                <a:srgbClr val="6F7E76"/>
              </a:buClr>
              <a:buSzPts val="1076"/>
              <a:buFont typeface="Malgun Gothic"/>
              <a:buNone/>
            </a:pPr>
            <a:r>
              <a:rPr b="0" i="0" lang="en-US" sz="1635" u="none" cap="none" strike="noStrike">
                <a:solidFill>
                  <a:srgbClr val="6F7E76"/>
                </a:solidFill>
                <a:latin typeface="Arial"/>
                <a:ea typeface="Arial"/>
                <a:cs typeface="Arial"/>
                <a:sym typeface="Arial"/>
              </a:rPr>
              <a:t>문장·수치 후보</a:t>
            </a:r>
            <a:endParaRPr b="0" i="0" sz="1635" u="none" cap="none" strike="noStrike">
              <a:solidFill>
                <a:schemeClr val="dk1"/>
              </a:solidFill>
              <a:latin typeface="Arial"/>
              <a:ea typeface="Arial"/>
              <a:cs typeface="Arial"/>
              <a:sym typeface="Arial"/>
            </a:endParaRPr>
          </a:p>
        </p:txBody>
      </p:sp>
      <p:sp>
        <p:nvSpPr>
          <p:cNvPr id="221" name="Google Shape;221;p4"/>
          <p:cNvSpPr/>
          <p:nvPr/>
        </p:nvSpPr>
        <p:spPr>
          <a:xfrm>
            <a:off x="7834806" y="2416835"/>
            <a:ext cx="272700" cy="378600"/>
          </a:xfrm>
          <a:prstGeom prst="chevron">
            <a:avLst>
              <a:gd fmla="val 50000" name="adj"/>
            </a:avLst>
          </a:prstGeom>
          <a:solidFill>
            <a:srgbClr val="D7E3DA"/>
          </a:solidFill>
          <a:ln cap="flat" cmpd="sng" w="21025">
            <a:solidFill>
              <a:srgbClr val="D7E3DA"/>
            </a:solidFill>
            <a:prstDash val="solid"/>
            <a:round/>
            <a:headEnd len="sm" w="sm" type="none"/>
            <a:tailEnd len="sm" w="sm" type="none"/>
          </a:ln>
        </p:spPr>
        <p:txBody>
          <a:bodyPr anchorCtr="0" anchor="ctr" bIns="151350" lIns="151350" spcFirstLastPara="1" rIns="151350" wrap="square" tIns="151350">
            <a:noAutofit/>
          </a:bodyPr>
          <a:lstStyle/>
          <a:p>
            <a:pPr indent="0" lvl="0" marL="0" marR="0" rtl="0" algn="l">
              <a:lnSpc>
                <a:spcPct val="100000"/>
              </a:lnSpc>
              <a:spcBef>
                <a:spcPts val="0"/>
              </a:spcBef>
              <a:spcAft>
                <a:spcPts val="0"/>
              </a:spcAft>
              <a:buClr>
                <a:srgbClr val="000000"/>
              </a:buClr>
              <a:buSzPts val="3477"/>
              <a:buFont typeface="Arial"/>
              <a:buNone/>
            </a:pPr>
            <a:r>
              <a:t/>
            </a:r>
            <a:endParaRPr b="0" i="0" sz="3477" u="none" cap="none" strike="noStrike">
              <a:solidFill>
                <a:srgbClr val="000000"/>
              </a:solidFill>
              <a:latin typeface="Arial"/>
              <a:ea typeface="Arial"/>
              <a:cs typeface="Arial"/>
              <a:sym typeface="Arial"/>
            </a:endParaRPr>
          </a:p>
        </p:txBody>
      </p:sp>
      <p:sp>
        <p:nvSpPr>
          <p:cNvPr id="222" name="Google Shape;222;p4"/>
          <p:cNvSpPr/>
          <p:nvPr/>
        </p:nvSpPr>
        <p:spPr>
          <a:xfrm>
            <a:off x="8306456" y="2038374"/>
            <a:ext cx="1976700" cy="1241100"/>
          </a:xfrm>
          <a:prstGeom prst="roundRect">
            <a:avLst>
              <a:gd fmla="val 17073" name="adj"/>
            </a:avLst>
          </a:prstGeom>
          <a:solidFill>
            <a:srgbClr val="FFFFFF"/>
          </a:solidFill>
          <a:ln cap="flat" cmpd="sng" w="23100">
            <a:solidFill>
              <a:srgbClr val="2D8C5E"/>
            </a:solidFill>
            <a:prstDash val="solid"/>
            <a:round/>
            <a:headEnd len="sm" w="sm" type="none"/>
            <a:tailEnd len="sm" w="sm" type="none"/>
          </a:ln>
        </p:spPr>
        <p:txBody>
          <a:bodyPr anchorCtr="0" anchor="ctr" bIns="151350" lIns="151350" spcFirstLastPara="1" rIns="151350" wrap="square" tIns="151350">
            <a:noAutofit/>
          </a:bodyPr>
          <a:lstStyle/>
          <a:p>
            <a:pPr indent="0" lvl="0" marL="0" marR="0" rtl="0" algn="l">
              <a:lnSpc>
                <a:spcPct val="100000"/>
              </a:lnSpc>
              <a:spcBef>
                <a:spcPts val="0"/>
              </a:spcBef>
              <a:spcAft>
                <a:spcPts val="0"/>
              </a:spcAft>
              <a:buClr>
                <a:srgbClr val="000000"/>
              </a:buClr>
              <a:buSzPts val="3477"/>
              <a:buFont typeface="Arial"/>
              <a:buNone/>
            </a:pPr>
            <a:r>
              <a:t/>
            </a:r>
            <a:endParaRPr b="0" i="0" sz="3477" u="none" cap="none" strike="noStrike">
              <a:solidFill>
                <a:srgbClr val="000000"/>
              </a:solidFill>
              <a:latin typeface="Arial"/>
              <a:ea typeface="Arial"/>
              <a:cs typeface="Arial"/>
              <a:sym typeface="Arial"/>
            </a:endParaRPr>
          </a:p>
        </p:txBody>
      </p:sp>
      <p:sp>
        <p:nvSpPr>
          <p:cNvPr id="223" name="Google Shape;223;p4"/>
          <p:cNvSpPr/>
          <p:nvPr/>
        </p:nvSpPr>
        <p:spPr>
          <a:xfrm>
            <a:off x="8367008" y="2291202"/>
            <a:ext cx="1855800" cy="272700"/>
          </a:xfrm>
          <a:prstGeom prst="rect">
            <a:avLst/>
          </a:prstGeom>
          <a:noFill/>
          <a:ln>
            <a:noFill/>
          </a:ln>
        </p:spPr>
        <p:txBody>
          <a:bodyPr anchorCtr="0" anchor="ctr" bIns="850" lIns="850" spcFirstLastPara="1" rIns="850" wrap="square" tIns="850">
            <a:normAutofit/>
          </a:bodyPr>
          <a:lstStyle/>
          <a:p>
            <a:pPr indent="0" lvl="0" marL="0" marR="0" rtl="0" algn="ctr">
              <a:lnSpc>
                <a:spcPct val="95000"/>
              </a:lnSpc>
              <a:spcBef>
                <a:spcPts val="0"/>
              </a:spcBef>
              <a:spcAft>
                <a:spcPts val="0"/>
              </a:spcAft>
              <a:buClr>
                <a:srgbClr val="2D8C5E"/>
              </a:buClr>
              <a:buSzPts val="1457"/>
              <a:buFont typeface="Malgun Gothic"/>
              <a:buNone/>
            </a:pPr>
            <a:r>
              <a:rPr b="1" i="0" lang="en-US" sz="2316" u="none" cap="none" strike="noStrike">
                <a:solidFill>
                  <a:srgbClr val="2D8C5E"/>
                </a:solidFill>
                <a:latin typeface="Malgun Gothic"/>
                <a:ea typeface="Malgun Gothic"/>
                <a:cs typeface="Malgun Gothic"/>
                <a:sym typeface="Malgun Gothic"/>
              </a:rPr>
              <a:t>HCX-007</a:t>
            </a:r>
            <a:endParaRPr b="0" i="0" sz="2316" u="none" cap="none" strike="noStrike">
              <a:solidFill>
                <a:schemeClr val="dk1"/>
              </a:solidFill>
              <a:latin typeface="Malgun Gothic"/>
              <a:ea typeface="Malgun Gothic"/>
              <a:cs typeface="Malgun Gothic"/>
              <a:sym typeface="Malgun Gothic"/>
            </a:endParaRPr>
          </a:p>
        </p:txBody>
      </p:sp>
      <p:sp>
        <p:nvSpPr>
          <p:cNvPr id="224" name="Google Shape;224;p4"/>
          <p:cNvSpPr/>
          <p:nvPr/>
        </p:nvSpPr>
        <p:spPr>
          <a:xfrm>
            <a:off x="8382146" y="2730733"/>
            <a:ext cx="1825200" cy="272700"/>
          </a:xfrm>
          <a:prstGeom prst="rect">
            <a:avLst/>
          </a:prstGeom>
          <a:noFill/>
          <a:ln>
            <a:noFill/>
          </a:ln>
        </p:spPr>
        <p:txBody>
          <a:bodyPr anchorCtr="0" anchor="ctr" bIns="850" lIns="850" spcFirstLastPara="1" rIns="850" wrap="square" tIns="850">
            <a:normAutofit/>
          </a:bodyPr>
          <a:lstStyle/>
          <a:p>
            <a:pPr indent="0" lvl="0" marL="0" marR="0" rtl="0" algn="ctr">
              <a:lnSpc>
                <a:spcPct val="95000"/>
              </a:lnSpc>
              <a:spcBef>
                <a:spcPts val="0"/>
              </a:spcBef>
              <a:spcAft>
                <a:spcPts val="0"/>
              </a:spcAft>
              <a:buClr>
                <a:srgbClr val="6F7E76"/>
              </a:buClr>
              <a:buSzPts val="1076"/>
              <a:buFont typeface="Malgun Gothic"/>
              <a:buNone/>
            </a:pPr>
            <a:r>
              <a:rPr b="0" i="0" lang="en-US" sz="1635" u="none" cap="none" strike="noStrike">
                <a:solidFill>
                  <a:srgbClr val="6F7E76"/>
                </a:solidFill>
                <a:latin typeface="Arial"/>
                <a:ea typeface="Arial"/>
                <a:cs typeface="Arial"/>
                <a:sym typeface="Arial"/>
              </a:rPr>
              <a:t>measurement 구조화</a:t>
            </a:r>
            <a:endParaRPr b="0" i="0" sz="1635" u="none" cap="none" strike="noStrike">
              <a:solidFill>
                <a:schemeClr val="dk1"/>
              </a:solidFill>
              <a:latin typeface="Arial"/>
              <a:ea typeface="Arial"/>
              <a:cs typeface="Arial"/>
              <a:sym typeface="Arial"/>
            </a:endParaRPr>
          </a:p>
        </p:txBody>
      </p:sp>
      <p:sp>
        <p:nvSpPr>
          <p:cNvPr id="225" name="Google Shape;225;p4"/>
          <p:cNvSpPr/>
          <p:nvPr/>
        </p:nvSpPr>
        <p:spPr>
          <a:xfrm>
            <a:off x="10419174" y="2416835"/>
            <a:ext cx="272700" cy="378600"/>
          </a:xfrm>
          <a:prstGeom prst="chevron">
            <a:avLst>
              <a:gd fmla="val 50000" name="adj"/>
            </a:avLst>
          </a:prstGeom>
          <a:solidFill>
            <a:srgbClr val="D7E3DA"/>
          </a:solidFill>
          <a:ln cap="flat" cmpd="sng" w="21025">
            <a:solidFill>
              <a:srgbClr val="D7E3DA"/>
            </a:solidFill>
            <a:prstDash val="solid"/>
            <a:round/>
            <a:headEnd len="sm" w="sm" type="none"/>
            <a:tailEnd len="sm" w="sm" type="none"/>
          </a:ln>
        </p:spPr>
        <p:txBody>
          <a:bodyPr anchorCtr="0" anchor="ctr" bIns="151350" lIns="151350" spcFirstLastPara="1" rIns="151350" wrap="square" tIns="151350">
            <a:noAutofit/>
          </a:bodyPr>
          <a:lstStyle/>
          <a:p>
            <a:pPr indent="0" lvl="0" marL="0" marR="0" rtl="0" algn="l">
              <a:lnSpc>
                <a:spcPct val="100000"/>
              </a:lnSpc>
              <a:spcBef>
                <a:spcPts val="0"/>
              </a:spcBef>
              <a:spcAft>
                <a:spcPts val="0"/>
              </a:spcAft>
              <a:buClr>
                <a:srgbClr val="000000"/>
              </a:buClr>
              <a:buSzPts val="3477"/>
              <a:buFont typeface="Arial"/>
              <a:buNone/>
            </a:pPr>
            <a:r>
              <a:t/>
            </a:r>
            <a:endParaRPr b="0" i="0" sz="3477" u="none" cap="none" strike="noStrike">
              <a:solidFill>
                <a:srgbClr val="000000"/>
              </a:solidFill>
              <a:latin typeface="Arial"/>
              <a:ea typeface="Arial"/>
              <a:cs typeface="Arial"/>
              <a:sym typeface="Arial"/>
            </a:endParaRPr>
          </a:p>
        </p:txBody>
      </p:sp>
      <p:sp>
        <p:nvSpPr>
          <p:cNvPr id="226" name="Google Shape;226;p4"/>
          <p:cNvSpPr/>
          <p:nvPr/>
        </p:nvSpPr>
        <p:spPr>
          <a:xfrm>
            <a:off x="2520342" y="4040298"/>
            <a:ext cx="1932900" cy="1213500"/>
          </a:xfrm>
          <a:prstGeom prst="roundRect">
            <a:avLst>
              <a:gd fmla="val 17073" name="adj"/>
            </a:avLst>
          </a:prstGeom>
          <a:solidFill>
            <a:srgbClr val="FFFFFF"/>
          </a:solidFill>
          <a:ln cap="flat" cmpd="sng" w="22575">
            <a:solidFill>
              <a:srgbClr val="1F7A4F"/>
            </a:solidFill>
            <a:prstDash val="solid"/>
            <a:round/>
            <a:headEnd len="sm" w="sm" type="none"/>
            <a:tailEnd len="sm" w="sm" type="none"/>
          </a:ln>
        </p:spPr>
        <p:txBody>
          <a:bodyPr anchorCtr="0" anchor="ctr" bIns="148000" lIns="148000" spcFirstLastPara="1" rIns="148000" wrap="square" tIns="148000">
            <a:noAutofit/>
          </a:bodyPr>
          <a:lstStyle/>
          <a:p>
            <a:pPr indent="0" lvl="0" marL="0" marR="0" rtl="0" algn="l">
              <a:lnSpc>
                <a:spcPct val="100000"/>
              </a:lnSpc>
              <a:spcBef>
                <a:spcPts val="0"/>
              </a:spcBef>
              <a:spcAft>
                <a:spcPts val="0"/>
              </a:spcAft>
              <a:buClr>
                <a:srgbClr val="000000"/>
              </a:buClr>
              <a:buSzPts val="3076"/>
              <a:buFont typeface="Arial"/>
              <a:buNone/>
            </a:pPr>
            <a:r>
              <a:t/>
            </a:r>
            <a:endParaRPr b="0" i="0" sz="3076" u="none" cap="none" strike="noStrike">
              <a:solidFill>
                <a:srgbClr val="000000"/>
              </a:solidFill>
              <a:latin typeface="Arial"/>
              <a:ea typeface="Arial"/>
              <a:cs typeface="Arial"/>
              <a:sym typeface="Arial"/>
            </a:endParaRPr>
          </a:p>
        </p:txBody>
      </p:sp>
      <p:sp>
        <p:nvSpPr>
          <p:cNvPr id="227" name="Google Shape;227;p4"/>
          <p:cNvSpPr/>
          <p:nvPr/>
        </p:nvSpPr>
        <p:spPr>
          <a:xfrm>
            <a:off x="2579554" y="4291946"/>
            <a:ext cx="1814700" cy="266700"/>
          </a:xfrm>
          <a:prstGeom prst="rect">
            <a:avLst/>
          </a:prstGeom>
          <a:noFill/>
          <a:ln>
            <a:noFill/>
          </a:ln>
        </p:spPr>
        <p:txBody>
          <a:bodyPr anchorCtr="0" anchor="ctr" bIns="800" lIns="800" spcFirstLastPara="1" rIns="800" wrap="square" tIns="800">
            <a:normAutofit/>
          </a:bodyPr>
          <a:lstStyle/>
          <a:p>
            <a:pPr indent="0" lvl="0" marL="0" marR="0" rtl="0" algn="ctr">
              <a:lnSpc>
                <a:spcPct val="95000"/>
              </a:lnSpc>
              <a:spcBef>
                <a:spcPts val="0"/>
              </a:spcBef>
              <a:spcAft>
                <a:spcPts val="0"/>
              </a:spcAft>
              <a:buClr>
                <a:srgbClr val="1F7A4F"/>
              </a:buClr>
              <a:buSzPts val="1425"/>
              <a:buFont typeface="Malgun Gothic"/>
              <a:buNone/>
            </a:pPr>
            <a:r>
              <a:rPr b="1" i="0" lang="en-US" sz="2234" u="none" cap="none" strike="noStrike">
                <a:solidFill>
                  <a:srgbClr val="1F7A4F"/>
                </a:solidFill>
                <a:latin typeface="Malgun Gothic"/>
                <a:ea typeface="Malgun Gothic"/>
                <a:cs typeface="Malgun Gothic"/>
                <a:sym typeface="Malgun Gothic"/>
              </a:rPr>
              <a:t>ready gate</a:t>
            </a:r>
            <a:endParaRPr b="0" i="0" sz="2234" u="none" cap="none" strike="noStrike">
              <a:solidFill>
                <a:schemeClr val="dk1"/>
              </a:solidFill>
              <a:latin typeface="Malgun Gothic"/>
              <a:ea typeface="Malgun Gothic"/>
              <a:cs typeface="Malgun Gothic"/>
              <a:sym typeface="Malgun Gothic"/>
            </a:endParaRPr>
          </a:p>
        </p:txBody>
      </p:sp>
      <p:sp>
        <p:nvSpPr>
          <p:cNvPr id="228" name="Google Shape;228;p4"/>
          <p:cNvSpPr/>
          <p:nvPr/>
        </p:nvSpPr>
        <p:spPr>
          <a:xfrm>
            <a:off x="2594357" y="4694459"/>
            <a:ext cx="1785000" cy="266700"/>
          </a:xfrm>
          <a:prstGeom prst="rect">
            <a:avLst/>
          </a:prstGeom>
          <a:noFill/>
          <a:ln>
            <a:noFill/>
          </a:ln>
        </p:spPr>
        <p:txBody>
          <a:bodyPr anchorCtr="0" anchor="ctr" bIns="800" lIns="800" spcFirstLastPara="1" rIns="800" wrap="square" tIns="800">
            <a:normAutofit/>
          </a:bodyPr>
          <a:lstStyle/>
          <a:p>
            <a:pPr indent="0" lvl="0" marL="0" marR="0" rtl="0" algn="ctr">
              <a:lnSpc>
                <a:spcPct val="95000"/>
              </a:lnSpc>
              <a:spcBef>
                <a:spcPts val="0"/>
              </a:spcBef>
              <a:spcAft>
                <a:spcPts val="0"/>
              </a:spcAft>
              <a:buClr>
                <a:srgbClr val="6F7E76"/>
              </a:buClr>
              <a:buSzPts val="1052"/>
              <a:buFont typeface="Malgun Gothic"/>
              <a:buNone/>
            </a:pPr>
            <a:r>
              <a:rPr b="0" i="0" lang="en-US" sz="1562" u="none" cap="none" strike="noStrike">
                <a:solidFill>
                  <a:srgbClr val="6F7E76"/>
                </a:solidFill>
                <a:latin typeface="Arial"/>
                <a:ea typeface="Arial"/>
                <a:cs typeface="Arial"/>
                <a:sym typeface="Arial"/>
              </a:rPr>
              <a:t>IN_READY 선별</a:t>
            </a:r>
            <a:endParaRPr b="0" i="0" sz="1562" u="none" cap="none" strike="noStrike">
              <a:solidFill>
                <a:schemeClr val="dk1"/>
              </a:solidFill>
              <a:latin typeface="Arial"/>
              <a:ea typeface="Arial"/>
              <a:cs typeface="Arial"/>
              <a:sym typeface="Arial"/>
            </a:endParaRPr>
          </a:p>
        </p:txBody>
      </p:sp>
      <p:sp>
        <p:nvSpPr>
          <p:cNvPr id="229" name="Google Shape;229;p4"/>
          <p:cNvSpPr/>
          <p:nvPr/>
        </p:nvSpPr>
        <p:spPr>
          <a:xfrm>
            <a:off x="4535710" y="4410369"/>
            <a:ext cx="266700" cy="370200"/>
          </a:xfrm>
          <a:prstGeom prst="chevron">
            <a:avLst>
              <a:gd fmla="val 50000" name="adj"/>
            </a:avLst>
          </a:prstGeom>
          <a:solidFill>
            <a:srgbClr val="D7E3DA"/>
          </a:solidFill>
          <a:ln cap="flat" cmpd="sng" w="20550">
            <a:solidFill>
              <a:srgbClr val="D7E3DA"/>
            </a:solidFill>
            <a:prstDash val="solid"/>
            <a:round/>
            <a:headEnd len="sm" w="sm" type="none"/>
            <a:tailEnd len="sm" w="sm" type="none"/>
          </a:ln>
        </p:spPr>
        <p:txBody>
          <a:bodyPr anchorCtr="0" anchor="ctr" bIns="148000" lIns="148000" spcFirstLastPara="1" rIns="148000" wrap="square" tIns="148000">
            <a:noAutofit/>
          </a:bodyPr>
          <a:lstStyle/>
          <a:p>
            <a:pPr indent="0" lvl="0" marL="0" marR="0" rtl="0" algn="l">
              <a:lnSpc>
                <a:spcPct val="100000"/>
              </a:lnSpc>
              <a:spcBef>
                <a:spcPts val="0"/>
              </a:spcBef>
              <a:spcAft>
                <a:spcPts val="0"/>
              </a:spcAft>
              <a:buClr>
                <a:srgbClr val="000000"/>
              </a:buClr>
              <a:buSzPts val="3076"/>
              <a:buFont typeface="Arial"/>
              <a:buNone/>
            </a:pPr>
            <a:r>
              <a:t/>
            </a:r>
            <a:endParaRPr b="0" i="0" sz="3076" u="none" cap="none" strike="noStrike">
              <a:solidFill>
                <a:srgbClr val="000000"/>
              </a:solidFill>
              <a:latin typeface="Arial"/>
              <a:ea typeface="Arial"/>
              <a:cs typeface="Arial"/>
              <a:sym typeface="Arial"/>
            </a:endParaRPr>
          </a:p>
        </p:txBody>
      </p:sp>
      <p:sp>
        <p:nvSpPr>
          <p:cNvPr id="230" name="Google Shape;230;p4"/>
          <p:cNvSpPr/>
          <p:nvPr/>
        </p:nvSpPr>
        <p:spPr>
          <a:xfrm>
            <a:off x="4876178" y="4040298"/>
            <a:ext cx="1932900" cy="1213500"/>
          </a:xfrm>
          <a:prstGeom prst="roundRect">
            <a:avLst>
              <a:gd fmla="val 17073" name="adj"/>
            </a:avLst>
          </a:prstGeom>
          <a:solidFill>
            <a:srgbClr val="FFFFFF"/>
          </a:solidFill>
          <a:ln cap="flat" cmpd="sng" w="22575">
            <a:solidFill>
              <a:srgbClr val="2D8C5E"/>
            </a:solidFill>
            <a:prstDash val="solid"/>
            <a:round/>
            <a:headEnd len="sm" w="sm" type="none"/>
            <a:tailEnd len="sm" w="sm" type="none"/>
          </a:ln>
        </p:spPr>
        <p:txBody>
          <a:bodyPr anchorCtr="0" anchor="ctr" bIns="148000" lIns="148000" spcFirstLastPara="1" rIns="148000" wrap="square" tIns="148000">
            <a:noAutofit/>
          </a:bodyPr>
          <a:lstStyle/>
          <a:p>
            <a:pPr indent="0" lvl="0" marL="0" marR="0" rtl="0" algn="l">
              <a:lnSpc>
                <a:spcPct val="100000"/>
              </a:lnSpc>
              <a:spcBef>
                <a:spcPts val="0"/>
              </a:spcBef>
              <a:spcAft>
                <a:spcPts val="0"/>
              </a:spcAft>
              <a:buClr>
                <a:srgbClr val="000000"/>
              </a:buClr>
              <a:buSzPts val="3076"/>
              <a:buFont typeface="Arial"/>
              <a:buNone/>
            </a:pPr>
            <a:r>
              <a:t/>
            </a:r>
            <a:endParaRPr b="0" i="0" sz="3076" u="none" cap="none" strike="noStrike">
              <a:solidFill>
                <a:srgbClr val="000000"/>
              </a:solidFill>
              <a:latin typeface="Arial"/>
              <a:ea typeface="Arial"/>
              <a:cs typeface="Arial"/>
              <a:sym typeface="Arial"/>
            </a:endParaRPr>
          </a:p>
        </p:txBody>
      </p:sp>
      <p:sp>
        <p:nvSpPr>
          <p:cNvPr id="231" name="Google Shape;231;p4"/>
          <p:cNvSpPr/>
          <p:nvPr/>
        </p:nvSpPr>
        <p:spPr>
          <a:xfrm>
            <a:off x="4935390" y="4291946"/>
            <a:ext cx="1814700" cy="266700"/>
          </a:xfrm>
          <a:prstGeom prst="rect">
            <a:avLst/>
          </a:prstGeom>
          <a:noFill/>
          <a:ln>
            <a:noFill/>
          </a:ln>
        </p:spPr>
        <p:txBody>
          <a:bodyPr anchorCtr="0" anchor="ctr" bIns="800" lIns="800" spcFirstLastPara="1" rIns="800" wrap="square" tIns="800">
            <a:normAutofit/>
          </a:bodyPr>
          <a:lstStyle/>
          <a:p>
            <a:pPr indent="0" lvl="0" marL="0" marR="0" rtl="0" algn="ctr">
              <a:lnSpc>
                <a:spcPct val="95000"/>
              </a:lnSpc>
              <a:spcBef>
                <a:spcPts val="0"/>
              </a:spcBef>
              <a:spcAft>
                <a:spcPts val="0"/>
              </a:spcAft>
              <a:buClr>
                <a:srgbClr val="2D8C5E"/>
              </a:buClr>
              <a:buSzPts val="1425"/>
              <a:buFont typeface="Malgun Gothic"/>
              <a:buNone/>
            </a:pPr>
            <a:r>
              <a:rPr b="1" i="0" lang="en-US" sz="2234" u="none" cap="none" strike="noStrike">
                <a:solidFill>
                  <a:srgbClr val="2D8C5E"/>
                </a:solidFill>
                <a:latin typeface="Malgun Gothic"/>
                <a:ea typeface="Malgun Gothic"/>
                <a:cs typeface="Malgun Gothic"/>
                <a:sym typeface="Malgun Gothic"/>
              </a:rPr>
              <a:t>BGE-M3</a:t>
            </a:r>
            <a:endParaRPr b="0" i="0" sz="2234" u="none" cap="none" strike="noStrike">
              <a:solidFill>
                <a:schemeClr val="dk1"/>
              </a:solidFill>
              <a:latin typeface="Malgun Gothic"/>
              <a:ea typeface="Malgun Gothic"/>
              <a:cs typeface="Malgun Gothic"/>
              <a:sym typeface="Malgun Gothic"/>
            </a:endParaRPr>
          </a:p>
        </p:txBody>
      </p:sp>
      <p:sp>
        <p:nvSpPr>
          <p:cNvPr id="232" name="Google Shape;232;p4"/>
          <p:cNvSpPr/>
          <p:nvPr/>
        </p:nvSpPr>
        <p:spPr>
          <a:xfrm>
            <a:off x="4950193" y="4694459"/>
            <a:ext cx="1785000" cy="266700"/>
          </a:xfrm>
          <a:prstGeom prst="rect">
            <a:avLst/>
          </a:prstGeom>
          <a:noFill/>
          <a:ln>
            <a:noFill/>
          </a:ln>
        </p:spPr>
        <p:txBody>
          <a:bodyPr anchorCtr="0" anchor="ctr" bIns="800" lIns="800" spcFirstLastPara="1" rIns="800" wrap="square" tIns="800">
            <a:normAutofit/>
          </a:bodyPr>
          <a:lstStyle/>
          <a:p>
            <a:pPr indent="0" lvl="0" marL="0" marR="0" rtl="0" algn="ctr">
              <a:lnSpc>
                <a:spcPct val="95000"/>
              </a:lnSpc>
              <a:spcBef>
                <a:spcPts val="0"/>
              </a:spcBef>
              <a:spcAft>
                <a:spcPts val="0"/>
              </a:spcAft>
              <a:buClr>
                <a:srgbClr val="6F7E76"/>
              </a:buClr>
              <a:buSzPts val="1052"/>
              <a:buFont typeface="Malgun Gothic"/>
              <a:buNone/>
            </a:pPr>
            <a:r>
              <a:rPr b="0" i="0" lang="en-US" sz="1562" u="none" cap="none" strike="noStrike">
                <a:solidFill>
                  <a:srgbClr val="6F7E76"/>
                </a:solidFill>
                <a:latin typeface="Arial"/>
                <a:ea typeface="Arial"/>
                <a:cs typeface="Arial"/>
                <a:sym typeface="Arial"/>
              </a:rPr>
              <a:t>표 후보 Top-k</a:t>
            </a:r>
            <a:endParaRPr b="0" i="0" sz="1562" u="none" cap="none" strike="noStrike">
              <a:solidFill>
                <a:schemeClr val="dk1"/>
              </a:solidFill>
              <a:latin typeface="Arial"/>
              <a:ea typeface="Arial"/>
              <a:cs typeface="Arial"/>
              <a:sym typeface="Arial"/>
            </a:endParaRPr>
          </a:p>
        </p:txBody>
      </p:sp>
      <p:sp>
        <p:nvSpPr>
          <p:cNvPr id="233" name="Google Shape;233;p4"/>
          <p:cNvSpPr/>
          <p:nvPr/>
        </p:nvSpPr>
        <p:spPr>
          <a:xfrm>
            <a:off x="6873905" y="4410369"/>
            <a:ext cx="266700" cy="370200"/>
          </a:xfrm>
          <a:prstGeom prst="chevron">
            <a:avLst>
              <a:gd fmla="val 50000" name="adj"/>
            </a:avLst>
          </a:prstGeom>
          <a:solidFill>
            <a:srgbClr val="D7E3DA"/>
          </a:solidFill>
          <a:ln cap="flat" cmpd="sng" w="20550">
            <a:solidFill>
              <a:srgbClr val="D7E3DA"/>
            </a:solidFill>
            <a:prstDash val="solid"/>
            <a:round/>
            <a:headEnd len="sm" w="sm" type="none"/>
            <a:tailEnd len="sm" w="sm" type="none"/>
          </a:ln>
        </p:spPr>
        <p:txBody>
          <a:bodyPr anchorCtr="0" anchor="ctr" bIns="148000" lIns="148000" spcFirstLastPara="1" rIns="148000" wrap="square" tIns="148000">
            <a:noAutofit/>
          </a:bodyPr>
          <a:lstStyle/>
          <a:p>
            <a:pPr indent="0" lvl="0" marL="0" marR="0" rtl="0" algn="l">
              <a:lnSpc>
                <a:spcPct val="100000"/>
              </a:lnSpc>
              <a:spcBef>
                <a:spcPts val="0"/>
              </a:spcBef>
              <a:spcAft>
                <a:spcPts val="0"/>
              </a:spcAft>
              <a:buClr>
                <a:srgbClr val="000000"/>
              </a:buClr>
              <a:buSzPts val="3076"/>
              <a:buFont typeface="Arial"/>
              <a:buNone/>
            </a:pPr>
            <a:r>
              <a:t/>
            </a:r>
            <a:endParaRPr b="0" i="0" sz="3076" u="none" cap="none" strike="noStrike">
              <a:solidFill>
                <a:srgbClr val="000000"/>
              </a:solidFill>
              <a:latin typeface="Arial"/>
              <a:ea typeface="Arial"/>
              <a:cs typeface="Arial"/>
              <a:sym typeface="Arial"/>
            </a:endParaRPr>
          </a:p>
        </p:txBody>
      </p:sp>
      <p:sp>
        <p:nvSpPr>
          <p:cNvPr id="234" name="Google Shape;234;p4"/>
          <p:cNvSpPr/>
          <p:nvPr/>
        </p:nvSpPr>
        <p:spPr>
          <a:xfrm>
            <a:off x="9265018" y="4410369"/>
            <a:ext cx="266700" cy="370200"/>
          </a:xfrm>
          <a:prstGeom prst="chevron">
            <a:avLst>
              <a:gd fmla="val 50000" name="adj"/>
            </a:avLst>
          </a:prstGeom>
          <a:solidFill>
            <a:srgbClr val="D7E3DA"/>
          </a:solidFill>
          <a:ln cap="flat" cmpd="sng" w="20550">
            <a:solidFill>
              <a:srgbClr val="D7E3DA"/>
            </a:solidFill>
            <a:prstDash val="solid"/>
            <a:round/>
            <a:headEnd len="sm" w="sm" type="none"/>
            <a:tailEnd len="sm" w="sm" type="none"/>
          </a:ln>
        </p:spPr>
        <p:txBody>
          <a:bodyPr anchorCtr="0" anchor="ctr" bIns="148000" lIns="148000" spcFirstLastPara="1" rIns="148000" wrap="square" tIns="148000">
            <a:noAutofit/>
          </a:bodyPr>
          <a:lstStyle/>
          <a:p>
            <a:pPr indent="0" lvl="0" marL="0" marR="0" rtl="0" algn="l">
              <a:lnSpc>
                <a:spcPct val="100000"/>
              </a:lnSpc>
              <a:spcBef>
                <a:spcPts val="0"/>
              </a:spcBef>
              <a:spcAft>
                <a:spcPts val="0"/>
              </a:spcAft>
              <a:buClr>
                <a:srgbClr val="000000"/>
              </a:buClr>
              <a:buSzPts val="3076"/>
              <a:buFont typeface="Arial"/>
              <a:buNone/>
            </a:pPr>
            <a:r>
              <a:t/>
            </a:r>
            <a:endParaRPr b="0" i="0" sz="3076" u="none" cap="none" strike="noStrike">
              <a:solidFill>
                <a:srgbClr val="000000"/>
              </a:solidFill>
              <a:latin typeface="Arial"/>
              <a:ea typeface="Arial"/>
              <a:cs typeface="Arial"/>
              <a:sym typeface="Arial"/>
            </a:endParaRPr>
          </a:p>
        </p:txBody>
      </p:sp>
      <p:sp>
        <p:nvSpPr>
          <p:cNvPr id="235" name="Google Shape;235;p4"/>
          <p:cNvSpPr/>
          <p:nvPr/>
        </p:nvSpPr>
        <p:spPr>
          <a:xfrm>
            <a:off x="9640763" y="4040298"/>
            <a:ext cx="1932900" cy="1213500"/>
          </a:xfrm>
          <a:prstGeom prst="roundRect">
            <a:avLst>
              <a:gd fmla="val 17073" name="adj"/>
            </a:avLst>
          </a:prstGeom>
          <a:solidFill>
            <a:srgbClr val="FFFFFF"/>
          </a:solidFill>
          <a:ln cap="flat" cmpd="sng" w="22575">
            <a:solidFill>
              <a:srgbClr val="1F7A4F"/>
            </a:solidFill>
            <a:prstDash val="solid"/>
            <a:round/>
            <a:headEnd len="sm" w="sm" type="none"/>
            <a:tailEnd len="sm" w="sm" type="none"/>
          </a:ln>
        </p:spPr>
        <p:txBody>
          <a:bodyPr anchorCtr="0" anchor="ctr" bIns="148000" lIns="148000" spcFirstLastPara="1" rIns="148000" wrap="square" tIns="148000">
            <a:noAutofit/>
          </a:bodyPr>
          <a:lstStyle/>
          <a:p>
            <a:pPr indent="0" lvl="0" marL="0" marR="0" rtl="0" algn="l">
              <a:lnSpc>
                <a:spcPct val="100000"/>
              </a:lnSpc>
              <a:spcBef>
                <a:spcPts val="0"/>
              </a:spcBef>
              <a:spcAft>
                <a:spcPts val="0"/>
              </a:spcAft>
              <a:buClr>
                <a:srgbClr val="000000"/>
              </a:buClr>
              <a:buSzPts val="3076"/>
              <a:buFont typeface="Arial"/>
              <a:buNone/>
            </a:pPr>
            <a:r>
              <a:t/>
            </a:r>
            <a:endParaRPr b="0" i="0" sz="3076" u="none" cap="none" strike="noStrike">
              <a:solidFill>
                <a:srgbClr val="000000"/>
              </a:solidFill>
              <a:latin typeface="Arial"/>
              <a:ea typeface="Arial"/>
              <a:cs typeface="Arial"/>
              <a:sym typeface="Arial"/>
            </a:endParaRPr>
          </a:p>
        </p:txBody>
      </p:sp>
      <p:sp>
        <p:nvSpPr>
          <p:cNvPr id="236" name="Google Shape;236;p4"/>
          <p:cNvSpPr/>
          <p:nvPr/>
        </p:nvSpPr>
        <p:spPr>
          <a:xfrm>
            <a:off x="9699975" y="4291946"/>
            <a:ext cx="1814700" cy="266700"/>
          </a:xfrm>
          <a:prstGeom prst="rect">
            <a:avLst/>
          </a:prstGeom>
          <a:noFill/>
          <a:ln>
            <a:noFill/>
          </a:ln>
        </p:spPr>
        <p:txBody>
          <a:bodyPr anchorCtr="0" anchor="ctr" bIns="800" lIns="800" spcFirstLastPara="1" rIns="800" wrap="square" tIns="800">
            <a:normAutofit/>
          </a:bodyPr>
          <a:lstStyle/>
          <a:p>
            <a:pPr indent="0" lvl="0" marL="0" marR="0" rtl="0" algn="ctr">
              <a:lnSpc>
                <a:spcPct val="95000"/>
              </a:lnSpc>
              <a:spcBef>
                <a:spcPts val="0"/>
              </a:spcBef>
              <a:spcAft>
                <a:spcPts val="0"/>
              </a:spcAft>
              <a:buClr>
                <a:srgbClr val="1F7A4F"/>
              </a:buClr>
              <a:buSzPts val="1425"/>
              <a:buFont typeface="Malgun Gothic"/>
              <a:buNone/>
            </a:pPr>
            <a:r>
              <a:rPr b="1" i="0" lang="en-US" sz="2234" u="none" cap="none" strike="noStrike">
                <a:solidFill>
                  <a:srgbClr val="1F7A4F"/>
                </a:solidFill>
                <a:latin typeface="Malgun Gothic"/>
                <a:ea typeface="Malgun Gothic"/>
                <a:cs typeface="Malgun Gothic"/>
                <a:sym typeface="Malgun Gothic"/>
              </a:rPr>
              <a:t>공식값 대조</a:t>
            </a:r>
            <a:endParaRPr b="0" i="0" sz="2234" u="none" cap="none" strike="noStrike">
              <a:solidFill>
                <a:schemeClr val="dk1"/>
              </a:solidFill>
              <a:latin typeface="Malgun Gothic"/>
              <a:ea typeface="Malgun Gothic"/>
              <a:cs typeface="Malgun Gothic"/>
              <a:sym typeface="Malgun Gothic"/>
            </a:endParaRPr>
          </a:p>
        </p:txBody>
      </p:sp>
      <p:sp>
        <p:nvSpPr>
          <p:cNvPr id="237" name="Google Shape;237;p4"/>
          <p:cNvSpPr/>
          <p:nvPr/>
        </p:nvSpPr>
        <p:spPr>
          <a:xfrm>
            <a:off x="9714778" y="4760474"/>
            <a:ext cx="1785000" cy="266700"/>
          </a:xfrm>
          <a:prstGeom prst="rect">
            <a:avLst/>
          </a:prstGeom>
          <a:noFill/>
          <a:ln>
            <a:noFill/>
          </a:ln>
        </p:spPr>
        <p:txBody>
          <a:bodyPr anchorCtr="0" anchor="ctr" bIns="800" lIns="800" spcFirstLastPara="1" rIns="800" wrap="square" tIns="800">
            <a:normAutofit/>
          </a:bodyPr>
          <a:lstStyle/>
          <a:p>
            <a:pPr indent="0" lvl="0" marL="0" marR="0" rtl="0" algn="ctr">
              <a:lnSpc>
                <a:spcPct val="95000"/>
              </a:lnSpc>
              <a:spcBef>
                <a:spcPts val="0"/>
              </a:spcBef>
              <a:spcAft>
                <a:spcPts val="0"/>
              </a:spcAft>
              <a:buClr>
                <a:srgbClr val="6F7E76"/>
              </a:buClr>
              <a:buSzPts val="1052"/>
              <a:buFont typeface="Malgun Gothic"/>
              <a:buNone/>
            </a:pPr>
            <a:r>
              <a:rPr b="0" i="0" lang="en-US" sz="1562" u="none" cap="none" strike="noStrike">
                <a:solidFill>
                  <a:srgbClr val="6F7E76"/>
                </a:solidFill>
                <a:latin typeface="Arial"/>
                <a:ea typeface="Arial"/>
                <a:cs typeface="Arial"/>
                <a:sym typeface="Arial"/>
              </a:rPr>
              <a:t>MATCH</a:t>
            </a:r>
            <a:endParaRPr b="0" i="0" sz="1562" u="none" cap="none" strike="noStrike">
              <a:solidFill>
                <a:srgbClr val="6F7E76"/>
              </a:solidFill>
              <a:latin typeface="Arial"/>
              <a:ea typeface="Arial"/>
              <a:cs typeface="Arial"/>
              <a:sym typeface="Arial"/>
            </a:endParaRPr>
          </a:p>
          <a:p>
            <a:pPr indent="0" lvl="0" marL="0" marR="0" rtl="0" algn="ctr">
              <a:lnSpc>
                <a:spcPct val="95000"/>
              </a:lnSpc>
              <a:spcBef>
                <a:spcPts val="0"/>
              </a:spcBef>
              <a:spcAft>
                <a:spcPts val="0"/>
              </a:spcAft>
              <a:buClr>
                <a:srgbClr val="6F7E76"/>
              </a:buClr>
              <a:buSzPts val="1052"/>
              <a:buFont typeface="Malgun Gothic"/>
              <a:buNone/>
            </a:pPr>
            <a:r>
              <a:rPr b="0" i="0" lang="en-US" sz="1562" u="none" cap="none" strike="noStrike">
                <a:solidFill>
                  <a:srgbClr val="6F7E76"/>
                </a:solidFill>
                <a:latin typeface="Arial"/>
                <a:ea typeface="Arial"/>
                <a:cs typeface="Arial"/>
                <a:sym typeface="Arial"/>
              </a:rPr>
              <a:t>/UNRESOLVED</a:t>
            </a:r>
            <a:endParaRPr b="0" i="0" sz="1562" u="none" cap="none" strike="noStrike">
              <a:solidFill>
                <a:schemeClr val="dk1"/>
              </a:solidFill>
              <a:latin typeface="Arial"/>
              <a:ea typeface="Arial"/>
              <a:cs typeface="Arial"/>
              <a:sym typeface="Arial"/>
            </a:endParaRPr>
          </a:p>
        </p:txBody>
      </p:sp>
      <p:sp>
        <p:nvSpPr>
          <p:cNvPr id="238" name="Google Shape;238;p4"/>
          <p:cNvSpPr/>
          <p:nvPr/>
        </p:nvSpPr>
        <p:spPr>
          <a:xfrm>
            <a:off x="7219730" y="4036241"/>
            <a:ext cx="1932900" cy="1213500"/>
          </a:xfrm>
          <a:prstGeom prst="roundRect">
            <a:avLst>
              <a:gd fmla="val 17073" name="adj"/>
            </a:avLst>
          </a:prstGeom>
          <a:solidFill>
            <a:srgbClr val="FFFFFF"/>
          </a:solidFill>
          <a:ln cap="flat" cmpd="sng" w="22575">
            <a:solidFill>
              <a:srgbClr val="2D8C5E"/>
            </a:solidFill>
            <a:prstDash val="solid"/>
            <a:round/>
            <a:headEnd len="sm" w="sm" type="none"/>
            <a:tailEnd len="sm" w="sm" type="none"/>
          </a:ln>
        </p:spPr>
        <p:txBody>
          <a:bodyPr anchorCtr="0" anchor="ctr" bIns="148000" lIns="148000" spcFirstLastPara="1" rIns="148000" wrap="square" tIns="148000">
            <a:noAutofit/>
          </a:bodyPr>
          <a:lstStyle/>
          <a:p>
            <a:pPr indent="0" lvl="0" marL="0" marR="0" rtl="0" algn="l">
              <a:lnSpc>
                <a:spcPct val="100000"/>
              </a:lnSpc>
              <a:spcBef>
                <a:spcPts val="0"/>
              </a:spcBef>
              <a:spcAft>
                <a:spcPts val="0"/>
              </a:spcAft>
              <a:buClr>
                <a:srgbClr val="000000"/>
              </a:buClr>
              <a:buSzPts val="3076"/>
              <a:buFont typeface="Arial"/>
              <a:buNone/>
            </a:pPr>
            <a:r>
              <a:t/>
            </a:r>
            <a:endParaRPr b="0" i="0" sz="3076" u="none" cap="none" strike="noStrike">
              <a:solidFill>
                <a:srgbClr val="000000"/>
              </a:solidFill>
              <a:latin typeface="Arial"/>
              <a:ea typeface="Arial"/>
              <a:cs typeface="Arial"/>
              <a:sym typeface="Arial"/>
            </a:endParaRPr>
          </a:p>
        </p:txBody>
      </p:sp>
      <p:sp>
        <p:nvSpPr>
          <p:cNvPr id="239" name="Google Shape;239;p4"/>
          <p:cNvSpPr/>
          <p:nvPr/>
        </p:nvSpPr>
        <p:spPr>
          <a:xfrm>
            <a:off x="7278942" y="4287890"/>
            <a:ext cx="1814700" cy="266700"/>
          </a:xfrm>
          <a:prstGeom prst="rect">
            <a:avLst/>
          </a:prstGeom>
          <a:noFill/>
          <a:ln>
            <a:noFill/>
          </a:ln>
        </p:spPr>
        <p:txBody>
          <a:bodyPr anchorCtr="0" anchor="ctr" bIns="800" lIns="800" spcFirstLastPara="1" rIns="800" wrap="square" tIns="800">
            <a:noAutofit/>
          </a:bodyPr>
          <a:lstStyle/>
          <a:p>
            <a:pPr indent="0" lvl="0" marL="0" marR="0" rtl="0" algn="ctr">
              <a:lnSpc>
                <a:spcPct val="95000"/>
              </a:lnSpc>
              <a:spcBef>
                <a:spcPts val="0"/>
              </a:spcBef>
              <a:spcAft>
                <a:spcPts val="0"/>
              </a:spcAft>
              <a:buClr>
                <a:srgbClr val="2D8C5E"/>
              </a:buClr>
              <a:buSzPts val="1425"/>
              <a:buFont typeface="Malgun Gothic"/>
              <a:buNone/>
            </a:pPr>
            <a:r>
              <a:rPr b="1" i="0" lang="en-US" sz="2234" u="none" cap="none" strike="noStrike">
                <a:solidFill>
                  <a:srgbClr val="2D8C5E"/>
                </a:solidFill>
                <a:latin typeface="Malgun Gothic"/>
                <a:ea typeface="Malgun Gothic"/>
                <a:cs typeface="Malgun Gothic"/>
                <a:sym typeface="Malgun Gothic"/>
              </a:rPr>
              <a:t>PostgreSQL</a:t>
            </a:r>
            <a:endParaRPr b="0" i="0" sz="2234" u="none" cap="none" strike="noStrike">
              <a:solidFill>
                <a:schemeClr val="dk1"/>
              </a:solidFill>
              <a:latin typeface="Malgun Gothic"/>
              <a:ea typeface="Malgun Gothic"/>
              <a:cs typeface="Malgun Gothic"/>
              <a:sym typeface="Malgun Gothic"/>
            </a:endParaRPr>
          </a:p>
        </p:txBody>
      </p:sp>
      <p:sp>
        <p:nvSpPr>
          <p:cNvPr id="240" name="Google Shape;240;p4"/>
          <p:cNvSpPr/>
          <p:nvPr/>
        </p:nvSpPr>
        <p:spPr>
          <a:xfrm>
            <a:off x="7293745" y="4690403"/>
            <a:ext cx="1785000" cy="266700"/>
          </a:xfrm>
          <a:prstGeom prst="rect">
            <a:avLst/>
          </a:prstGeom>
          <a:noFill/>
          <a:ln>
            <a:noFill/>
          </a:ln>
        </p:spPr>
        <p:txBody>
          <a:bodyPr anchorCtr="0" anchor="ctr" bIns="800" lIns="800" spcFirstLastPara="1" rIns="800" wrap="square" tIns="800">
            <a:noAutofit/>
          </a:bodyPr>
          <a:lstStyle/>
          <a:p>
            <a:pPr indent="0" lvl="0" marL="0" marR="0" rtl="0" algn="ctr">
              <a:lnSpc>
                <a:spcPct val="95000"/>
              </a:lnSpc>
              <a:spcBef>
                <a:spcPts val="0"/>
              </a:spcBef>
              <a:spcAft>
                <a:spcPts val="0"/>
              </a:spcAft>
              <a:buClr>
                <a:srgbClr val="6F7E76"/>
              </a:buClr>
              <a:buSzPts val="1052"/>
              <a:buFont typeface="Malgun Gothic"/>
              <a:buNone/>
            </a:pPr>
            <a:r>
              <a:rPr b="0" i="0" lang="en-US" sz="1562" u="none" cap="none" strike="noStrike">
                <a:solidFill>
                  <a:srgbClr val="6F7E76"/>
                </a:solidFill>
                <a:latin typeface="Arial"/>
                <a:ea typeface="Arial"/>
                <a:cs typeface="Arial"/>
                <a:sym typeface="Arial"/>
              </a:rPr>
              <a:t>좌표 승인</a:t>
            </a:r>
            <a:endParaRPr b="0" i="0" sz="1562" u="none" cap="none" strike="noStrike">
              <a:solidFill>
                <a:schemeClr val="dk1"/>
              </a:solidFill>
              <a:latin typeface="Arial"/>
              <a:ea typeface="Arial"/>
              <a:cs typeface="Arial"/>
              <a:sym typeface="Arial"/>
            </a:endParaRPr>
          </a:p>
        </p:txBody>
      </p:sp>
      <p:sp>
        <p:nvSpPr>
          <p:cNvPr id="241" name="Google Shape;241;p4"/>
          <p:cNvSpPr/>
          <p:nvPr/>
        </p:nvSpPr>
        <p:spPr>
          <a:xfrm>
            <a:off x="-1411300" y="2239775"/>
            <a:ext cx="19800" cy="18513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4"/>
          <p:cNvSpPr/>
          <p:nvPr/>
        </p:nvSpPr>
        <p:spPr>
          <a:xfrm>
            <a:off x="-1441819" y="22397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
          <p:cNvSpPr/>
          <p:nvPr/>
        </p:nvSpPr>
        <p:spPr>
          <a:xfrm>
            <a:off x="-1211275" y="15539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244" name="Google Shape;244;p4"/>
          <p:cNvSpPr/>
          <p:nvPr/>
        </p:nvSpPr>
        <p:spPr>
          <a:xfrm>
            <a:off x="-1211275" y="2163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프로젝트 계획</a:t>
            </a:r>
            <a:endParaRPr b="1" i="0" sz="850" u="none" cap="none" strike="noStrike">
              <a:solidFill>
                <a:srgbClr val="11271D"/>
              </a:solidFill>
              <a:latin typeface="Arial"/>
              <a:ea typeface="Arial"/>
              <a:cs typeface="Arial"/>
              <a:sym typeface="Arial"/>
            </a:endParaRPr>
          </a:p>
        </p:txBody>
      </p:sp>
      <p:sp>
        <p:nvSpPr>
          <p:cNvPr id="245" name="Google Shape;245;p4"/>
          <p:cNvSpPr/>
          <p:nvPr/>
        </p:nvSpPr>
        <p:spPr>
          <a:xfrm>
            <a:off x="-1211275" y="27731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246" name="Google Shape;246;p4"/>
          <p:cNvSpPr/>
          <p:nvPr/>
        </p:nvSpPr>
        <p:spPr>
          <a:xfrm>
            <a:off x="-1211275" y="33827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247" name="Google Shape;247;p4"/>
          <p:cNvSpPr/>
          <p:nvPr/>
        </p:nvSpPr>
        <p:spPr>
          <a:xfrm>
            <a:off x="-1211275" y="3984314"/>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248" name="Google Shape;248;p4"/>
          <p:cNvGrpSpPr/>
          <p:nvPr/>
        </p:nvGrpSpPr>
        <p:grpSpPr>
          <a:xfrm>
            <a:off x="-1506692" y="2173036"/>
            <a:ext cx="209400" cy="209700"/>
            <a:chOff x="-3275292" y="2173036"/>
            <a:chExt cx="209400" cy="209700"/>
          </a:xfrm>
        </p:grpSpPr>
        <p:sp>
          <p:nvSpPr>
            <p:cNvPr id="249" name="Google Shape;249;p4"/>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1" name="Google Shape;251;p4"/>
          <p:cNvSpPr/>
          <p:nvPr/>
        </p:nvSpPr>
        <p:spPr>
          <a:xfrm>
            <a:off x="-1440094" y="28493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
          <p:cNvSpPr/>
          <p:nvPr/>
        </p:nvSpPr>
        <p:spPr>
          <a:xfrm>
            <a:off x="-1440094" y="34589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
          <p:cNvSpPr/>
          <p:nvPr/>
        </p:nvSpPr>
        <p:spPr>
          <a:xfrm>
            <a:off x="-1440094" y="40685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
          <p:cNvSpPr/>
          <p:nvPr/>
        </p:nvSpPr>
        <p:spPr>
          <a:xfrm>
            <a:off x="-1438144" y="163555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5" name="Google Shape;255;p4"/>
          <p:cNvGrpSpPr/>
          <p:nvPr/>
        </p:nvGrpSpPr>
        <p:grpSpPr>
          <a:xfrm>
            <a:off x="345746" y="1820636"/>
            <a:ext cx="1171717" cy="2658928"/>
            <a:chOff x="-3079992" y="1835961"/>
            <a:chExt cx="1171717" cy="2658928"/>
          </a:xfrm>
        </p:grpSpPr>
        <p:sp>
          <p:nvSpPr>
            <p:cNvPr id="256" name="Google Shape;256;p4"/>
            <p:cNvSpPr/>
            <p:nvPr/>
          </p:nvSpPr>
          <p:spPr>
            <a:xfrm>
              <a:off x="-2985497" y="1950259"/>
              <a:ext cx="19800" cy="6228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
            <p:cNvSpPr/>
            <p:nvPr/>
          </p:nvSpPr>
          <p:spPr>
            <a:xfrm>
              <a:off x="-2984600" y="2521750"/>
              <a:ext cx="19800" cy="18513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
            <p:cNvSpPr/>
            <p:nvPr/>
          </p:nvSpPr>
          <p:spPr>
            <a:xfrm>
              <a:off x="-3015119" y="252176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
            <p:cNvSpPr/>
            <p:nvPr/>
          </p:nvSpPr>
          <p:spPr>
            <a:xfrm>
              <a:off x="-2784575" y="18359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260" name="Google Shape;260;p4"/>
            <p:cNvSpPr/>
            <p:nvPr/>
          </p:nvSpPr>
          <p:spPr>
            <a:xfrm>
              <a:off x="-2784575" y="24455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프로젝트 계획</a:t>
              </a:r>
              <a:endParaRPr b="1" i="0" sz="850" u="none" cap="none" strike="noStrike">
                <a:solidFill>
                  <a:srgbClr val="11271D"/>
                </a:solidFill>
                <a:latin typeface="Arial"/>
                <a:ea typeface="Arial"/>
                <a:cs typeface="Arial"/>
                <a:sym typeface="Arial"/>
              </a:endParaRPr>
            </a:p>
          </p:txBody>
        </p:sp>
        <p:sp>
          <p:nvSpPr>
            <p:cNvPr id="261" name="Google Shape;261;p4"/>
            <p:cNvSpPr/>
            <p:nvPr/>
          </p:nvSpPr>
          <p:spPr>
            <a:xfrm>
              <a:off x="-2784575" y="30551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262" name="Google Shape;262;p4"/>
            <p:cNvSpPr/>
            <p:nvPr/>
          </p:nvSpPr>
          <p:spPr>
            <a:xfrm>
              <a:off x="-2784575" y="36647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263" name="Google Shape;263;p4"/>
            <p:cNvSpPr/>
            <p:nvPr/>
          </p:nvSpPr>
          <p:spPr>
            <a:xfrm>
              <a:off x="-2784575" y="4266289"/>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264" name="Google Shape;264;p4"/>
            <p:cNvGrpSpPr/>
            <p:nvPr/>
          </p:nvGrpSpPr>
          <p:grpSpPr>
            <a:xfrm>
              <a:off x="-3079992" y="2455011"/>
              <a:ext cx="209400" cy="209700"/>
              <a:chOff x="-3275292" y="2173036"/>
              <a:chExt cx="209400" cy="209700"/>
            </a:xfrm>
          </p:grpSpPr>
          <p:sp>
            <p:nvSpPr>
              <p:cNvPr id="265" name="Google Shape;265;p4"/>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7" name="Google Shape;267;p4"/>
            <p:cNvSpPr/>
            <p:nvPr/>
          </p:nvSpPr>
          <p:spPr>
            <a:xfrm>
              <a:off x="-3013394" y="31313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
            <p:cNvSpPr/>
            <p:nvPr/>
          </p:nvSpPr>
          <p:spPr>
            <a:xfrm>
              <a:off x="-3013394" y="37409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
            <p:cNvSpPr/>
            <p:nvPr/>
          </p:nvSpPr>
          <p:spPr>
            <a:xfrm>
              <a:off x="-3013394" y="43505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
            <p:cNvSpPr/>
            <p:nvPr/>
          </p:nvSpPr>
          <p:spPr>
            <a:xfrm>
              <a:off x="-3011444" y="191752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1" name="Google Shape;271;p4"/>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02.·프로젝트 계획</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278" name="Shape 278"/>
        <p:cNvGrpSpPr/>
        <p:nvPr/>
      </p:nvGrpSpPr>
      <p:grpSpPr>
        <a:xfrm>
          <a:off x="0" y="0"/>
          <a:ext cx="0" cy="0"/>
          <a:chOff x="0" y="0"/>
          <a:chExt cx="0" cy="0"/>
        </a:xfrm>
      </p:grpSpPr>
      <p:sp>
        <p:nvSpPr>
          <p:cNvPr id="279" name="Google Shape;279;g3fae3b6faca_1_0"/>
          <p:cNvSpPr/>
          <p:nvPr/>
        </p:nvSpPr>
        <p:spPr>
          <a:xfrm>
            <a:off x="-4" y="108720"/>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fae3b6faca_1_0"/>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3fae3b6faca_1_0"/>
          <p:cNvSpPr/>
          <p:nvPr/>
        </p:nvSpPr>
        <p:spPr>
          <a:xfrm>
            <a:off x="2095444" y="295275"/>
            <a:ext cx="1952573" cy="295275"/>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3fae3b6faca_1_0"/>
          <p:cNvSpPr/>
          <p:nvPr/>
        </p:nvSpPr>
        <p:spPr>
          <a:xfrm>
            <a:off x="2209741" y="304800"/>
            <a:ext cx="1723979"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04 · 전체 구조</a:t>
            </a:r>
            <a:endParaRPr b="0" i="0" sz="1400" u="none" cap="none" strike="noStrike">
              <a:solidFill>
                <a:srgbClr val="000000"/>
              </a:solidFill>
              <a:latin typeface="Arial"/>
              <a:ea typeface="Arial"/>
              <a:cs typeface="Arial"/>
              <a:sym typeface="Arial"/>
            </a:endParaRPr>
          </a:p>
        </p:txBody>
      </p:sp>
      <p:sp>
        <p:nvSpPr>
          <p:cNvPr id="283" name="Google Shape;283;g3fae3b6faca_1_0"/>
          <p:cNvSpPr/>
          <p:nvPr/>
        </p:nvSpPr>
        <p:spPr>
          <a:xfrm>
            <a:off x="2095444" y="714375"/>
            <a:ext cx="9524746" cy="523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10271D"/>
                </a:solidFill>
                <a:latin typeface="Calibri"/>
                <a:ea typeface="Calibri"/>
                <a:cs typeface="Calibri"/>
                <a:sym typeface="Calibri"/>
              </a:rPr>
              <a:t>URL 입력부터 공식 근거까지 하나의 E2E 파이프라인</a:t>
            </a:r>
            <a:endParaRPr b="0" i="0" sz="1400" u="none" cap="none" strike="noStrike">
              <a:solidFill>
                <a:srgbClr val="000000"/>
              </a:solidFill>
              <a:latin typeface="Arial"/>
              <a:ea typeface="Arial"/>
              <a:cs typeface="Arial"/>
              <a:sym typeface="Arial"/>
            </a:endParaRPr>
          </a:p>
        </p:txBody>
      </p:sp>
      <p:sp>
        <p:nvSpPr>
          <p:cNvPr id="284" name="Google Shape;284;g3fae3b6faca_1_0"/>
          <p:cNvSpPr/>
          <p:nvPr/>
        </p:nvSpPr>
        <p:spPr>
          <a:xfrm>
            <a:off x="2114494" y="1228725"/>
            <a:ext cx="9429499" cy="323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97B71"/>
                </a:solidFill>
                <a:latin typeface="Calibri"/>
                <a:ea typeface="Calibri"/>
                <a:cs typeface="Calibri"/>
                <a:sym typeface="Calibri"/>
              </a:rPr>
              <a:t>왼쪽부터 기사 처리 → 후보 탐색 → 좌표·공식값 검증 순서</a:t>
            </a:r>
            <a:endParaRPr b="0" i="0" sz="1400" u="none" cap="none" strike="noStrike">
              <a:solidFill>
                <a:srgbClr val="000000"/>
              </a:solidFill>
              <a:latin typeface="Arial"/>
              <a:ea typeface="Arial"/>
              <a:cs typeface="Arial"/>
              <a:sym typeface="Arial"/>
            </a:endParaRPr>
          </a:p>
        </p:txBody>
      </p:sp>
      <p:sp>
        <p:nvSpPr>
          <p:cNvPr id="285" name="Google Shape;285;g3fae3b6faca_1_0"/>
          <p:cNvSpPr/>
          <p:nvPr/>
        </p:nvSpPr>
        <p:spPr>
          <a:xfrm>
            <a:off x="2095444" y="6543675"/>
            <a:ext cx="2666929"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97B71"/>
                </a:solidFill>
                <a:latin typeface="Calibri"/>
                <a:ea typeface="Calibri"/>
                <a:cs typeface="Calibri"/>
                <a:sym typeface="Calibri"/>
              </a:rPr>
              <a:t>KOSIS 뉴스 수치 주장 검증 PoC</a:t>
            </a:r>
            <a:endParaRPr b="0" i="0" sz="1400" u="none" cap="none" strike="noStrike">
              <a:solidFill>
                <a:srgbClr val="000000"/>
              </a:solidFill>
              <a:latin typeface="Arial"/>
              <a:ea typeface="Arial"/>
              <a:cs typeface="Arial"/>
              <a:sym typeface="Arial"/>
            </a:endParaRPr>
          </a:p>
        </p:txBody>
      </p:sp>
      <p:sp>
        <p:nvSpPr>
          <p:cNvPr id="286" name="Google Shape;286;g3fae3b6faca_1_0"/>
          <p:cNvSpPr/>
          <p:nvPr/>
        </p:nvSpPr>
        <p:spPr>
          <a:xfrm>
            <a:off x="3381289" y="2362200"/>
            <a:ext cx="238200" cy="285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g3fae3b6faca_1_0"/>
          <p:cNvSpPr/>
          <p:nvPr/>
        </p:nvSpPr>
        <p:spPr>
          <a:xfrm>
            <a:off x="3409863" y="2219325"/>
            <a:ext cx="1905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88" name="Google Shape;288;g3fae3b6faca_1_0"/>
          <p:cNvSpPr/>
          <p:nvPr/>
        </p:nvSpPr>
        <p:spPr>
          <a:xfrm>
            <a:off x="4743327" y="2362200"/>
            <a:ext cx="238200" cy="285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g3fae3b6faca_1_0"/>
          <p:cNvSpPr/>
          <p:nvPr/>
        </p:nvSpPr>
        <p:spPr>
          <a:xfrm>
            <a:off x="4771902" y="2219325"/>
            <a:ext cx="1905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90" name="Google Shape;290;g3fae3b6faca_1_0"/>
          <p:cNvSpPr/>
          <p:nvPr/>
        </p:nvSpPr>
        <p:spPr>
          <a:xfrm>
            <a:off x="6105366" y="2362200"/>
            <a:ext cx="238200" cy="285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3fae3b6faca_1_0"/>
          <p:cNvSpPr/>
          <p:nvPr/>
        </p:nvSpPr>
        <p:spPr>
          <a:xfrm>
            <a:off x="6133940" y="2219325"/>
            <a:ext cx="1905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92" name="Google Shape;292;g3fae3b6faca_1_0"/>
          <p:cNvSpPr/>
          <p:nvPr/>
        </p:nvSpPr>
        <p:spPr>
          <a:xfrm>
            <a:off x="7467405" y="2362200"/>
            <a:ext cx="238200" cy="285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fae3b6faca_1_0"/>
          <p:cNvSpPr/>
          <p:nvPr/>
        </p:nvSpPr>
        <p:spPr>
          <a:xfrm>
            <a:off x="7495979" y="2219325"/>
            <a:ext cx="1905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94" name="Google Shape;294;g3fae3b6faca_1_0"/>
          <p:cNvSpPr/>
          <p:nvPr/>
        </p:nvSpPr>
        <p:spPr>
          <a:xfrm>
            <a:off x="8829443" y="2362200"/>
            <a:ext cx="238200" cy="285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fae3b6faca_1_0"/>
          <p:cNvSpPr/>
          <p:nvPr/>
        </p:nvSpPr>
        <p:spPr>
          <a:xfrm>
            <a:off x="8858018" y="2219325"/>
            <a:ext cx="1905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96" name="Google Shape;296;g3fae3b6faca_1_0"/>
          <p:cNvSpPr/>
          <p:nvPr/>
        </p:nvSpPr>
        <p:spPr>
          <a:xfrm>
            <a:off x="10191482" y="2362200"/>
            <a:ext cx="238200" cy="285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3fae3b6faca_1_0"/>
          <p:cNvSpPr/>
          <p:nvPr/>
        </p:nvSpPr>
        <p:spPr>
          <a:xfrm>
            <a:off x="10220056" y="2219325"/>
            <a:ext cx="190500" cy="266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98" name="Google Shape;298;g3fae3b6faca_1_0"/>
          <p:cNvSpPr/>
          <p:nvPr/>
        </p:nvSpPr>
        <p:spPr>
          <a:xfrm>
            <a:off x="2257369" y="1819275"/>
            <a:ext cx="11430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fae3b6faca_1_0"/>
          <p:cNvSpPr/>
          <p:nvPr/>
        </p:nvSpPr>
        <p:spPr>
          <a:xfrm>
            <a:off x="2352616" y="2028825"/>
            <a:ext cx="952500" cy="28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기사 입력 및 정제</a:t>
            </a:r>
            <a:endParaRPr b="0" i="0" sz="1400" u="none" cap="none" strike="noStrike">
              <a:solidFill>
                <a:srgbClr val="000000"/>
              </a:solidFill>
              <a:latin typeface="Arial"/>
              <a:ea typeface="Arial"/>
              <a:cs typeface="Arial"/>
              <a:sym typeface="Arial"/>
            </a:endParaRPr>
          </a:p>
        </p:txBody>
      </p:sp>
      <p:sp>
        <p:nvSpPr>
          <p:cNvPr id="300" name="Google Shape;300;g3fae3b6faca_1_0"/>
          <p:cNvSpPr/>
          <p:nvPr/>
        </p:nvSpPr>
        <p:spPr>
          <a:xfrm>
            <a:off x="2333566" y="2390775"/>
            <a:ext cx="952500" cy="58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697B71"/>
                </a:solidFill>
                <a:latin typeface="Calibri"/>
                <a:ea typeface="Calibri"/>
                <a:cs typeface="Calibri"/>
                <a:sym typeface="Calibri"/>
              </a:rPr>
              <a:t>URL </a:t>
            </a:r>
            <a:endParaRPr b="0" i="0" sz="1400" u="none" cap="none" strike="noStrike">
              <a:solidFill>
                <a:srgbClr val="000000"/>
              </a:solidFill>
              <a:latin typeface="Arial"/>
              <a:ea typeface="Arial"/>
              <a:cs typeface="Arial"/>
              <a:sym typeface="Arial"/>
            </a:endParaRPr>
          </a:p>
        </p:txBody>
      </p:sp>
      <p:sp>
        <p:nvSpPr>
          <p:cNvPr id="301" name="Google Shape;301;g3fae3b6faca_1_0"/>
          <p:cNvSpPr/>
          <p:nvPr/>
        </p:nvSpPr>
        <p:spPr>
          <a:xfrm>
            <a:off x="3619407" y="1819275"/>
            <a:ext cx="11430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3fae3b6faca_1_0"/>
          <p:cNvSpPr/>
          <p:nvPr/>
        </p:nvSpPr>
        <p:spPr>
          <a:xfrm>
            <a:off x="3714655" y="2028825"/>
            <a:ext cx="952500" cy="28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HCX 추출</a:t>
            </a:r>
            <a:endParaRPr b="0" i="0" sz="1400" u="none" cap="none" strike="noStrike">
              <a:solidFill>
                <a:srgbClr val="000000"/>
              </a:solidFill>
              <a:latin typeface="Arial"/>
              <a:ea typeface="Arial"/>
              <a:cs typeface="Arial"/>
              <a:sym typeface="Arial"/>
            </a:endParaRPr>
          </a:p>
        </p:txBody>
      </p:sp>
      <p:sp>
        <p:nvSpPr>
          <p:cNvPr id="303" name="Google Shape;303;g3fae3b6faca_1_0"/>
          <p:cNvSpPr/>
          <p:nvPr/>
        </p:nvSpPr>
        <p:spPr>
          <a:xfrm>
            <a:off x="3714655" y="2352675"/>
            <a:ext cx="952500" cy="58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697B71"/>
                </a:solidFill>
                <a:latin typeface="Calibri"/>
                <a:ea typeface="Calibri"/>
                <a:cs typeface="Calibri"/>
                <a:sym typeface="Calibri"/>
              </a:rPr>
              <a:t>claim · measurement</a:t>
            </a:r>
            <a:endParaRPr b="0" i="0" sz="1400" u="none" cap="none" strike="noStrike">
              <a:solidFill>
                <a:srgbClr val="000000"/>
              </a:solidFill>
              <a:latin typeface="Arial"/>
              <a:ea typeface="Arial"/>
              <a:cs typeface="Arial"/>
              <a:sym typeface="Arial"/>
            </a:endParaRPr>
          </a:p>
        </p:txBody>
      </p:sp>
      <p:sp>
        <p:nvSpPr>
          <p:cNvPr id="304" name="Google Shape;304;g3fae3b6faca_1_0"/>
          <p:cNvSpPr/>
          <p:nvPr/>
        </p:nvSpPr>
        <p:spPr>
          <a:xfrm>
            <a:off x="4981446" y="1819275"/>
            <a:ext cx="11430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3fae3b6faca_1_0"/>
          <p:cNvSpPr/>
          <p:nvPr/>
        </p:nvSpPr>
        <p:spPr>
          <a:xfrm>
            <a:off x="5076693" y="2028825"/>
            <a:ext cx="952500" cy="28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Ready Gate</a:t>
            </a:r>
            <a:endParaRPr b="0" i="0" sz="1400" u="none" cap="none" strike="noStrike">
              <a:solidFill>
                <a:srgbClr val="000000"/>
              </a:solidFill>
              <a:latin typeface="Arial"/>
              <a:ea typeface="Arial"/>
              <a:cs typeface="Arial"/>
              <a:sym typeface="Arial"/>
            </a:endParaRPr>
          </a:p>
        </p:txBody>
      </p:sp>
      <p:sp>
        <p:nvSpPr>
          <p:cNvPr id="306" name="Google Shape;306;g3fae3b6faca_1_0"/>
          <p:cNvSpPr/>
          <p:nvPr/>
        </p:nvSpPr>
        <p:spPr>
          <a:xfrm>
            <a:off x="5076693" y="2428875"/>
            <a:ext cx="952500" cy="58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697B71"/>
                </a:solidFill>
                <a:latin typeface="Calibri"/>
                <a:ea typeface="Calibri"/>
                <a:cs typeface="Calibri"/>
                <a:sym typeface="Calibri"/>
              </a:rPr>
              <a:t>검증 가능성 선별</a:t>
            </a:r>
            <a:endParaRPr b="0" i="0" sz="1400" u="none" cap="none" strike="noStrike">
              <a:solidFill>
                <a:srgbClr val="000000"/>
              </a:solidFill>
              <a:latin typeface="Arial"/>
              <a:ea typeface="Arial"/>
              <a:cs typeface="Arial"/>
              <a:sym typeface="Arial"/>
            </a:endParaRPr>
          </a:p>
        </p:txBody>
      </p:sp>
      <p:sp>
        <p:nvSpPr>
          <p:cNvPr id="307" name="Google Shape;307;g3fae3b6faca_1_0"/>
          <p:cNvSpPr/>
          <p:nvPr/>
        </p:nvSpPr>
        <p:spPr>
          <a:xfrm>
            <a:off x="6343485" y="1819275"/>
            <a:ext cx="11430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g3fae3b6faca_1_0"/>
          <p:cNvSpPr/>
          <p:nvPr/>
        </p:nvSpPr>
        <p:spPr>
          <a:xfrm>
            <a:off x="6438732" y="2028825"/>
            <a:ext cx="952500" cy="28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표 검색</a:t>
            </a:r>
            <a:endParaRPr b="0" i="0" sz="1400" u="none" cap="none" strike="noStrike">
              <a:solidFill>
                <a:srgbClr val="000000"/>
              </a:solidFill>
              <a:latin typeface="Arial"/>
              <a:ea typeface="Arial"/>
              <a:cs typeface="Arial"/>
              <a:sym typeface="Arial"/>
            </a:endParaRPr>
          </a:p>
        </p:txBody>
      </p:sp>
      <p:sp>
        <p:nvSpPr>
          <p:cNvPr id="309" name="Google Shape;309;g3fae3b6faca_1_0"/>
          <p:cNvSpPr/>
          <p:nvPr/>
        </p:nvSpPr>
        <p:spPr>
          <a:xfrm>
            <a:off x="6448257" y="2343150"/>
            <a:ext cx="952500" cy="58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697B71"/>
                </a:solidFill>
                <a:latin typeface="Calibri"/>
                <a:ea typeface="Calibri"/>
                <a:cs typeface="Calibri"/>
                <a:sym typeface="Calibri"/>
              </a:rPr>
              <a:t>lexical + BGE-M3</a:t>
            </a:r>
            <a:endParaRPr b="0" i="0" sz="1400" u="none" cap="none" strike="noStrike">
              <a:solidFill>
                <a:srgbClr val="000000"/>
              </a:solidFill>
              <a:latin typeface="Arial"/>
              <a:ea typeface="Arial"/>
              <a:cs typeface="Arial"/>
              <a:sym typeface="Arial"/>
            </a:endParaRPr>
          </a:p>
        </p:txBody>
      </p:sp>
      <p:sp>
        <p:nvSpPr>
          <p:cNvPr id="310" name="Google Shape;310;g3fae3b6faca_1_0"/>
          <p:cNvSpPr/>
          <p:nvPr/>
        </p:nvSpPr>
        <p:spPr>
          <a:xfrm>
            <a:off x="7705523" y="1819275"/>
            <a:ext cx="11430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g3fae3b6faca_1_0"/>
          <p:cNvSpPr/>
          <p:nvPr/>
        </p:nvSpPr>
        <p:spPr>
          <a:xfrm>
            <a:off x="7800771" y="2028825"/>
            <a:ext cx="952500" cy="28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좌표 생성</a:t>
            </a:r>
            <a:endParaRPr b="0" i="0" sz="1400" u="none" cap="none" strike="noStrike">
              <a:solidFill>
                <a:srgbClr val="000000"/>
              </a:solidFill>
              <a:latin typeface="Arial"/>
              <a:ea typeface="Arial"/>
              <a:cs typeface="Arial"/>
              <a:sym typeface="Arial"/>
            </a:endParaRPr>
          </a:p>
        </p:txBody>
      </p:sp>
      <p:sp>
        <p:nvSpPr>
          <p:cNvPr id="312" name="Google Shape;312;g3fae3b6faca_1_0"/>
          <p:cNvSpPr/>
          <p:nvPr/>
        </p:nvSpPr>
        <p:spPr>
          <a:xfrm>
            <a:off x="7800771" y="2381250"/>
            <a:ext cx="952500" cy="58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697B71"/>
                </a:solidFill>
                <a:latin typeface="Calibri"/>
                <a:ea typeface="Calibri"/>
                <a:cs typeface="Calibri"/>
                <a:sym typeface="Calibri"/>
              </a:rPr>
              <a:t>PostgreSQL</a:t>
            </a:r>
            <a:endParaRPr b="0" i="0" sz="1400" u="none" cap="none" strike="noStrike">
              <a:solidFill>
                <a:srgbClr val="000000"/>
              </a:solidFill>
              <a:latin typeface="Arial"/>
              <a:ea typeface="Arial"/>
              <a:cs typeface="Arial"/>
              <a:sym typeface="Arial"/>
            </a:endParaRPr>
          </a:p>
        </p:txBody>
      </p:sp>
      <p:sp>
        <p:nvSpPr>
          <p:cNvPr id="313" name="Google Shape;313;g3fae3b6faca_1_0"/>
          <p:cNvSpPr/>
          <p:nvPr/>
        </p:nvSpPr>
        <p:spPr>
          <a:xfrm>
            <a:off x="9067562" y="1819275"/>
            <a:ext cx="1143000" cy="1124100"/>
          </a:xfrm>
          <a:prstGeom prst="roundRect">
            <a:avLst>
              <a:gd fmla="val 10169"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3fae3b6faca_1_0"/>
          <p:cNvSpPr/>
          <p:nvPr/>
        </p:nvSpPr>
        <p:spPr>
          <a:xfrm>
            <a:off x="9162810" y="2028825"/>
            <a:ext cx="952500" cy="28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공식값 대조</a:t>
            </a:r>
            <a:endParaRPr b="0" i="0" sz="1400" u="none" cap="none" strike="noStrike">
              <a:solidFill>
                <a:srgbClr val="000000"/>
              </a:solidFill>
              <a:latin typeface="Arial"/>
              <a:ea typeface="Arial"/>
              <a:cs typeface="Arial"/>
              <a:sym typeface="Arial"/>
            </a:endParaRPr>
          </a:p>
        </p:txBody>
      </p:sp>
      <p:sp>
        <p:nvSpPr>
          <p:cNvPr id="315" name="Google Shape;315;g3fae3b6faca_1_0"/>
          <p:cNvSpPr/>
          <p:nvPr/>
        </p:nvSpPr>
        <p:spPr>
          <a:xfrm>
            <a:off x="9162810" y="2438400"/>
            <a:ext cx="952500" cy="58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697B71"/>
                </a:solidFill>
                <a:latin typeface="Calibri"/>
                <a:ea typeface="Calibri"/>
                <a:cs typeface="Calibri"/>
                <a:sym typeface="Calibri"/>
              </a:rPr>
              <a:t>KOSIS API</a:t>
            </a:r>
            <a:endParaRPr b="0" i="0" sz="1400" u="none" cap="none" strike="noStrike">
              <a:solidFill>
                <a:srgbClr val="000000"/>
              </a:solidFill>
              <a:latin typeface="Arial"/>
              <a:ea typeface="Arial"/>
              <a:cs typeface="Arial"/>
              <a:sym typeface="Arial"/>
            </a:endParaRPr>
          </a:p>
        </p:txBody>
      </p:sp>
      <p:sp>
        <p:nvSpPr>
          <p:cNvPr id="316" name="Google Shape;316;g3fae3b6faca_1_0"/>
          <p:cNvSpPr/>
          <p:nvPr/>
        </p:nvSpPr>
        <p:spPr>
          <a:xfrm>
            <a:off x="10429601" y="1819275"/>
            <a:ext cx="1143000" cy="1124100"/>
          </a:xfrm>
          <a:prstGeom prst="roundRect">
            <a:avLst>
              <a:gd fmla="val 10169"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3fae3b6faca_1_0"/>
          <p:cNvSpPr/>
          <p:nvPr/>
        </p:nvSpPr>
        <p:spPr>
          <a:xfrm>
            <a:off x="10524848" y="2066925"/>
            <a:ext cx="952500" cy="285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Calibri"/>
                <a:ea typeface="Calibri"/>
                <a:cs typeface="Calibri"/>
                <a:sym typeface="Calibri"/>
              </a:rPr>
              <a:t>판정</a:t>
            </a:r>
            <a:endParaRPr b="0" i="0" sz="1400" u="none" cap="none" strike="noStrike">
              <a:solidFill>
                <a:srgbClr val="000000"/>
              </a:solidFill>
              <a:latin typeface="Arial"/>
              <a:ea typeface="Arial"/>
              <a:cs typeface="Arial"/>
              <a:sym typeface="Arial"/>
            </a:endParaRPr>
          </a:p>
        </p:txBody>
      </p:sp>
      <p:sp>
        <p:nvSpPr>
          <p:cNvPr id="318" name="Google Shape;318;g3fae3b6faca_1_0"/>
          <p:cNvSpPr/>
          <p:nvPr/>
        </p:nvSpPr>
        <p:spPr>
          <a:xfrm>
            <a:off x="10524848" y="2400300"/>
            <a:ext cx="952500" cy="581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0" i="0" lang="en-US" sz="975" u="none" cap="none" strike="noStrike">
                <a:solidFill>
                  <a:srgbClr val="E5F1E8"/>
                </a:solidFill>
                <a:latin typeface="Calibri"/>
                <a:ea typeface="Calibri"/>
                <a:cs typeface="Calibri"/>
                <a:sym typeface="Calibri"/>
              </a:rPr>
              <a:t>근거 + verdict</a:t>
            </a:r>
            <a:endParaRPr b="0" i="0" sz="1400" u="none" cap="none" strike="noStrike">
              <a:solidFill>
                <a:srgbClr val="000000"/>
              </a:solidFill>
              <a:latin typeface="Arial"/>
              <a:ea typeface="Arial"/>
              <a:cs typeface="Arial"/>
              <a:sym typeface="Arial"/>
            </a:endParaRPr>
          </a:p>
        </p:txBody>
      </p:sp>
      <p:sp>
        <p:nvSpPr>
          <p:cNvPr id="319" name="Google Shape;319;g3fae3b6faca_1_0"/>
          <p:cNvSpPr/>
          <p:nvPr/>
        </p:nvSpPr>
        <p:spPr>
          <a:xfrm>
            <a:off x="2257369" y="3009900"/>
            <a:ext cx="3867000" cy="628800"/>
          </a:xfrm>
          <a:prstGeom prst="roundRect">
            <a:avLst>
              <a:gd fmla="val 18182" name="adj"/>
            </a:avLst>
          </a:prstGeom>
          <a:solidFill>
            <a:srgbClr val="E7EFF2"/>
          </a:solidFill>
          <a:ln cap="flat" cmpd="sng" w="9525">
            <a:solidFill>
              <a:srgbClr val="E7EF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3fae3b6faca_1_0"/>
          <p:cNvSpPr/>
          <p:nvPr/>
        </p:nvSpPr>
        <p:spPr>
          <a:xfrm>
            <a:off x="2400240" y="3124200"/>
            <a:ext cx="35814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527487"/>
                </a:solidFill>
                <a:latin typeface="Calibri"/>
                <a:ea typeface="Calibri"/>
                <a:cs typeface="Calibri"/>
                <a:sym typeface="Calibri"/>
              </a:rPr>
              <a:t>기사 구조화</a:t>
            </a:r>
            <a:endParaRPr b="0" i="0" sz="1400" u="none" cap="none" strike="noStrike">
              <a:solidFill>
                <a:srgbClr val="000000"/>
              </a:solidFill>
              <a:latin typeface="Arial"/>
              <a:ea typeface="Arial"/>
              <a:cs typeface="Arial"/>
              <a:sym typeface="Arial"/>
            </a:endParaRPr>
          </a:p>
        </p:txBody>
      </p:sp>
      <p:sp>
        <p:nvSpPr>
          <p:cNvPr id="321" name="Google Shape;321;g3fae3b6faca_1_0"/>
          <p:cNvSpPr/>
          <p:nvPr/>
        </p:nvSpPr>
        <p:spPr>
          <a:xfrm>
            <a:off x="2400240" y="3343275"/>
            <a:ext cx="3581400" cy="1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97B71"/>
                </a:solidFill>
                <a:latin typeface="Calibri"/>
                <a:ea typeface="Calibri"/>
                <a:cs typeface="Calibri"/>
                <a:sym typeface="Calibri"/>
              </a:rPr>
              <a:t>문장 후보 → 구조화 → ready</a:t>
            </a:r>
            <a:endParaRPr b="0" i="0" sz="1400" u="none" cap="none" strike="noStrike">
              <a:solidFill>
                <a:srgbClr val="000000"/>
              </a:solidFill>
              <a:latin typeface="Arial"/>
              <a:ea typeface="Arial"/>
              <a:cs typeface="Arial"/>
              <a:sym typeface="Arial"/>
            </a:endParaRPr>
          </a:p>
        </p:txBody>
      </p:sp>
      <p:sp>
        <p:nvSpPr>
          <p:cNvPr id="322" name="Google Shape;322;g3fae3b6faca_1_0"/>
          <p:cNvSpPr/>
          <p:nvPr/>
        </p:nvSpPr>
        <p:spPr>
          <a:xfrm>
            <a:off x="6343485" y="3009900"/>
            <a:ext cx="2505000" cy="628800"/>
          </a:xfrm>
          <a:prstGeom prst="roundRect">
            <a:avLst>
              <a:gd fmla="val 18182"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3fae3b6faca_1_0"/>
          <p:cNvSpPr/>
          <p:nvPr/>
        </p:nvSpPr>
        <p:spPr>
          <a:xfrm>
            <a:off x="6486356" y="3124200"/>
            <a:ext cx="22194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F7A57"/>
                </a:solidFill>
                <a:latin typeface="Calibri"/>
                <a:ea typeface="Calibri"/>
                <a:cs typeface="Calibri"/>
                <a:sym typeface="Calibri"/>
              </a:rPr>
              <a:t>후보 탐색</a:t>
            </a:r>
            <a:endParaRPr b="0" i="0" sz="1400" u="none" cap="none" strike="noStrike">
              <a:solidFill>
                <a:srgbClr val="000000"/>
              </a:solidFill>
              <a:latin typeface="Arial"/>
              <a:ea typeface="Arial"/>
              <a:cs typeface="Arial"/>
              <a:sym typeface="Arial"/>
            </a:endParaRPr>
          </a:p>
        </p:txBody>
      </p:sp>
      <p:sp>
        <p:nvSpPr>
          <p:cNvPr id="324" name="Google Shape;324;g3fae3b6faca_1_0"/>
          <p:cNvSpPr/>
          <p:nvPr/>
        </p:nvSpPr>
        <p:spPr>
          <a:xfrm>
            <a:off x="6486356" y="3343275"/>
            <a:ext cx="2219400" cy="1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97B71"/>
                </a:solidFill>
                <a:latin typeface="Calibri"/>
                <a:ea typeface="Calibri"/>
                <a:cs typeface="Calibri"/>
                <a:sym typeface="Calibri"/>
              </a:rPr>
              <a:t>표 후보 → 실제 좌표</a:t>
            </a:r>
            <a:endParaRPr b="0" i="0" sz="1400" u="none" cap="none" strike="noStrike">
              <a:solidFill>
                <a:srgbClr val="000000"/>
              </a:solidFill>
              <a:latin typeface="Arial"/>
              <a:ea typeface="Arial"/>
              <a:cs typeface="Arial"/>
              <a:sym typeface="Arial"/>
            </a:endParaRPr>
          </a:p>
        </p:txBody>
      </p:sp>
      <p:sp>
        <p:nvSpPr>
          <p:cNvPr id="325" name="Google Shape;325;g3fae3b6faca_1_0"/>
          <p:cNvSpPr/>
          <p:nvPr/>
        </p:nvSpPr>
        <p:spPr>
          <a:xfrm>
            <a:off x="9067562" y="3009900"/>
            <a:ext cx="2505000" cy="628800"/>
          </a:xfrm>
          <a:prstGeom prst="roundRect">
            <a:avLst>
              <a:gd fmla="val 18182" name="adj"/>
            </a:avLst>
          </a:prstGeom>
          <a:solidFill>
            <a:srgbClr val="F7EDE2"/>
          </a:solidFill>
          <a:ln cap="flat" cmpd="sng" w="9525">
            <a:solidFill>
              <a:srgbClr val="F7EDE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3fae3b6faca_1_0"/>
          <p:cNvSpPr/>
          <p:nvPr/>
        </p:nvSpPr>
        <p:spPr>
          <a:xfrm>
            <a:off x="9210433" y="3124200"/>
            <a:ext cx="22194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B36C2E"/>
                </a:solidFill>
                <a:latin typeface="Calibri"/>
                <a:ea typeface="Calibri"/>
                <a:cs typeface="Calibri"/>
                <a:sym typeface="Calibri"/>
              </a:rPr>
              <a:t>공식 검증</a:t>
            </a:r>
            <a:endParaRPr b="0" i="0" sz="1400" u="none" cap="none" strike="noStrike">
              <a:solidFill>
                <a:srgbClr val="000000"/>
              </a:solidFill>
              <a:latin typeface="Arial"/>
              <a:ea typeface="Arial"/>
              <a:cs typeface="Arial"/>
              <a:sym typeface="Arial"/>
            </a:endParaRPr>
          </a:p>
        </p:txBody>
      </p:sp>
      <p:sp>
        <p:nvSpPr>
          <p:cNvPr id="327" name="Google Shape;327;g3fae3b6faca_1_0"/>
          <p:cNvSpPr/>
          <p:nvPr/>
        </p:nvSpPr>
        <p:spPr>
          <a:xfrm>
            <a:off x="9210433" y="3343275"/>
            <a:ext cx="2219400" cy="1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97B71"/>
                </a:solidFill>
                <a:latin typeface="Calibri"/>
                <a:ea typeface="Calibri"/>
                <a:cs typeface="Calibri"/>
                <a:sym typeface="Calibri"/>
              </a:rPr>
              <a:t>공식값 → 근거 판정</a:t>
            </a:r>
            <a:endParaRPr b="0" i="0" sz="1400" u="none" cap="none" strike="noStrike">
              <a:solidFill>
                <a:srgbClr val="000000"/>
              </a:solidFill>
              <a:latin typeface="Arial"/>
              <a:ea typeface="Arial"/>
              <a:cs typeface="Arial"/>
              <a:sym typeface="Arial"/>
            </a:endParaRPr>
          </a:p>
        </p:txBody>
      </p:sp>
      <p:sp>
        <p:nvSpPr>
          <p:cNvPr id="328" name="Google Shape;328;g3fae3b6faca_1_0"/>
          <p:cNvSpPr/>
          <p:nvPr/>
        </p:nvSpPr>
        <p:spPr>
          <a:xfrm>
            <a:off x="382353" y="1903534"/>
            <a:ext cx="19800" cy="6228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3fae3b6faca_1_0"/>
          <p:cNvSpPr/>
          <p:nvPr/>
        </p:nvSpPr>
        <p:spPr>
          <a:xfrm>
            <a:off x="383250" y="2475025"/>
            <a:ext cx="19800" cy="18513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3fae3b6faca_1_0"/>
          <p:cNvSpPr/>
          <p:nvPr/>
        </p:nvSpPr>
        <p:spPr>
          <a:xfrm>
            <a:off x="352731" y="247503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3fae3b6faca_1_0"/>
          <p:cNvSpPr/>
          <p:nvPr/>
        </p:nvSpPr>
        <p:spPr>
          <a:xfrm>
            <a:off x="583275" y="17892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332" name="Google Shape;332;g3fae3b6faca_1_0"/>
          <p:cNvSpPr/>
          <p:nvPr/>
        </p:nvSpPr>
        <p:spPr>
          <a:xfrm>
            <a:off x="583275" y="23988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프로젝트 계획</a:t>
            </a:r>
            <a:endParaRPr b="1" i="0" sz="850" u="none" cap="none" strike="noStrike">
              <a:solidFill>
                <a:srgbClr val="11271D"/>
              </a:solidFill>
              <a:latin typeface="Arial"/>
              <a:ea typeface="Arial"/>
              <a:cs typeface="Arial"/>
              <a:sym typeface="Arial"/>
            </a:endParaRPr>
          </a:p>
        </p:txBody>
      </p:sp>
      <p:sp>
        <p:nvSpPr>
          <p:cNvPr id="333" name="Google Shape;333;g3fae3b6faca_1_0"/>
          <p:cNvSpPr/>
          <p:nvPr/>
        </p:nvSpPr>
        <p:spPr>
          <a:xfrm>
            <a:off x="583275" y="30084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334" name="Google Shape;334;g3fae3b6faca_1_0"/>
          <p:cNvSpPr/>
          <p:nvPr/>
        </p:nvSpPr>
        <p:spPr>
          <a:xfrm>
            <a:off x="583275" y="36180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335" name="Google Shape;335;g3fae3b6faca_1_0"/>
          <p:cNvSpPr/>
          <p:nvPr/>
        </p:nvSpPr>
        <p:spPr>
          <a:xfrm>
            <a:off x="583275" y="4219564"/>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336" name="Google Shape;336;g3fae3b6faca_1_0"/>
          <p:cNvGrpSpPr/>
          <p:nvPr/>
        </p:nvGrpSpPr>
        <p:grpSpPr>
          <a:xfrm>
            <a:off x="287858" y="2408286"/>
            <a:ext cx="209400" cy="209700"/>
            <a:chOff x="-3275292" y="2173036"/>
            <a:chExt cx="209400" cy="209700"/>
          </a:xfrm>
        </p:grpSpPr>
        <p:sp>
          <p:nvSpPr>
            <p:cNvPr id="337" name="Google Shape;337;g3fae3b6faca_1_0"/>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3fae3b6faca_1_0"/>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9" name="Google Shape;339;g3fae3b6faca_1_0"/>
          <p:cNvSpPr/>
          <p:nvPr/>
        </p:nvSpPr>
        <p:spPr>
          <a:xfrm>
            <a:off x="354456" y="308463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g3fae3b6faca_1_0"/>
          <p:cNvSpPr/>
          <p:nvPr/>
        </p:nvSpPr>
        <p:spPr>
          <a:xfrm>
            <a:off x="354456" y="369423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3fae3b6faca_1_0"/>
          <p:cNvSpPr/>
          <p:nvPr/>
        </p:nvSpPr>
        <p:spPr>
          <a:xfrm>
            <a:off x="354456" y="430383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3fae3b6faca_1_0"/>
          <p:cNvSpPr/>
          <p:nvPr/>
        </p:nvSpPr>
        <p:spPr>
          <a:xfrm>
            <a:off x="356406" y="18708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3fae3b6faca_1_0"/>
          <p:cNvSpPr/>
          <p:nvPr/>
        </p:nvSpPr>
        <p:spPr>
          <a:xfrm>
            <a:off x="-1411294" y="1668286"/>
            <a:ext cx="18900" cy="3048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3fae3b6faca_1_0"/>
          <p:cNvSpPr/>
          <p:nvPr/>
        </p:nvSpPr>
        <p:spPr>
          <a:xfrm>
            <a:off x="-1411294" y="4716286"/>
            <a:ext cx="18900" cy="609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3fae3b6faca_1_0"/>
          <p:cNvSpPr/>
          <p:nvPr/>
        </p:nvSpPr>
        <p:spPr>
          <a:xfrm>
            <a:off x="-1439869" y="16301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3fae3b6faca_1_0"/>
          <p:cNvSpPr/>
          <p:nvPr/>
        </p:nvSpPr>
        <p:spPr>
          <a:xfrm>
            <a:off x="-1211275" y="15539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기사 입력</a:t>
            </a:r>
            <a:endParaRPr b="0" i="0" sz="1400" u="none" cap="none" strike="noStrike">
              <a:solidFill>
                <a:srgbClr val="000000"/>
              </a:solidFill>
              <a:latin typeface="Arial"/>
              <a:ea typeface="Arial"/>
              <a:cs typeface="Arial"/>
              <a:sym typeface="Arial"/>
            </a:endParaRPr>
          </a:p>
        </p:txBody>
      </p:sp>
      <p:sp>
        <p:nvSpPr>
          <p:cNvPr id="347" name="Google Shape;347;g3fae3b6faca_1_0"/>
          <p:cNvSpPr/>
          <p:nvPr/>
        </p:nvSpPr>
        <p:spPr>
          <a:xfrm>
            <a:off x="-1439869" y="22397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3fae3b6faca_1_0"/>
          <p:cNvSpPr/>
          <p:nvPr/>
        </p:nvSpPr>
        <p:spPr>
          <a:xfrm>
            <a:off x="-1211275" y="2163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HCX 추출</a:t>
            </a:r>
            <a:endParaRPr b="0" i="0" sz="1400" u="none" cap="none" strike="noStrike">
              <a:solidFill>
                <a:srgbClr val="000000"/>
              </a:solidFill>
              <a:latin typeface="Arial"/>
              <a:ea typeface="Arial"/>
              <a:cs typeface="Arial"/>
              <a:sym typeface="Arial"/>
            </a:endParaRPr>
          </a:p>
        </p:txBody>
      </p:sp>
      <p:sp>
        <p:nvSpPr>
          <p:cNvPr id="349" name="Google Shape;349;g3fae3b6faca_1_0"/>
          <p:cNvSpPr/>
          <p:nvPr/>
        </p:nvSpPr>
        <p:spPr>
          <a:xfrm>
            <a:off x="-1439869" y="28493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3fae3b6faca_1_0"/>
          <p:cNvSpPr/>
          <p:nvPr/>
        </p:nvSpPr>
        <p:spPr>
          <a:xfrm>
            <a:off x="-1211275" y="27731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Ready Gate</a:t>
            </a:r>
            <a:endParaRPr b="0" i="0" sz="1400" u="none" cap="none" strike="noStrike">
              <a:solidFill>
                <a:srgbClr val="000000"/>
              </a:solidFill>
              <a:latin typeface="Arial"/>
              <a:ea typeface="Arial"/>
              <a:cs typeface="Arial"/>
              <a:sym typeface="Arial"/>
            </a:endParaRPr>
          </a:p>
        </p:txBody>
      </p:sp>
      <p:sp>
        <p:nvSpPr>
          <p:cNvPr id="351" name="Google Shape;351;g3fae3b6faca_1_0"/>
          <p:cNvSpPr/>
          <p:nvPr/>
        </p:nvSpPr>
        <p:spPr>
          <a:xfrm>
            <a:off x="-1439869" y="34589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3fae3b6faca_1_0"/>
          <p:cNvSpPr/>
          <p:nvPr/>
        </p:nvSpPr>
        <p:spPr>
          <a:xfrm>
            <a:off x="-1211275" y="33827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표 검색</a:t>
            </a:r>
            <a:endParaRPr b="0" i="0" sz="1400" u="none" cap="none" strike="noStrike">
              <a:solidFill>
                <a:srgbClr val="000000"/>
              </a:solidFill>
              <a:latin typeface="Arial"/>
              <a:ea typeface="Arial"/>
              <a:cs typeface="Arial"/>
              <a:sym typeface="Arial"/>
            </a:endParaRPr>
          </a:p>
        </p:txBody>
      </p:sp>
      <p:sp>
        <p:nvSpPr>
          <p:cNvPr id="353" name="Google Shape;353;g3fae3b6faca_1_0"/>
          <p:cNvSpPr/>
          <p:nvPr/>
        </p:nvSpPr>
        <p:spPr>
          <a:xfrm>
            <a:off x="-1506542" y="4001911"/>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3fae3b6faca_1_0"/>
          <p:cNvSpPr/>
          <p:nvPr/>
        </p:nvSpPr>
        <p:spPr>
          <a:xfrm>
            <a:off x="-1468443" y="4040011"/>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g3fae3b6faca_1_0"/>
          <p:cNvSpPr/>
          <p:nvPr/>
        </p:nvSpPr>
        <p:spPr>
          <a:xfrm>
            <a:off x="-1211275" y="39923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1" i="0" lang="en-US" sz="863" u="none" cap="none" strike="noStrike">
                <a:solidFill>
                  <a:srgbClr val="11271D"/>
                </a:solidFill>
                <a:latin typeface="Arial"/>
                <a:ea typeface="Arial"/>
                <a:cs typeface="Arial"/>
                <a:sym typeface="Arial"/>
              </a:rPr>
              <a:t>좌표 생성</a:t>
            </a:r>
            <a:endParaRPr b="0" i="0" sz="1400" u="none" cap="none" strike="noStrike">
              <a:solidFill>
                <a:srgbClr val="000000"/>
              </a:solidFill>
              <a:latin typeface="Arial"/>
              <a:ea typeface="Arial"/>
              <a:cs typeface="Arial"/>
              <a:sym typeface="Arial"/>
            </a:endParaRPr>
          </a:p>
        </p:txBody>
      </p:sp>
      <p:sp>
        <p:nvSpPr>
          <p:cNvPr id="356" name="Google Shape;356;g3fae3b6faca_1_0"/>
          <p:cNvSpPr/>
          <p:nvPr/>
        </p:nvSpPr>
        <p:spPr>
          <a:xfrm>
            <a:off x="-1506542" y="4611511"/>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g3fae3b6faca_1_0"/>
          <p:cNvSpPr/>
          <p:nvPr/>
        </p:nvSpPr>
        <p:spPr>
          <a:xfrm>
            <a:off x="-1468443" y="4649611"/>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fae3b6faca_1_0"/>
          <p:cNvSpPr/>
          <p:nvPr/>
        </p:nvSpPr>
        <p:spPr>
          <a:xfrm>
            <a:off x="-1211275" y="46019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1" i="0" lang="en-US" sz="863" u="none" cap="none" strike="noStrike">
                <a:solidFill>
                  <a:srgbClr val="11271D"/>
                </a:solidFill>
                <a:latin typeface="Arial"/>
                <a:ea typeface="Arial"/>
                <a:cs typeface="Arial"/>
                <a:sym typeface="Arial"/>
              </a:rPr>
              <a:t>공식값 대조</a:t>
            </a:r>
            <a:endParaRPr b="0" i="0" sz="1400" u="none" cap="none" strike="noStrike">
              <a:solidFill>
                <a:srgbClr val="000000"/>
              </a:solidFill>
              <a:latin typeface="Arial"/>
              <a:ea typeface="Arial"/>
              <a:cs typeface="Arial"/>
              <a:sym typeface="Arial"/>
            </a:endParaRPr>
          </a:p>
        </p:txBody>
      </p:sp>
      <p:sp>
        <p:nvSpPr>
          <p:cNvPr id="359" name="Google Shape;359;g3fae3b6faca_1_0"/>
          <p:cNvSpPr/>
          <p:nvPr/>
        </p:nvSpPr>
        <p:spPr>
          <a:xfrm>
            <a:off x="-1439869" y="52877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3fae3b6faca_1_0"/>
          <p:cNvSpPr/>
          <p:nvPr/>
        </p:nvSpPr>
        <p:spPr>
          <a:xfrm>
            <a:off x="-1211275" y="5211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판정</a:t>
            </a:r>
            <a:endParaRPr b="0" i="0" sz="1400" u="none" cap="none" strike="noStrike">
              <a:solidFill>
                <a:srgbClr val="000000"/>
              </a:solidFill>
              <a:latin typeface="Arial"/>
              <a:ea typeface="Arial"/>
              <a:cs typeface="Arial"/>
              <a:sym typeface="Arial"/>
            </a:endParaRPr>
          </a:p>
        </p:txBody>
      </p:sp>
      <p:graphicFrame>
        <p:nvGraphicFramePr>
          <p:cNvPr id="361" name="Google Shape;361;g3fae3b6faca_1_0"/>
          <p:cNvGraphicFramePr/>
          <p:nvPr/>
        </p:nvGraphicFramePr>
        <p:xfrm>
          <a:off x="2342970" y="4123033"/>
          <a:ext cx="3000000" cy="3000000"/>
        </p:xfrm>
        <a:graphic>
          <a:graphicData uri="http://schemas.openxmlformats.org/drawingml/2006/table">
            <a:tbl>
              <a:tblPr>
                <a:noFill/>
                <a:tableStyleId>{45964FCD-4E89-4973-9509-FDA47E31D4AA}</a:tableStyleId>
              </a:tblPr>
              <a:tblGrid>
                <a:gridCol w="1280150"/>
                <a:gridCol w="2834650"/>
                <a:gridCol w="2194550"/>
                <a:gridCol w="2834650"/>
              </a:tblGrid>
              <a:tr h="365750">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150" u="none" cap="none" strike="noStrike">
                          <a:solidFill>
                            <a:srgbClr val="22372E"/>
                          </a:solidFill>
                          <a:latin typeface="Malgun Gothic"/>
                          <a:ea typeface="Malgun Gothic"/>
                          <a:cs typeface="Malgun Gothic"/>
                          <a:sym typeface="Malgun Gothic"/>
                        </a:rPr>
                        <a:t>구간</a:t>
                      </a:r>
                      <a:endParaRPr sz="11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150" u="none" cap="none" strike="noStrike">
                          <a:solidFill>
                            <a:srgbClr val="22372E"/>
                          </a:solidFill>
                          <a:latin typeface="Malgun Gothic"/>
                          <a:ea typeface="Malgun Gothic"/>
                          <a:cs typeface="Malgun Gothic"/>
                          <a:sym typeface="Malgun Gothic"/>
                        </a:rPr>
                        <a:t>주요 작업</a:t>
                      </a:r>
                      <a:endParaRPr sz="11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150" u="none" cap="none" strike="noStrike">
                          <a:solidFill>
                            <a:srgbClr val="22372E"/>
                          </a:solidFill>
                          <a:latin typeface="Malgun Gothic"/>
                          <a:ea typeface="Malgun Gothic"/>
                          <a:cs typeface="Malgun Gothic"/>
                          <a:sym typeface="Malgun Gothic"/>
                        </a:rPr>
                        <a:t>주요 산출물</a:t>
                      </a:r>
                      <a:endParaRPr sz="11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150" u="none" cap="none" strike="noStrike">
                          <a:solidFill>
                            <a:srgbClr val="22372E"/>
                          </a:solidFill>
                          <a:latin typeface="Malgun Gothic"/>
                          <a:ea typeface="Malgun Gothic"/>
                          <a:cs typeface="Malgun Gothic"/>
                          <a:sym typeface="Malgun Gothic"/>
                        </a:rPr>
                        <a:t>기업 설명 포인트</a:t>
                      </a:r>
                      <a:endParaRPr sz="11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r>
              <a:tr h="36575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070" u="none" cap="none" strike="noStrike">
                          <a:solidFill>
                            <a:srgbClr val="22372E"/>
                          </a:solidFill>
                          <a:latin typeface="Malgun Gothic"/>
                          <a:ea typeface="Malgun Gothic"/>
                          <a:cs typeface="Malgun Gothic"/>
                          <a:sym typeface="Malgun Gothic"/>
                        </a:rPr>
                        <a:t>입력/정제</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기사 입력, 문장 분리, 숫자·단위 후보 정리</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claim 후보</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자연어를 DB 조회 가능한 단위로 바꿈</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36575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070" u="none" cap="none" strike="noStrike">
                          <a:solidFill>
                            <a:srgbClr val="22372E"/>
                          </a:solidFill>
                          <a:latin typeface="Malgun Gothic"/>
                          <a:ea typeface="Malgun Gothic"/>
                          <a:cs typeface="Malgun Gothic"/>
                          <a:sym typeface="Malgun Gothic"/>
                        </a:rPr>
                        <a:t>구조화/선별</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HCX-007 구조화, ready gate 선별</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measurement, READY 여부</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검증 가능 범위만 통과</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36575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070" u="none" cap="none" strike="noStrike">
                          <a:solidFill>
                            <a:srgbClr val="22372E"/>
                          </a:solidFill>
                          <a:latin typeface="Malgun Gothic"/>
                          <a:ea typeface="Malgun Gothic"/>
                          <a:cs typeface="Malgun Gothic"/>
                          <a:sym typeface="Malgun Gothic"/>
                        </a:rPr>
                        <a:t>검색</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lexical + BGE-M3 + reranker로 관련 표 Top-k 확보</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후보 통계표</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의미 검색은 후보 확장 역할만 수행</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36575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070" u="none" cap="none" strike="noStrike">
                          <a:solidFill>
                            <a:srgbClr val="22372E"/>
                          </a:solidFill>
                          <a:latin typeface="Malgun Gothic"/>
                          <a:ea typeface="Malgun Gothic"/>
                          <a:cs typeface="Malgun Gothic"/>
                          <a:sym typeface="Malgun Gothic"/>
                        </a:rPr>
                        <a:t>승인/대조</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PostgreSQL 좌표 승인, KOSIS 공식값 대조</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tbl/item/obj/period, 결과</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070" u="none" cap="none" strike="noStrike">
                          <a:solidFill>
                            <a:srgbClr val="22372E"/>
                          </a:solidFill>
                          <a:latin typeface="Malgun Gothic"/>
                          <a:ea typeface="Malgun Gothic"/>
                          <a:cs typeface="Malgun Gothic"/>
                          <a:sym typeface="Malgun Gothic"/>
                        </a:rPr>
                        <a:t>실존 좌표만 승인, 불확실하면 UNRESOLVED</a:t>
                      </a:r>
                      <a:endParaRPr sz="10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bl>
          </a:graphicData>
        </a:graphic>
      </p:graphicFrame>
      <p:sp>
        <p:nvSpPr>
          <p:cNvPr id="362" name="Google Shape;362;g3fae3b6faca_1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3fae3b6faca_1_0"/>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02.·프로젝트 계획</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368" name="Shape 368"/>
        <p:cNvGrpSpPr/>
        <p:nvPr/>
      </p:nvGrpSpPr>
      <p:grpSpPr>
        <a:xfrm>
          <a:off x="0" y="0"/>
          <a:ext cx="0" cy="0"/>
          <a:chOff x="0" y="0"/>
          <a:chExt cx="0" cy="0"/>
        </a:xfrm>
      </p:grpSpPr>
      <p:sp>
        <p:nvSpPr>
          <p:cNvPr id="369" name="Google Shape;369;g3fae89d27e9_0_6"/>
          <p:cNvSpPr/>
          <p:nvPr/>
        </p:nvSpPr>
        <p:spPr>
          <a:xfrm>
            <a:off x="0" y="57150"/>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fae89d27e9_0_6"/>
          <p:cNvSpPr/>
          <p:nvPr/>
        </p:nvSpPr>
        <p:spPr>
          <a:xfrm>
            <a:off x="0" y="0"/>
            <a:ext cx="12191700"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3fae89d27e9_0_6"/>
          <p:cNvSpPr/>
          <p:nvPr/>
        </p:nvSpPr>
        <p:spPr>
          <a:xfrm>
            <a:off x="2095444" y="714375"/>
            <a:ext cx="95247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chemeClr val="dk1"/>
              </a:buClr>
              <a:buSzPts val="1100"/>
              <a:buFont typeface="Arial"/>
              <a:buNone/>
            </a:pPr>
            <a:r>
              <a:rPr b="1" i="0" lang="en-US" sz="2800" u="none" cap="none" strike="noStrike">
                <a:solidFill>
                  <a:srgbClr val="173F2F"/>
                </a:solidFill>
                <a:latin typeface="Arial"/>
                <a:ea typeface="Arial"/>
                <a:cs typeface="Arial"/>
                <a:sym typeface="Arial"/>
              </a:rPr>
              <a:t>기사 입력 및 정제</a:t>
            </a:r>
            <a:endParaRPr b="1" i="0" sz="2750" u="none" cap="none" strike="noStrike">
              <a:solidFill>
                <a:srgbClr val="10271D"/>
              </a:solidFill>
              <a:latin typeface="Arial"/>
              <a:ea typeface="Arial"/>
              <a:cs typeface="Arial"/>
              <a:sym typeface="Arial"/>
            </a:endParaRPr>
          </a:p>
        </p:txBody>
      </p:sp>
      <p:sp>
        <p:nvSpPr>
          <p:cNvPr id="372" name="Google Shape;372;g3fae89d27e9_0_6"/>
          <p:cNvSpPr/>
          <p:nvPr/>
        </p:nvSpPr>
        <p:spPr>
          <a:xfrm>
            <a:off x="2114494" y="1228725"/>
            <a:ext cx="94296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chemeClr val="dk1"/>
              </a:buClr>
              <a:buSzPts val="1100"/>
              <a:buFont typeface="Arial"/>
              <a:buNone/>
            </a:pPr>
            <a:r>
              <a:rPr b="0" i="0" lang="en-US" sz="1150" u="none" cap="none" strike="noStrike">
                <a:solidFill>
                  <a:srgbClr val="6F7E76"/>
                </a:solidFill>
                <a:latin typeface="Arial"/>
                <a:ea typeface="Arial"/>
                <a:cs typeface="Arial"/>
                <a:sym typeface="Arial"/>
              </a:rPr>
              <a:t>뉴스 기사 url을 크롤링한 후 불필요한 요소를 제거해 입력 품질을 높였습니다.</a:t>
            </a:r>
            <a:endParaRPr b="0" i="0" sz="1200" u="none" cap="none" strike="noStrike">
              <a:solidFill>
                <a:srgbClr val="697B71"/>
              </a:solidFill>
              <a:latin typeface="Arial"/>
              <a:ea typeface="Arial"/>
              <a:cs typeface="Arial"/>
              <a:sym typeface="Arial"/>
            </a:endParaRPr>
          </a:p>
        </p:txBody>
      </p:sp>
      <p:sp>
        <p:nvSpPr>
          <p:cNvPr id="373" name="Google Shape;373;g3fae89d27e9_0_6"/>
          <p:cNvSpPr/>
          <p:nvPr/>
        </p:nvSpPr>
        <p:spPr>
          <a:xfrm>
            <a:off x="2095444" y="6543675"/>
            <a:ext cx="2667000" cy="14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97B71"/>
                </a:solidFill>
                <a:latin typeface="Arial"/>
                <a:ea typeface="Arial"/>
                <a:cs typeface="Arial"/>
                <a:sym typeface="Arial"/>
              </a:rPr>
              <a:t>KOSIS 뉴스 수치 주장 검증 PoC</a:t>
            </a:r>
            <a:endParaRPr b="0" i="0" sz="1400" u="none" cap="none" strike="noStrike">
              <a:solidFill>
                <a:srgbClr val="000000"/>
              </a:solidFill>
              <a:latin typeface="Arial"/>
              <a:ea typeface="Arial"/>
              <a:cs typeface="Arial"/>
              <a:sym typeface="Arial"/>
            </a:endParaRPr>
          </a:p>
        </p:txBody>
      </p:sp>
      <p:sp>
        <p:nvSpPr>
          <p:cNvPr id="374" name="Google Shape;374;g3fae89d27e9_0_6"/>
          <p:cNvSpPr/>
          <p:nvPr/>
        </p:nvSpPr>
        <p:spPr>
          <a:xfrm>
            <a:off x="2203446" y="2029409"/>
            <a:ext cx="9308700" cy="739500"/>
          </a:xfrm>
          <a:prstGeom prst="roundRect">
            <a:avLst>
              <a:gd fmla="val 10345" name="adj"/>
            </a:avLst>
          </a:prstGeom>
          <a:solidFill>
            <a:srgbClr val="FFFFFF"/>
          </a:solidFill>
          <a:ln cap="flat" cmpd="sng" w="23625">
            <a:solidFill>
              <a:srgbClr val="E3E8EF"/>
            </a:solidFill>
            <a:prstDash val="solid"/>
            <a:round/>
            <a:headEnd len="sm" w="sm" type="none"/>
            <a:tailEnd len="sm" w="sm" type="none"/>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75" name="Google Shape;375;g3fae89d27e9_0_6"/>
          <p:cNvSpPr/>
          <p:nvPr/>
        </p:nvSpPr>
        <p:spPr>
          <a:xfrm>
            <a:off x="2394718" y="2156923"/>
            <a:ext cx="484800" cy="484800"/>
          </a:xfrm>
          <a:prstGeom prst="ellipse">
            <a:avLst/>
          </a:prstGeom>
          <a:solidFill>
            <a:srgbClr val="3A6EA5"/>
          </a:solidFill>
          <a:ln>
            <a:noFill/>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76" name="Google Shape;376;g3fae89d27e9_0_6"/>
          <p:cNvSpPr/>
          <p:nvPr/>
        </p:nvSpPr>
        <p:spPr>
          <a:xfrm>
            <a:off x="2394718" y="2156923"/>
            <a:ext cx="484800" cy="484800"/>
          </a:xfrm>
          <a:prstGeom prst="rect">
            <a:avLst/>
          </a:prstGeom>
          <a:solidFill>
            <a:srgbClr val="528A62"/>
          </a:solidFill>
          <a:ln>
            <a:noFill/>
          </a:ln>
        </p:spPr>
        <p:txBody>
          <a:bodyPr anchorCtr="0" anchor="ctr" bIns="63725" lIns="127500" spcFirstLastPara="1" rIns="127500" wrap="square" tIns="63725">
            <a:noAutofit/>
          </a:bodyPr>
          <a:lstStyle/>
          <a:p>
            <a:pPr indent="0" lvl="0" marL="0" marR="0" rtl="0" algn="ctr">
              <a:lnSpc>
                <a:spcPct val="100000"/>
              </a:lnSpc>
              <a:spcBef>
                <a:spcPts val="0"/>
              </a:spcBef>
              <a:spcAft>
                <a:spcPts val="0"/>
              </a:spcAft>
              <a:buClr>
                <a:srgbClr val="FFFFFF"/>
              </a:buClr>
              <a:buSzPts val="1859"/>
              <a:buFont typeface="Calibri"/>
              <a:buNone/>
            </a:pPr>
            <a:r>
              <a:rPr b="1" i="0" lang="en-US" sz="1859" u="none" cap="none" strike="noStrike">
                <a:solidFill>
                  <a:srgbClr val="FFFFFF"/>
                </a:solidFill>
                <a:latin typeface="Arial"/>
                <a:ea typeface="Arial"/>
                <a:cs typeface="Arial"/>
                <a:sym typeface="Arial"/>
              </a:rPr>
              <a:t>1</a:t>
            </a:r>
            <a:endParaRPr b="0" i="0" sz="2603" u="none" cap="none" strike="noStrike">
              <a:solidFill>
                <a:srgbClr val="000000"/>
              </a:solidFill>
              <a:latin typeface="Arial"/>
              <a:ea typeface="Arial"/>
              <a:cs typeface="Arial"/>
              <a:sym typeface="Arial"/>
            </a:endParaRPr>
          </a:p>
        </p:txBody>
      </p:sp>
      <p:sp>
        <p:nvSpPr>
          <p:cNvPr id="377" name="Google Shape;377;g3fae89d27e9_0_6"/>
          <p:cNvSpPr/>
          <p:nvPr/>
        </p:nvSpPr>
        <p:spPr>
          <a:xfrm>
            <a:off x="3096048" y="2067663"/>
            <a:ext cx="26781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17233F"/>
              </a:buClr>
              <a:buSzPts val="1673"/>
              <a:buFont typeface="Calibri"/>
              <a:buNone/>
            </a:pPr>
            <a:r>
              <a:rPr b="1" i="0" lang="en-US" sz="1673" u="none" cap="none" strike="noStrike">
                <a:solidFill>
                  <a:srgbClr val="17233F"/>
                </a:solidFill>
                <a:latin typeface="Arial"/>
                <a:ea typeface="Arial"/>
                <a:cs typeface="Arial"/>
                <a:sym typeface="Arial"/>
              </a:rPr>
              <a:t>PREFIX 컷</a:t>
            </a:r>
            <a:endParaRPr b="0" i="0" sz="2603" u="none" cap="none" strike="noStrike">
              <a:solidFill>
                <a:srgbClr val="000000"/>
              </a:solidFill>
              <a:latin typeface="Arial"/>
              <a:ea typeface="Arial"/>
              <a:cs typeface="Arial"/>
              <a:sym typeface="Arial"/>
            </a:endParaRPr>
          </a:p>
        </p:txBody>
      </p:sp>
      <p:sp>
        <p:nvSpPr>
          <p:cNvPr id="378" name="Google Shape;378;g3fae89d27e9_0_6"/>
          <p:cNvSpPr/>
          <p:nvPr/>
        </p:nvSpPr>
        <p:spPr>
          <a:xfrm>
            <a:off x="5837611" y="2067663"/>
            <a:ext cx="55467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6B7686"/>
              </a:buClr>
              <a:buSzPts val="1487"/>
              <a:buFont typeface="Calibri"/>
              <a:buNone/>
            </a:pPr>
            <a:r>
              <a:rPr b="0" i="0" lang="en-US" sz="1487" u="none" cap="none" strike="noStrike">
                <a:solidFill>
                  <a:srgbClr val="6B7686"/>
                </a:solidFill>
                <a:latin typeface="Arial"/>
                <a:ea typeface="Arial"/>
                <a:cs typeface="Arial"/>
                <a:sym typeface="Arial"/>
              </a:rPr>
              <a:t>내비게이션·공유버튼을 '입력 YYYY.MM.DD HH:MM' 바이라인이 처음 등장하는 지점까지 제거</a:t>
            </a:r>
            <a:endParaRPr b="0" i="0" sz="2603" u="none" cap="none" strike="noStrike">
              <a:solidFill>
                <a:srgbClr val="000000"/>
              </a:solidFill>
              <a:latin typeface="Arial"/>
              <a:ea typeface="Arial"/>
              <a:cs typeface="Arial"/>
              <a:sym typeface="Arial"/>
            </a:endParaRPr>
          </a:p>
        </p:txBody>
      </p:sp>
      <p:sp>
        <p:nvSpPr>
          <p:cNvPr id="379" name="Google Shape;379;g3fae89d27e9_0_6"/>
          <p:cNvSpPr/>
          <p:nvPr/>
        </p:nvSpPr>
        <p:spPr>
          <a:xfrm>
            <a:off x="2203446" y="2947509"/>
            <a:ext cx="9308700" cy="739500"/>
          </a:xfrm>
          <a:prstGeom prst="roundRect">
            <a:avLst>
              <a:gd fmla="val 10345" name="adj"/>
            </a:avLst>
          </a:prstGeom>
          <a:solidFill>
            <a:srgbClr val="FFFFFF"/>
          </a:solidFill>
          <a:ln cap="flat" cmpd="sng" w="23625">
            <a:solidFill>
              <a:srgbClr val="E3E8EF"/>
            </a:solidFill>
            <a:prstDash val="solid"/>
            <a:round/>
            <a:headEnd len="sm" w="sm" type="none"/>
            <a:tailEnd len="sm" w="sm" type="none"/>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80" name="Google Shape;380;g3fae89d27e9_0_6"/>
          <p:cNvSpPr/>
          <p:nvPr/>
        </p:nvSpPr>
        <p:spPr>
          <a:xfrm>
            <a:off x="2394718" y="3075023"/>
            <a:ext cx="484800" cy="484800"/>
          </a:xfrm>
          <a:prstGeom prst="ellipse">
            <a:avLst/>
          </a:prstGeom>
          <a:solidFill>
            <a:srgbClr val="3A6EA5"/>
          </a:solidFill>
          <a:ln>
            <a:noFill/>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81" name="Google Shape;381;g3fae89d27e9_0_6"/>
          <p:cNvSpPr/>
          <p:nvPr/>
        </p:nvSpPr>
        <p:spPr>
          <a:xfrm>
            <a:off x="2394718" y="3075023"/>
            <a:ext cx="484800" cy="484800"/>
          </a:xfrm>
          <a:prstGeom prst="rect">
            <a:avLst/>
          </a:prstGeom>
          <a:solidFill>
            <a:srgbClr val="528A62"/>
          </a:solidFill>
          <a:ln>
            <a:noFill/>
          </a:ln>
        </p:spPr>
        <p:txBody>
          <a:bodyPr anchorCtr="0" anchor="ctr" bIns="63725" lIns="127500" spcFirstLastPara="1" rIns="127500" wrap="square" tIns="63725">
            <a:noAutofit/>
          </a:bodyPr>
          <a:lstStyle/>
          <a:p>
            <a:pPr indent="0" lvl="0" marL="0" marR="0" rtl="0" algn="ctr">
              <a:lnSpc>
                <a:spcPct val="100000"/>
              </a:lnSpc>
              <a:spcBef>
                <a:spcPts val="0"/>
              </a:spcBef>
              <a:spcAft>
                <a:spcPts val="0"/>
              </a:spcAft>
              <a:buClr>
                <a:srgbClr val="FFFFFF"/>
              </a:buClr>
              <a:buSzPts val="1859"/>
              <a:buFont typeface="Calibri"/>
              <a:buNone/>
            </a:pPr>
            <a:r>
              <a:rPr b="1" i="0" lang="en-US" sz="1859" u="none" cap="none" strike="noStrike">
                <a:solidFill>
                  <a:srgbClr val="FFFFFF"/>
                </a:solidFill>
                <a:latin typeface="Arial"/>
                <a:ea typeface="Arial"/>
                <a:cs typeface="Arial"/>
                <a:sym typeface="Arial"/>
              </a:rPr>
              <a:t>2</a:t>
            </a:r>
            <a:endParaRPr b="0" i="0" sz="2603" u="none" cap="none" strike="noStrike">
              <a:solidFill>
                <a:srgbClr val="000000"/>
              </a:solidFill>
              <a:latin typeface="Arial"/>
              <a:ea typeface="Arial"/>
              <a:cs typeface="Arial"/>
              <a:sym typeface="Arial"/>
            </a:endParaRPr>
          </a:p>
        </p:txBody>
      </p:sp>
      <p:sp>
        <p:nvSpPr>
          <p:cNvPr id="382" name="Google Shape;382;g3fae89d27e9_0_6"/>
          <p:cNvSpPr/>
          <p:nvPr/>
        </p:nvSpPr>
        <p:spPr>
          <a:xfrm>
            <a:off x="3096048" y="2985763"/>
            <a:ext cx="26781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17233F"/>
              </a:buClr>
              <a:buSzPts val="1673"/>
              <a:buFont typeface="Calibri"/>
              <a:buNone/>
            </a:pPr>
            <a:r>
              <a:rPr b="1" i="0" lang="en-US" sz="1673" u="none" cap="none" strike="noStrike">
                <a:solidFill>
                  <a:srgbClr val="17233F"/>
                </a:solidFill>
                <a:latin typeface="Arial"/>
                <a:ea typeface="Arial"/>
                <a:cs typeface="Arial"/>
                <a:sym typeface="Arial"/>
              </a:rPr>
              <a:t>SUFFIX 컷</a:t>
            </a:r>
            <a:endParaRPr b="0" i="0" sz="2603" u="none" cap="none" strike="noStrike">
              <a:solidFill>
                <a:srgbClr val="000000"/>
              </a:solidFill>
              <a:latin typeface="Arial"/>
              <a:ea typeface="Arial"/>
              <a:cs typeface="Arial"/>
              <a:sym typeface="Arial"/>
            </a:endParaRPr>
          </a:p>
        </p:txBody>
      </p:sp>
      <p:sp>
        <p:nvSpPr>
          <p:cNvPr id="383" name="Google Shape;383;g3fae89d27e9_0_6"/>
          <p:cNvSpPr/>
          <p:nvPr/>
        </p:nvSpPr>
        <p:spPr>
          <a:xfrm>
            <a:off x="5837611" y="2985763"/>
            <a:ext cx="55467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6B7686"/>
              </a:buClr>
              <a:buSzPts val="1487"/>
              <a:buFont typeface="Calibri"/>
              <a:buNone/>
            </a:pPr>
            <a:r>
              <a:rPr b="0" i="0" lang="en-US" sz="1487" u="none" cap="none" strike="noStrike">
                <a:solidFill>
                  <a:srgbClr val="6B7686"/>
                </a:solidFill>
                <a:latin typeface="Arial"/>
                <a:ea typeface="Arial"/>
                <a:cs typeface="Arial"/>
                <a:sym typeface="Arial"/>
              </a:rPr>
              <a:t>'Video Player is loading' · '100자평' · '많이 본 뉴스' 등 알려진 노이즈 시작 마커부터 끝까지 제거</a:t>
            </a:r>
            <a:endParaRPr b="0" i="0" sz="2603" u="none" cap="none" strike="noStrike">
              <a:solidFill>
                <a:srgbClr val="000000"/>
              </a:solidFill>
              <a:latin typeface="Arial"/>
              <a:ea typeface="Arial"/>
              <a:cs typeface="Arial"/>
              <a:sym typeface="Arial"/>
            </a:endParaRPr>
          </a:p>
        </p:txBody>
      </p:sp>
      <p:sp>
        <p:nvSpPr>
          <p:cNvPr id="384" name="Google Shape;384;g3fae89d27e9_0_6"/>
          <p:cNvSpPr/>
          <p:nvPr/>
        </p:nvSpPr>
        <p:spPr>
          <a:xfrm>
            <a:off x="2203446" y="3865610"/>
            <a:ext cx="9308700" cy="739500"/>
          </a:xfrm>
          <a:prstGeom prst="roundRect">
            <a:avLst>
              <a:gd fmla="val 10345" name="adj"/>
            </a:avLst>
          </a:prstGeom>
          <a:solidFill>
            <a:srgbClr val="FFFFFF"/>
          </a:solidFill>
          <a:ln cap="flat" cmpd="sng" w="23625">
            <a:solidFill>
              <a:srgbClr val="E3E8EF"/>
            </a:solidFill>
            <a:prstDash val="solid"/>
            <a:round/>
            <a:headEnd len="sm" w="sm" type="none"/>
            <a:tailEnd len="sm" w="sm" type="none"/>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85" name="Google Shape;385;g3fae89d27e9_0_6"/>
          <p:cNvSpPr/>
          <p:nvPr/>
        </p:nvSpPr>
        <p:spPr>
          <a:xfrm>
            <a:off x="2394718" y="3993124"/>
            <a:ext cx="484800" cy="484800"/>
          </a:xfrm>
          <a:prstGeom prst="ellipse">
            <a:avLst/>
          </a:prstGeom>
          <a:solidFill>
            <a:srgbClr val="3A6EA5"/>
          </a:solidFill>
          <a:ln>
            <a:noFill/>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86" name="Google Shape;386;g3fae89d27e9_0_6"/>
          <p:cNvSpPr/>
          <p:nvPr/>
        </p:nvSpPr>
        <p:spPr>
          <a:xfrm>
            <a:off x="2394718" y="3993124"/>
            <a:ext cx="484800" cy="484800"/>
          </a:xfrm>
          <a:prstGeom prst="rect">
            <a:avLst/>
          </a:prstGeom>
          <a:solidFill>
            <a:srgbClr val="528A62"/>
          </a:solidFill>
          <a:ln>
            <a:noFill/>
          </a:ln>
        </p:spPr>
        <p:txBody>
          <a:bodyPr anchorCtr="0" anchor="ctr" bIns="63725" lIns="127500" spcFirstLastPara="1" rIns="127500" wrap="square" tIns="63725">
            <a:noAutofit/>
          </a:bodyPr>
          <a:lstStyle/>
          <a:p>
            <a:pPr indent="0" lvl="0" marL="0" marR="0" rtl="0" algn="ctr">
              <a:lnSpc>
                <a:spcPct val="100000"/>
              </a:lnSpc>
              <a:spcBef>
                <a:spcPts val="0"/>
              </a:spcBef>
              <a:spcAft>
                <a:spcPts val="0"/>
              </a:spcAft>
              <a:buClr>
                <a:srgbClr val="FFFFFF"/>
              </a:buClr>
              <a:buSzPts val="1859"/>
              <a:buFont typeface="Calibri"/>
              <a:buNone/>
            </a:pPr>
            <a:r>
              <a:rPr b="1" i="0" lang="en-US" sz="1859" u="none" cap="none" strike="noStrike">
                <a:solidFill>
                  <a:srgbClr val="FFFFFF"/>
                </a:solidFill>
                <a:latin typeface="Arial"/>
                <a:ea typeface="Arial"/>
                <a:cs typeface="Arial"/>
                <a:sym typeface="Arial"/>
              </a:rPr>
              <a:t>3</a:t>
            </a:r>
            <a:endParaRPr b="0" i="0" sz="2603" u="none" cap="none" strike="noStrike">
              <a:solidFill>
                <a:srgbClr val="000000"/>
              </a:solidFill>
              <a:latin typeface="Arial"/>
              <a:ea typeface="Arial"/>
              <a:cs typeface="Arial"/>
              <a:sym typeface="Arial"/>
            </a:endParaRPr>
          </a:p>
        </p:txBody>
      </p:sp>
      <p:sp>
        <p:nvSpPr>
          <p:cNvPr id="387" name="Google Shape;387;g3fae89d27e9_0_6"/>
          <p:cNvSpPr/>
          <p:nvPr/>
        </p:nvSpPr>
        <p:spPr>
          <a:xfrm>
            <a:off x="3096048" y="3903864"/>
            <a:ext cx="26781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17233F"/>
              </a:buClr>
              <a:buSzPts val="1673"/>
              <a:buFont typeface="Calibri"/>
              <a:buNone/>
            </a:pPr>
            <a:r>
              <a:rPr b="1" i="0" lang="en-US" sz="1673" u="none" cap="none" strike="noStrike">
                <a:solidFill>
                  <a:srgbClr val="17233F"/>
                </a:solidFill>
                <a:latin typeface="Arial"/>
                <a:ea typeface="Arial"/>
                <a:cs typeface="Arial"/>
                <a:sym typeface="Arial"/>
              </a:rPr>
              <a:t>문장 중복 제거</a:t>
            </a:r>
            <a:endParaRPr b="0" i="0" sz="2603" u="none" cap="none" strike="noStrike">
              <a:solidFill>
                <a:srgbClr val="000000"/>
              </a:solidFill>
              <a:latin typeface="Arial"/>
              <a:ea typeface="Arial"/>
              <a:cs typeface="Arial"/>
              <a:sym typeface="Arial"/>
            </a:endParaRPr>
          </a:p>
        </p:txBody>
      </p:sp>
      <p:sp>
        <p:nvSpPr>
          <p:cNvPr id="388" name="Google Shape;388;g3fae89d27e9_0_6"/>
          <p:cNvSpPr/>
          <p:nvPr/>
        </p:nvSpPr>
        <p:spPr>
          <a:xfrm>
            <a:off x="5837611" y="3903864"/>
            <a:ext cx="55467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6B7686"/>
              </a:buClr>
              <a:buSzPts val="1487"/>
              <a:buFont typeface="Calibri"/>
              <a:buNone/>
            </a:pPr>
            <a:r>
              <a:rPr b="0" i="0" lang="en-US" sz="1487" u="none" cap="none" strike="noStrike">
                <a:solidFill>
                  <a:srgbClr val="6B7686"/>
                </a:solidFill>
                <a:latin typeface="Arial"/>
                <a:ea typeface="Arial"/>
                <a:cs typeface="Arial"/>
                <a:sym typeface="Arial"/>
              </a:rPr>
              <a:t>반복 수집된 동일 문장 중 처음 등장한 것만 보존</a:t>
            </a:r>
            <a:endParaRPr b="0" i="0" sz="2603" u="none" cap="none" strike="noStrike">
              <a:solidFill>
                <a:srgbClr val="000000"/>
              </a:solidFill>
              <a:latin typeface="Arial"/>
              <a:ea typeface="Arial"/>
              <a:cs typeface="Arial"/>
              <a:sym typeface="Arial"/>
            </a:endParaRPr>
          </a:p>
        </p:txBody>
      </p:sp>
      <p:sp>
        <p:nvSpPr>
          <p:cNvPr id="389" name="Google Shape;389;g3fae89d27e9_0_6"/>
          <p:cNvSpPr/>
          <p:nvPr/>
        </p:nvSpPr>
        <p:spPr>
          <a:xfrm>
            <a:off x="2203446" y="4783711"/>
            <a:ext cx="9308700" cy="739500"/>
          </a:xfrm>
          <a:prstGeom prst="roundRect">
            <a:avLst>
              <a:gd fmla="val 10345" name="adj"/>
            </a:avLst>
          </a:prstGeom>
          <a:solidFill>
            <a:srgbClr val="FFFFFF"/>
          </a:solidFill>
          <a:ln cap="flat" cmpd="sng" w="23625">
            <a:solidFill>
              <a:srgbClr val="E3E8EF"/>
            </a:solidFill>
            <a:prstDash val="solid"/>
            <a:round/>
            <a:headEnd len="sm" w="sm" type="none"/>
            <a:tailEnd len="sm" w="sm" type="none"/>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90" name="Google Shape;390;g3fae89d27e9_0_6"/>
          <p:cNvSpPr/>
          <p:nvPr/>
        </p:nvSpPr>
        <p:spPr>
          <a:xfrm>
            <a:off x="2394718" y="4911225"/>
            <a:ext cx="484800" cy="484800"/>
          </a:xfrm>
          <a:prstGeom prst="ellipse">
            <a:avLst/>
          </a:prstGeom>
          <a:solidFill>
            <a:srgbClr val="3A6EA5"/>
          </a:solidFill>
          <a:ln>
            <a:noFill/>
          </a:ln>
        </p:spPr>
        <p:txBody>
          <a:bodyPr anchorCtr="0" anchor="ctr" bIns="127500" lIns="127500" spcFirstLastPara="1" rIns="127500" wrap="square" tIns="127500">
            <a:noAutofit/>
          </a:bodyPr>
          <a:lstStyle/>
          <a:p>
            <a:pPr indent="0" lvl="0" marL="0" marR="0" rtl="0" algn="l">
              <a:lnSpc>
                <a:spcPct val="100000"/>
              </a:lnSpc>
              <a:spcBef>
                <a:spcPts val="0"/>
              </a:spcBef>
              <a:spcAft>
                <a:spcPts val="0"/>
              </a:spcAft>
              <a:buClr>
                <a:srgbClr val="000000"/>
              </a:buClr>
              <a:buSzPts val="3347"/>
              <a:buFont typeface="Arial"/>
              <a:buNone/>
            </a:pPr>
            <a:r>
              <a:t/>
            </a:r>
            <a:endParaRPr b="0" i="0" sz="3347" u="none" cap="none" strike="noStrike">
              <a:solidFill>
                <a:srgbClr val="000000"/>
              </a:solidFill>
              <a:latin typeface="Arial"/>
              <a:ea typeface="Arial"/>
              <a:cs typeface="Arial"/>
              <a:sym typeface="Arial"/>
            </a:endParaRPr>
          </a:p>
        </p:txBody>
      </p:sp>
      <p:sp>
        <p:nvSpPr>
          <p:cNvPr id="391" name="Google Shape;391;g3fae89d27e9_0_6"/>
          <p:cNvSpPr/>
          <p:nvPr/>
        </p:nvSpPr>
        <p:spPr>
          <a:xfrm>
            <a:off x="2394718" y="4911225"/>
            <a:ext cx="484800" cy="484800"/>
          </a:xfrm>
          <a:prstGeom prst="rect">
            <a:avLst/>
          </a:prstGeom>
          <a:solidFill>
            <a:srgbClr val="528A62"/>
          </a:solidFill>
          <a:ln>
            <a:noFill/>
          </a:ln>
        </p:spPr>
        <p:txBody>
          <a:bodyPr anchorCtr="0" anchor="ctr" bIns="63725" lIns="127500" spcFirstLastPara="1" rIns="127500" wrap="square" tIns="63725">
            <a:noAutofit/>
          </a:bodyPr>
          <a:lstStyle/>
          <a:p>
            <a:pPr indent="0" lvl="0" marL="0" marR="0" rtl="0" algn="ctr">
              <a:lnSpc>
                <a:spcPct val="100000"/>
              </a:lnSpc>
              <a:spcBef>
                <a:spcPts val="0"/>
              </a:spcBef>
              <a:spcAft>
                <a:spcPts val="0"/>
              </a:spcAft>
              <a:buClr>
                <a:srgbClr val="FFFFFF"/>
              </a:buClr>
              <a:buSzPts val="1859"/>
              <a:buFont typeface="Calibri"/>
              <a:buNone/>
            </a:pPr>
            <a:r>
              <a:rPr b="1" i="0" lang="en-US" sz="1859" u="none" cap="none" strike="noStrike">
                <a:solidFill>
                  <a:srgbClr val="FFFFFF"/>
                </a:solidFill>
                <a:latin typeface="Arial"/>
                <a:ea typeface="Arial"/>
                <a:cs typeface="Arial"/>
                <a:sym typeface="Arial"/>
              </a:rPr>
              <a:t>4</a:t>
            </a:r>
            <a:endParaRPr b="0" i="0" sz="2603" u="none" cap="none" strike="noStrike">
              <a:solidFill>
                <a:srgbClr val="000000"/>
              </a:solidFill>
              <a:latin typeface="Arial"/>
              <a:ea typeface="Arial"/>
              <a:cs typeface="Arial"/>
              <a:sym typeface="Arial"/>
            </a:endParaRPr>
          </a:p>
        </p:txBody>
      </p:sp>
      <p:sp>
        <p:nvSpPr>
          <p:cNvPr id="392" name="Google Shape;392;g3fae89d27e9_0_6"/>
          <p:cNvSpPr/>
          <p:nvPr/>
        </p:nvSpPr>
        <p:spPr>
          <a:xfrm>
            <a:off x="3096048" y="4821965"/>
            <a:ext cx="26781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17233F"/>
              </a:buClr>
              <a:buSzPts val="1673"/>
              <a:buFont typeface="Calibri"/>
              <a:buNone/>
            </a:pPr>
            <a:r>
              <a:rPr b="1" i="0" lang="en-US" sz="1673" u="none" cap="none" strike="noStrike">
                <a:solidFill>
                  <a:srgbClr val="17233F"/>
                </a:solidFill>
                <a:latin typeface="Arial"/>
                <a:ea typeface="Arial"/>
                <a:cs typeface="Arial"/>
                <a:sym typeface="Arial"/>
              </a:rPr>
              <a:t>기자 서명 제거</a:t>
            </a:r>
            <a:endParaRPr b="0" i="0" sz="2603" u="none" cap="none" strike="noStrike">
              <a:solidFill>
                <a:srgbClr val="000000"/>
              </a:solidFill>
              <a:latin typeface="Arial"/>
              <a:ea typeface="Arial"/>
              <a:cs typeface="Arial"/>
              <a:sym typeface="Arial"/>
            </a:endParaRPr>
          </a:p>
        </p:txBody>
      </p:sp>
      <p:sp>
        <p:nvSpPr>
          <p:cNvPr id="393" name="Google Shape;393;g3fae89d27e9_0_6"/>
          <p:cNvSpPr/>
          <p:nvPr/>
        </p:nvSpPr>
        <p:spPr>
          <a:xfrm>
            <a:off x="5837611" y="4821965"/>
            <a:ext cx="5546700" cy="637500"/>
          </a:xfrm>
          <a:prstGeom prst="rect">
            <a:avLst/>
          </a:prstGeom>
          <a:noFill/>
          <a:ln>
            <a:noFill/>
          </a:ln>
        </p:spPr>
        <p:txBody>
          <a:bodyPr anchorCtr="0" anchor="ctr" bIns="63725" lIns="127500" spcFirstLastPara="1" rIns="127500" wrap="square" tIns="63725">
            <a:noAutofit/>
          </a:bodyPr>
          <a:lstStyle/>
          <a:p>
            <a:pPr indent="0" lvl="0" marL="0" marR="0" rtl="0" algn="l">
              <a:lnSpc>
                <a:spcPct val="100000"/>
              </a:lnSpc>
              <a:spcBef>
                <a:spcPts val="0"/>
              </a:spcBef>
              <a:spcAft>
                <a:spcPts val="0"/>
              </a:spcAft>
              <a:buClr>
                <a:srgbClr val="6B7686"/>
              </a:buClr>
              <a:buSzPts val="1487"/>
              <a:buFont typeface="Calibri"/>
              <a:buNone/>
            </a:pPr>
            <a:r>
              <a:rPr b="0" i="0" lang="en-US" sz="1487" u="none" cap="none" strike="noStrike">
                <a:solidFill>
                  <a:srgbClr val="6B7686"/>
                </a:solidFill>
                <a:latin typeface="Arial"/>
                <a:ea typeface="Arial"/>
                <a:cs typeface="Arial"/>
                <a:sym typeface="Arial"/>
              </a:rPr>
              <a:t>인용부호 + 발화귀속 표현 유무로 '진짜 인용문'과 '기자 소개 문장' 구분 후 후자만 제거</a:t>
            </a:r>
            <a:endParaRPr b="0" i="0" sz="2603" u="none" cap="none" strike="noStrike">
              <a:solidFill>
                <a:srgbClr val="000000"/>
              </a:solidFill>
              <a:latin typeface="Arial"/>
              <a:ea typeface="Arial"/>
              <a:cs typeface="Arial"/>
              <a:sym typeface="Arial"/>
            </a:endParaRPr>
          </a:p>
        </p:txBody>
      </p:sp>
      <p:sp>
        <p:nvSpPr>
          <p:cNvPr id="394" name="Google Shape;394;g3fae89d27e9_0_6"/>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fae89d27e9_0_6"/>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기사 정제</a:t>
            </a:r>
            <a:endParaRPr b="0" i="0" sz="1400" u="none" cap="none" strike="noStrike">
              <a:solidFill>
                <a:srgbClr val="000000"/>
              </a:solidFill>
              <a:latin typeface="Arial"/>
              <a:ea typeface="Arial"/>
              <a:cs typeface="Arial"/>
              <a:sym typeface="Arial"/>
            </a:endParaRPr>
          </a:p>
        </p:txBody>
      </p:sp>
      <p:sp>
        <p:nvSpPr>
          <p:cNvPr id="396" name="Google Shape;396;g3fae89d27e9_0_6"/>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3fae89d27e9_0_6"/>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3fae89d27e9_0_6"/>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fae89d27e9_0_6"/>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fae89d27e9_0_6"/>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g3fae89d27e9_0_6"/>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402" name="Google Shape;402;g3fae89d27e9_0_6"/>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403" name="Google Shape;403;g3fae89d27e9_0_6"/>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404" name="Google Shape;404;g3fae89d27e9_0_6"/>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405" name="Google Shape;405;g3fae89d27e9_0_6"/>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406" name="Google Shape;406;g3fae89d27e9_0_6"/>
          <p:cNvGrpSpPr/>
          <p:nvPr/>
        </p:nvGrpSpPr>
        <p:grpSpPr>
          <a:xfrm>
            <a:off x="283429" y="3067107"/>
            <a:ext cx="209400" cy="209700"/>
            <a:chOff x="-3275292" y="2173036"/>
            <a:chExt cx="209400" cy="209700"/>
          </a:xfrm>
        </p:grpSpPr>
        <p:sp>
          <p:nvSpPr>
            <p:cNvPr id="407" name="Google Shape;407;g3fae89d27e9_0_6"/>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3fae89d27e9_0_6"/>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9" name="Google Shape;409;g3fae89d27e9_0_6"/>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3fae89d27e9_0_6"/>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fae89d27e9_0_6"/>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3fae89d27e9_0_6"/>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g3fae89d27e9_0_6"/>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g3fae89d27e9_0_6"/>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g3fae89d27e9_0_6"/>
          <p:cNvSpPr/>
          <p:nvPr/>
        </p:nvSpPr>
        <p:spPr>
          <a:xfrm rot="-5400000">
            <a:off x="4980356" y="-175950"/>
            <a:ext cx="27000" cy="12267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16" name="Google Shape;416;g3fae89d27e9_0_6"/>
          <p:cNvSpPr/>
          <p:nvPr/>
        </p:nvSpPr>
        <p:spPr>
          <a:xfrm rot="-5400000">
            <a:off x="8709050" y="-2650623"/>
            <a:ext cx="35700" cy="61845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17" name="Google Shape;417;g3fae89d27e9_0_6"/>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18" name="Google Shape;418;g3fae89d27e9_0_6"/>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419" name="Google Shape;419;g3fae89d27e9_0_6"/>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20" name="Google Shape;420;g3fae89d27e9_0_6"/>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421" name="Google Shape;421;g3fae89d27e9_0_6"/>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422" name="Google Shape;422;g3fae89d27e9_0_6"/>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423" name="Google Shape;423;g3fae89d27e9_0_6"/>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424" name="Google Shape;424;g3fae89d27e9_0_6"/>
          <p:cNvSpPr/>
          <p:nvPr/>
        </p:nvSpPr>
        <p:spPr>
          <a:xfrm rot="-5400000">
            <a:off x="5548872"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425" name="Google Shape;425;g3fae89d27e9_0_6"/>
          <p:cNvSpPr/>
          <p:nvPr/>
        </p:nvSpPr>
        <p:spPr>
          <a:xfrm rot="-5400000">
            <a:off x="5580441"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426" name="Google Shape;426;g3fae89d27e9_0_6"/>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427" name="Google Shape;427;g3fae89d27e9_0_6"/>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28" name="Google Shape;428;g3fae89d27e9_0_6"/>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429" name="Google Shape;429;g3fae89d27e9_0_6"/>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30" name="Google Shape;430;g3fae89d27e9_0_6"/>
          <p:cNvSpPr/>
          <p:nvPr/>
        </p:nvSpPr>
        <p:spPr>
          <a:xfrm rot="-5400000">
            <a:off x="10461099" y="3783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31" name="Google Shape;431;g3fae89d27e9_0_6"/>
          <p:cNvSpPr/>
          <p:nvPr/>
        </p:nvSpPr>
        <p:spPr>
          <a:xfrm rot="-5400000">
            <a:off x="9325074" y="371811"/>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32" name="Google Shape;432;g3fae89d27e9_0_6"/>
          <p:cNvSpPr/>
          <p:nvPr/>
        </p:nvSpPr>
        <p:spPr>
          <a:xfrm rot="-5400000">
            <a:off x="8116374" y="3783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33" name="Google Shape;433;g3fae89d27e9_0_6"/>
          <p:cNvSpPr/>
          <p:nvPr/>
        </p:nvSpPr>
        <p:spPr>
          <a:xfrm rot="-5400000">
            <a:off x="6800511" y="3783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438" name="Shape 438"/>
        <p:cNvGrpSpPr/>
        <p:nvPr/>
      </p:nvGrpSpPr>
      <p:grpSpPr>
        <a:xfrm>
          <a:off x="0" y="0"/>
          <a:ext cx="0" cy="0"/>
          <a:chOff x="0" y="0"/>
          <a:chExt cx="0" cy="0"/>
        </a:xfrm>
      </p:grpSpPr>
      <p:sp>
        <p:nvSpPr>
          <p:cNvPr id="439" name="Google Shape;439;g3faefd80bea_4_0"/>
          <p:cNvSpPr/>
          <p:nvPr/>
        </p:nvSpPr>
        <p:spPr>
          <a:xfrm>
            <a:off x="-18350"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0" name="Google Shape;440;g3faefd80bea_4_0"/>
          <p:cNvCxnSpPr/>
          <p:nvPr/>
        </p:nvCxnSpPr>
        <p:spPr>
          <a:xfrm>
            <a:off x="182880" y="5742432"/>
            <a:ext cx="1353312" cy="0"/>
          </a:xfrm>
          <a:prstGeom prst="straightConnector1">
            <a:avLst/>
          </a:prstGeom>
          <a:noFill/>
          <a:ln cap="flat" cmpd="sng" w="11425">
            <a:solidFill>
              <a:srgbClr val="D7E3DA"/>
            </a:solidFill>
            <a:prstDash val="solid"/>
            <a:round/>
            <a:headEnd len="sm" w="sm" type="none"/>
            <a:tailEnd len="sm" w="sm" type="none"/>
          </a:ln>
        </p:spPr>
      </p:cxnSp>
      <p:sp>
        <p:nvSpPr>
          <p:cNvPr id="441" name="Google Shape;441;g3faefd80bea_4_0"/>
          <p:cNvSpPr/>
          <p:nvPr/>
        </p:nvSpPr>
        <p:spPr>
          <a:xfrm>
            <a:off x="246888" y="5989320"/>
            <a:ext cx="73152" cy="73152"/>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3faefd80bea_4_0"/>
          <p:cNvSpPr/>
          <p:nvPr/>
        </p:nvSpPr>
        <p:spPr>
          <a:xfrm>
            <a:off x="393192" y="5925312"/>
            <a:ext cx="1097280" cy="13716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KOSIS 공식 통계 연결</a:t>
            </a:r>
            <a:endParaRPr b="0" i="0" sz="730" u="none" cap="none" strike="noStrike">
              <a:solidFill>
                <a:schemeClr val="dk1"/>
              </a:solidFill>
              <a:latin typeface="Malgun Gothic"/>
              <a:ea typeface="Malgun Gothic"/>
              <a:cs typeface="Malgun Gothic"/>
              <a:sym typeface="Malgun Gothic"/>
            </a:endParaRPr>
          </a:p>
        </p:txBody>
      </p:sp>
      <p:sp>
        <p:nvSpPr>
          <p:cNvPr id="443" name="Google Shape;443;g3faefd80bea_4_0"/>
          <p:cNvSpPr/>
          <p:nvPr/>
        </p:nvSpPr>
        <p:spPr>
          <a:xfrm>
            <a:off x="256032" y="6199632"/>
            <a:ext cx="1234440" cy="146304"/>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620" u="none" cap="none" strike="noStrike">
                <a:solidFill>
                  <a:srgbClr val="8A9B92"/>
                </a:solidFill>
                <a:latin typeface="Malgun Gothic"/>
                <a:ea typeface="Malgun Gothic"/>
                <a:cs typeface="Malgun Gothic"/>
                <a:sym typeface="Malgun Gothic"/>
              </a:rPr>
              <a:t>HCX 주장 추출 · KOSIS 좌표 대조</a:t>
            </a:r>
            <a:endParaRPr b="0" i="0" sz="620" u="none" cap="none" strike="noStrike">
              <a:solidFill>
                <a:schemeClr val="dk1"/>
              </a:solidFill>
              <a:latin typeface="Malgun Gothic"/>
              <a:ea typeface="Malgun Gothic"/>
              <a:cs typeface="Malgun Gothic"/>
              <a:sym typeface="Malgun Gothic"/>
            </a:endParaRPr>
          </a:p>
        </p:txBody>
      </p:sp>
      <p:sp>
        <p:nvSpPr>
          <p:cNvPr id="444" name="Google Shape;444;g3faefd80bea_4_0"/>
          <p:cNvSpPr/>
          <p:nvPr/>
        </p:nvSpPr>
        <p:spPr>
          <a:xfrm>
            <a:off x="0" y="0"/>
            <a:ext cx="12191695" cy="100584"/>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g3faefd80bea_4_0"/>
          <p:cNvSpPr/>
          <p:nvPr/>
        </p:nvSpPr>
        <p:spPr>
          <a:xfrm>
            <a:off x="2057400" y="329184"/>
            <a:ext cx="1965960" cy="292608"/>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3faefd80bea_4_0"/>
          <p:cNvSpPr/>
          <p:nvPr/>
        </p:nvSpPr>
        <p:spPr>
          <a:xfrm>
            <a:off x="2103120" y="329184"/>
            <a:ext cx="1874520" cy="292608"/>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03 · 구조화</a:t>
            </a:r>
            <a:endParaRPr b="0" i="0" sz="850" u="none" cap="none" strike="noStrike">
              <a:solidFill>
                <a:schemeClr val="dk1"/>
              </a:solidFill>
              <a:latin typeface="Malgun Gothic"/>
              <a:ea typeface="Malgun Gothic"/>
              <a:cs typeface="Malgun Gothic"/>
              <a:sym typeface="Malgun Gothic"/>
            </a:endParaRPr>
          </a:p>
        </p:txBody>
      </p:sp>
      <p:sp>
        <p:nvSpPr>
          <p:cNvPr id="447" name="Google Shape;447;g3faefd80bea_4_0"/>
          <p:cNvSpPr/>
          <p:nvPr/>
        </p:nvSpPr>
        <p:spPr>
          <a:xfrm>
            <a:off x="2227489" y="802114"/>
            <a:ext cx="9738300" cy="4755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Prompt와 Structured Output</a:t>
            </a:r>
            <a:endParaRPr b="0" i="0" sz="2600" u="none" cap="none" strike="noStrike">
              <a:solidFill>
                <a:schemeClr val="dk1"/>
              </a:solidFill>
              <a:latin typeface="Malgun Gothic"/>
              <a:ea typeface="Malgun Gothic"/>
              <a:cs typeface="Malgun Gothic"/>
              <a:sym typeface="Malgun Gothic"/>
            </a:endParaRPr>
          </a:p>
        </p:txBody>
      </p:sp>
      <p:sp>
        <p:nvSpPr>
          <p:cNvPr id="448" name="Google Shape;448;g3faefd80bea_4_0"/>
          <p:cNvSpPr/>
          <p:nvPr/>
        </p:nvSpPr>
        <p:spPr>
          <a:xfrm>
            <a:off x="2227489" y="1295890"/>
            <a:ext cx="9738300" cy="2559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F7E76"/>
              </a:buClr>
              <a:buSzPts val="1150"/>
              <a:buFont typeface="Malgun Gothic"/>
              <a:buNone/>
            </a:pPr>
            <a:r>
              <a:rPr b="0" i="0" lang="en-US" sz="1150" u="none" cap="none" strike="noStrike">
                <a:solidFill>
                  <a:srgbClr val="6F7E76"/>
                </a:solidFill>
                <a:latin typeface="Malgun Gothic"/>
                <a:ea typeface="Malgun Gothic"/>
                <a:cs typeface="Malgun Gothic"/>
                <a:sym typeface="Malgun Gothic"/>
              </a:rPr>
              <a:t>대화형 판단 대신 재실행 가능한 스키마 출력 기능을 사용</a:t>
            </a:r>
            <a:endParaRPr b="0" i="0" sz="1150" u="none" cap="none" strike="noStrike">
              <a:solidFill>
                <a:schemeClr val="dk1"/>
              </a:solidFill>
              <a:latin typeface="Malgun Gothic"/>
              <a:ea typeface="Malgun Gothic"/>
              <a:cs typeface="Malgun Gothic"/>
              <a:sym typeface="Malgun Gothic"/>
            </a:endParaRPr>
          </a:p>
        </p:txBody>
      </p:sp>
      <p:sp>
        <p:nvSpPr>
          <p:cNvPr id="449" name="Google Shape;449;g3faefd80bea_4_0"/>
          <p:cNvSpPr/>
          <p:nvPr/>
        </p:nvSpPr>
        <p:spPr>
          <a:xfrm>
            <a:off x="2057400" y="6510528"/>
            <a:ext cx="2560320" cy="13716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graphicFrame>
        <p:nvGraphicFramePr>
          <p:cNvPr id="450" name="Google Shape;450;g3faefd80bea_4_0"/>
          <p:cNvGraphicFramePr/>
          <p:nvPr/>
        </p:nvGraphicFramePr>
        <p:xfrm>
          <a:off x="2329543" y="1804307"/>
          <a:ext cx="3000000" cy="3000000"/>
        </p:xfrm>
        <a:graphic>
          <a:graphicData uri="http://schemas.openxmlformats.org/drawingml/2006/table">
            <a:tbl>
              <a:tblPr>
                <a:noFill/>
                <a:tableStyleId>{45964FCD-4E89-4973-9509-FDA47E31D4AA}</a:tableStyleId>
              </a:tblPr>
              <a:tblGrid>
                <a:gridCol w="2011675"/>
                <a:gridCol w="7223750"/>
              </a:tblGrid>
              <a:tr h="457200">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450" u="none" cap="none" strike="noStrike">
                          <a:solidFill>
                            <a:srgbClr val="22372E"/>
                          </a:solidFill>
                          <a:latin typeface="Malgun Gothic"/>
                          <a:ea typeface="Malgun Gothic"/>
                          <a:cs typeface="Malgun Gothic"/>
                          <a:sym typeface="Malgun Gothic"/>
                        </a:rPr>
                        <a:t>구분</a:t>
                      </a:r>
                      <a:endParaRPr sz="14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450" u="none" cap="none" strike="noStrike">
                          <a:solidFill>
                            <a:srgbClr val="22372E"/>
                          </a:solidFill>
                          <a:latin typeface="Malgun Gothic"/>
                          <a:ea typeface="Malgun Gothic"/>
                          <a:cs typeface="Malgun Gothic"/>
                          <a:sym typeface="Malgun Gothic"/>
                        </a:rPr>
                        <a:t>핵심 내용</a:t>
                      </a:r>
                      <a:endParaRPr sz="14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r>
              <a:tr h="4572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370" u="none" cap="none" strike="noStrike">
                          <a:solidFill>
                            <a:srgbClr val="22372E"/>
                          </a:solidFill>
                          <a:latin typeface="Malgun Gothic"/>
                          <a:ea typeface="Malgun Gothic"/>
                          <a:cs typeface="Malgun Gothic"/>
                          <a:sym typeface="Malgun Gothic"/>
                        </a:rPr>
                        <a:t>공통 문맥</a:t>
                      </a:r>
                      <a:endParaRPr sz="13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370" u="none" cap="none" strike="noStrike">
                          <a:solidFill>
                            <a:srgbClr val="22372E"/>
                          </a:solidFill>
                          <a:latin typeface="Malgun Gothic"/>
                          <a:ea typeface="Malgun Gothic"/>
                          <a:cs typeface="Malgun Gothic"/>
                          <a:sym typeface="Malgun Gothic"/>
                        </a:rPr>
                        <a:t>뉴스 문장, 이전/다음 문장, 날짜, 수치 후보를 함께 제공</a:t>
                      </a:r>
                      <a:endParaRPr sz="13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4572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370" u="none" cap="none" strike="noStrike">
                          <a:solidFill>
                            <a:srgbClr val="22372E"/>
                          </a:solidFill>
                          <a:latin typeface="Malgun Gothic"/>
                          <a:ea typeface="Malgun Gothic"/>
                          <a:cs typeface="Malgun Gothic"/>
                          <a:sym typeface="Malgun Gothic"/>
                        </a:rPr>
                        <a:t>출력 목적</a:t>
                      </a:r>
                      <a:endParaRPr sz="13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370" u="none" cap="none" strike="noStrike">
                          <a:solidFill>
                            <a:srgbClr val="22372E"/>
                          </a:solidFill>
                          <a:latin typeface="Malgun Gothic"/>
                          <a:ea typeface="Malgun Gothic"/>
                          <a:cs typeface="Malgun Gothic"/>
                          <a:sym typeface="Malgun Gothic"/>
                        </a:rPr>
                        <a:t>claim 여부와 measurement를 정해진 필드로 구조화</a:t>
                      </a:r>
                      <a:endParaRPr sz="13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4572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370" u="none" cap="none" strike="noStrike">
                          <a:solidFill>
                            <a:srgbClr val="22372E"/>
                          </a:solidFill>
                          <a:latin typeface="Malgun Gothic"/>
                          <a:ea typeface="Malgun Gothic"/>
                          <a:cs typeface="Malgun Gothic"/>
                          <a:sym typeface="Malgun Gothic"/>
                        </a:rPr>
                        <a:t>중요 원칙</a:t>
                      </a:r>
                      <a:endParaRPr sz="13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370" u="none" cap="none" strike="noStrike">
                          <a:solidFill>
                            <a:srgbClr val="22372E"/>
                          </a:solidFill>
                          <a:latin typeface="Malgun Gothic"/>
                          <a:ea typeface="Malgun Gothic"/>
                          <a:cs typeface="Malgun Gothic"/>
                          <a:sym typeface="Malgun Gothic"/>
                        </a:rPr>
                        <a:t>좌표 승인이나 최종 fact 판정은 HCX에 맡기지 않음</a:t>
                      </a:r>
                      <a:endParaRPr sz="13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bl>
          </a:graphicData>
        </a:graphic>
      </p:graphicFrame>
      <p:sp>
        <p:nvSpPr>
          <p:cNvPr id="451" name="Google Shape;451;g3faefd80bea_4_0"/>
          <p:cNvSpPr/>
          <p:nvPr/>
        </p:nvSpPr>
        <p:spPr>
          <a:xfrm>
            <a:off x="2316818" y="4021682"/>
            <a:ext cx="9235500" cy="1828800"/>
          </a:xfrm>
          <a:prstGeom prst="roundRect">
            <a:avLst>
              <a:gd fmla="val 10370" name="adj"/>
            </a:avLst>
          </a:prstGeom>
          <a:solidFill>
            <a:srgbClr val="FFFFFF"/>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2" name="Google Shape;452;g3faefd80bea_4_0"/>
          <p:cNvSpPr/>
          <p:nvPr/>
        </p:nvSpPr>
        <p:spPr>
          <a:xfrm>
            <a:off x="2558143" y="4182060"/>
            <a:ext cx="3200400" cy="2517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F7A4F"/>
              </a:buClr>
              <a:buSzPts val="1200"/>
              <a:buFont typeface="Malgun Gothic"/>
              <a:buNone/>
            </a:pPr>
            <a:r>
              <a:rPr b="1" i="0" lang="en-US" sz="1400" u="none" cap="none" strike="noStrike">
                <a:solidFill>
                  <a:srgbClr val="1F7A4F"/>
                </a:solidFill>
                <a:latin typeface="Malgun Gothic"/>
                <a:ea typeface="Malgun Gothic"/>
                <a:cs typeface="Malgun Gothic"/>
                <a:sym typeface="Malgun Gothic"/>
              </a:rPr>
              <a:t>Structured Output 예시 필드</a:t>
            </a:r>
            <a:endParaRPr b="0" i="0" sz="1400" u="none" cap="none" strike="noStrike">
              <a:solidFill>
                <a:schemeClr val="dk1"/>
              </a:solidFill>
              <a:latin typeface="Malgun Gothic"/>
              <a:ea typeface="Malgun Gothic"/>
              <a:cs typeface="Malgun Gothic"/>
              <a:sym typeface="Malgun Gothic"/>
            </a:endParaRPr>
          </a:p>
        </p:txBody>
      </p:sp>
      <p:sp>
        <p:nvSpPr>
          <p:cNvPr id="453" name="Google Shape;453;g3faefd80bea_4_0"/>
          <p:cNvSpPr/>
          <p:nvPr/>
        </p:nvSpPr>
        <p:spPr>
          <a:xfrm>
            <a:off x="2977243" y="4697121"/>
            <a:ext cx="1783200" cy="320400"/>
          </a:xfrm>
          <a:prstGeom prst="roundRect">
            <a:avLst>
              <a:gd fmla="val 5000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4" name="Google Shape;454;g3faefd80bea_4_0"/>
          <p:cNvSpPr/>
          <p:nvPr/>
        </p:nvSpPr>
        <p:spPr>
          <a:xfrm>
            <a:off x="3022963" y="4697121"/>
            <a:ext cx="1691700" cy="320400"/>
          </a:xfrm>
          <a:prstGeom prst="rect">
            <a:avLst/>
          </a:prstGeom>
          <a:noFill/>
          <a:ln>
            <a:noFill/>
          </a:ln>
        </p:spPr>
        <p:txBody>
          <a:bodyPr anchorCtr="0" anchor="ctr" bIns="125" lIns="125" spcFirstLastPara="1" rIns="125" wrap="square" tIns="125">
            <a:noAutofit/>
          </a:bodyPr>
          <a:lstStyle/>
          <a:p>
            <a:pPr indent="0" lvl="0" marL="0" marR="0" rtl="0" algn="ctr">
              <a:lnSpc>
                <a:spcPct val="95000"/>
              </a:lnSpc>
              <a:spcBef>
                <a:spcPts val="0"/>
              </a:spcBef>
              <a:spcAft>
                <a:spcPts val="0"/>
              </a:spcAft>
              <a:buClr>
                <a:srgbClr val="173F2F"/>
              </a:buClr>
              <a:buSzPts val="839"/>
              <a:buFont typeface="Malgun Gothic"/>
              <a:buNone/>
            </a:pPr>
            <a:r>
              <a:rPr b="1" i="0" lang="en-US" sz="1040" u="none" cap="none" strike="noStrike">
                <a:solidFill>
                  <a:srgbClr val="173F2F"/>
                </a:solidFill>
                <a:latin typeface="Malgun Gothic"/>
                <a:ea typeface="Malgun Gothic"/>
                <a:cs typeface="Malgun Gothic"/>
                <a:sym typeface="Malgun Gothic"/>
              </a:rPr>
              <a:t>value</a:t>
            </a:r>
            <a:endParaRPr b="0" i="0" sz="1040" u="none" cap="none" strike="noStrike">
              <a:solidFill>
                <a:schemeClr val="dk1"/>
              </a:solidFill>
              <a:latin typeface="Malgun Gothic"/>
              <a:ea typeface="Malgun Gothic"/>
              <a:cs typeface="Malgun Gothic"/>
              <a:sym typeface="Malgun Gothic"/>
            </a:endParaRPr>
          </a:p>
        </p:txBody>
      </p:sp>
      <p:sp>
        <p:nvSpPr>
          <p:cNvPr id="455" name="Google Shape;455;g3faefd80bea_4_0"/>
          <p:cNvSpPr/>
          <p:nvPr/>
        </p:nvSpPr>
        <p:spPr>
          <a:xfrm>
            <a:off x="5034643" y="4697121"/>
            <a:ext cx="1783200" cy="320400"/>
          </a:xfrm>
          <a:prstGeom prst="roundRect">
            <a:avLst>
              <a:gd fmla="val 5000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6" name="Google Shape;456;g3faefd80bea_4_0"/>
          <p:cNvSpPr/>
          <p:nvPr/>
        </p:nvSpPr>
        <p:spPr>
          <a:xfrm>
            <a:off x="5080363" y="4697121"/>
            <a:ext cx="1691700" cy="320400"/>
          </a:xfrm>
          <a:prstGeom prst="rect">
            <a:avLst/>
          </a:prstGeom>
          <a:noFill/>
          <a:ln>
            <a:noFill/>
          </a:ln>
        </p:spPr>
        <p:txBody>
          <a:bodyPr anchorCtr="0" anchor="ctr" bIns="125" lIns="125" spcFirstLastPara="1" rIns="125" wrap="square" tIns="125">
            <a:noAutofit/>
          </a:bodyPr>
          <a:lstStyle/>
          <a:p>
            <a:pPr indent="0" lvl="0" marL="0" marR="0" rtl="0" algn="ctr">
              <a:lnSpc>
                <a:spcPct val="95000"/>
              </a:lnSpc>
              <a:spcBef>
                <a:spcPts val="0"/>
              </a:spcBef>
              <a:spcAft>
                <a:spcPts val="0"/>
              </a:spcAft>
              <a:buClr>
                <a:srgbClr val="173F2F"/>
              </a:buClr>
              <a:buSzPts val="839"/>
              <a:buFont typeface="Malgun Gothic"/>
              <a:buNone/>
            </a:pPr>
            <a:r>
              <a:rPr b="1" i="0" lang="en-US" sz="1040" u="none" cap="none" strike="noStrike">
                <a:solidFill>
                  <a:srgbClr val="173F2F"/>
                </a:solidFill>
                <a:latin typeface="Malgun Gothic"/>
                <a:ea typeface="Malgun Gothic"/>
                <a:cs typeface="Malgun Gothic"/>
                <a:sym typeface="Malgun Gothic"/>
              </a:rPr>
              <a:t>unit</a:t>
            </a:r>
            <a:endParaRPr b="0" i="0" sz="1040" u="none" cap="none" strike="noStrike">
              <a:solidFill>
                <a:schemeClr val="dk1"/>
              </a:solidFill>
              <a:latin typeface="Malgun Gothic"/>
              <a:ea typeface="Malgun Gothic"/>
              <a:cs typeface="Malgun Gothic"/>
              <a:sym typeface="Malgun Gothic"/>
            </a:endParaRPr>
          </a:p>
        </p:txBody>
      </p:sp>
      <p:sp>
        <p:nvSpPr>
          <p:cNvPr id="457" name="Google Shape;457;g3faefd80bea_4_0"/>
          <p:cNvSpPr/>
          <p:nvPr/>
        </p:nvSpPr>
        <p:spPr>
          <a:xfrm>
            <a:off x="7092043" y="4697121"/>
            <a:ext cx="1783200" cy="320400"/>
          </a:xfrm>
          <a:prstGeom prst="roundRect">
            <a:avLst>
              <a:gd fmla="val 5000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8" name="Google Shape;458;g3faefd80bea_4_0"/>
          <p:cNvSpPr/>
          <p:nvPr/>
        </p:nvSpPr>
        <p:spPr>
          <a:xfrm>
            <a:off x="7137763" y="4697121"/>
            <a:ext cx="1691700" cy="320400"/>
          </a:xfrm>
          <a:prstGeom prst="rect">
            <a:avLst/>
          </a:prstGeom>
          <a:noFill/>
          <a:ln>
            <a:noFill/>
          </a:ln>
        </p:spPr>
        <p:txBody>
          <a:bodyPr anchorCtr="0" anchor="ctr" bIns="125" lIns="125" spcFirstLastPara="1" rIns="125" wrap="square" tIns="125">
            <a:noAutofit/>
          </a:bodyPr>
          <a:lstStyle/>
          <a:p>
            <a:pPr indent="0" lvl="0" marL="0" marR="0" rtl="0" algn="ctr">
              <a:lnSpc>
                <a:spcPct val="95000"/>
              </a:lnSpc>
              <a:spcBef>
                <a:spcPts val="0"/>
              </a:spcBef>
              <a:spcAft>
                <a:spcPts val="0"/>
              </a:spcAft>
              <a:buClr>
                <a:srgbClr val="173F2F"/>
              </a:buClr>
              <a:buSzPts val="839"/>
              <a:buFont typeface="Malgun Gothic"/>
              <a:buNone/>
            </a:pPr>
            <a:r>
              <a:rPr b="1" i="0" lang="en-US" sz="1040" u="none" cap="none" strike="noStrike">
                <a:solidFill>
                  <a:srgbClr val="173F2F"/>
                </a:solidFill>
                <a:latin typeface="Malgun Gothic"/>
                <a:ea typeface="Malgun Gothic"/>
                <a:cs typeface="Malgun Gothic"/>
                <a:sym typeface="Malgun Gothic"/>
              </a:rPr>
              <a:t>time_ref</a:t>
            </a:r>
            <a:endParaRPr b="0" i="0" sz="1040" u="none" cap="none" strike="noStrike">
              <a:solidFill>
                <a:schemeClr val="dk1"/>
              </a:solidFill>
              <a:latin typeface="Malgun Gothic"/>
              <a:ea typeface="Malgun Gothic"/>
              <a:cs typeface="Malgun Gothic"/>
              <a:sym typeface="Malgun Gothic"/>
            </a:endParaRPr>
          </a:p>
        </p:txBody>
      </p:sp>
      <p:sp>
        <p:nvSpPr>
          <p:cNvPr id="459" name="Google Shape;459;g3faefd80bea_4_0"/>
          <p:cNvSpPr/>
          <p:nvPr/>
        </p:nvSpPr>
        <p:spPr>
          <a:xfrm>
            <a:off x="9149443" y="4697121"/>
            <a:ext cx="1783200" cy="320400"/>
          </a:xfrm>
          <a:prstGeom prst="roundRect">
            <a:avLst>
              <a:gd fmla="val 5000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0" name="Google Shape;460;g3faefd80bea_4_0"/>
          <p:cNvSpPr/>
          <p:nvPr/>
        </p:nvSpPr>
        <p:spPr>
          <a:xfrm>
            <a:off x="9195163" y="4697121"/>
            <a:ext cx="1691700" cy="320400"/>
          </a:xfrm>
          <a:prstGeom prst="rect">
            <a:avLst/>
          </a:prstGeom>
          <a:noFill/>
          <a:ln>
            <a:noFill/>
          </a:ln>
        </p:spPr>
        <p:txBody>
          <a:bodyPr anchorCtr="0" anchor="ctr" bIns="125" lIns="125" spcFirstLastPara="1" rIns="125" wrap="square" tIns="125">
            <a:noAutofit/>
          </a:bodyPr>
          <a:lstStyle/>
          <a:p>
            <a:pPr indent="0" lvl="0" marL="0" marR="0" rtl="0" algn="ctr">
              <a:lnSpc>
                <a:spcPct val="95000"/>
              </a:lnSpc>
              <a:spcBef>
                <a:spcPts val="0"/>
              </a:spcBef>
              <a:spcAft>
                <a:spcPts val="0"/>
              </a:spcAft>
              <a:buClr>
                <a:srgbClr val="173F2F"/>
              </a:buClr>
              <a:buSzPts val="839"/>
              <a:buFont typeface="Malgun Gothic"/>
              <a:buNone/>
            </a:pPr>
            <a:r>
              <a:rPr b="1" i="0" lang="en-US" sz="1040" u="none" cap="none" strike="noStrike">
                <a:solidFill>
                  <a:srgbClr val="173F2F"/>
                </a:solidFill>
                <a:latin typeface="Malgun Gothic"/>
                <a:ea typeface="Malgun Gothic"/>
                <a:cs typeface="Malgun Gothic"/>
                <a:sym typeface="Malgun Gothic"/>
              </a:rPr>
              <a:t>measurement_role</a:t>
            </a:r>
            <a:endParaRPr b="0" i="0" sz="1040" u="none" cap="none" strike="noStrike">
              <a:solidFill>
                <a:schemeClr val="dk1"/>
              </a:solidFill>
              <a:latin typeface="Malgun Gothic"/>
              <a:ea typeface="Malgun Gothic"/>
              <a:cs typeface="Malgun Gothic"/>
              <a:sym typeface="Malgun Gothic"/>
            </a:endParaRPr>
          </a:p>
        </p:txBody>
      </p:sp>
      <p:sp>
        <p:nvSpPr>
          <p:cNvPr id="461" name="Google Shape;461;g3faefd80bea_4_0"/>
          <p:cNvSpPr/>
          <p:nvPr/>
        </p:nvSpPr>
        <p:spPr>
          <a:xfrm>
            <a:off x="4015468" y="5177844"/>
            <a:ext cx="1783200" cy="320400"/>
          </a:xfrm>
          <a:prstGeom prst="roundRect">
            <a:avLst>
              <a:gd fmla="val 5000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2" name="Google Shape;462;g3faefd80bea_4_0"/>
          <p:cNvSpPr/>
          <p:nvPr/>
        </p:nvSpPr>
        <p:spPr>
          <a:xfrm>
            <a:off x="4061188" y="5177844"/>
            <a:ext cx="1691700" cy="320400"/>
          </a:xfrm>
          <a:prstGeom prst="rect">
            <a:avLst/>
          </a:prstGeom>
          <a:noFill/>
          <a:ln>
            <a:noFill/>
          </a:ln>
        </p:spPr>
        <p:txBody>
          <a:bodyPr anchorCtr="0" anchor="ctr" bIns="125" lIns="125" spcFirstLastPara="1" rIns="125" wrap="square" tIns="125">
            <a:noAutofit/>
          </a:bodyPr>
          <a:lstStyle/>
          <a:p>
            <a:pPr indent="0" lvl="0" marL="0" marR="0" rtl="0" algn="ctr">
              <a:lnSpc>
                <a:spcPct val="95000"/>
              </a:lnSpc>
              <a:spcBef>
                <a:spcPts val="0"/>
              </a:spcBef>
              <a:spcAft>
                <a:spcPts val="0"/>
              </a:spcAft>
              <a:buClr>
                <a:srgbClr val="173F2F"/>
              </a:buClr>
              <a:buSzPts val="839"/>
              <a:buFont typeface="Malgun Gothic"/>
              <a:buNone/>
            </a:pPr>
            <a:r>
              <a:rPr b="1" i="0" lang="en-US" sz="1040" u="none" cap="none" strike="noStrike">
                <a:solidFill>
                  <a:srgbClr val="173F2F"/>
                </a:solidFill>
                <a:latin typeface="Malgun Gothic"/>
                <a:ea typeface="Malgun Gothic"/>
                <a:cs typeface="Malgun Gothic"/>
                <a:sym typeface="Malgun Gothic"/>
              </a:rPr>
              <a:t>source_org_raw</a:t>
            </a:r>
            <a:endParaRPr b="0" i="0" sz="1040" u="none" cap="none" strike="noStrike">
              <a:solidFill>
                <a:schemeClr val="dk1"/>
              </a:solidFill>
              <a:latin typeface="Malgun Gothic"/>
              <a:ea typeface="Malgun Gothic"/>
              <a:cs typeface="Malgun Gothic"/>
              <a:sym typeface="Malgun Gothic"/>
            </a:endParaRPr>
          </a:p>
        </p:txBody>
      </p:sp>
      <p:sp>
        <p:nvSpPr>
          <p:cNvPr id="463" name="Google Shape;463;g3faefd80bea_4_0"/>
          <p:cNvSpPr/>
          <p:nvPr/>
        </p:nvSpPr>
        <p:spPr>
          <a:xfrm>
            <a:off x="6072868" y="5177844"/>
            <a:ext cx="1783200" cy="320400"/>
          </a:xfrm>
          <a:prstGeom prst="roundRect">
            <a:avLst>
              <a:gd fmla="val 5000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4" name="Google Shape;464;g3faefd80bea_4_0"/>
          <p:cNvSpPr/>
          <p:nvPr/>
        </p:nvSpPr>
        <p:spPr>
          <a:xfrm>
            <a:off x="6118588" y="5177844"/>
            <a:ext cx="1691700" cy="320400"/>
          </a:xfrm>
          <a:prstGeom prst="rect">
            <a:avLst/>
          </a:prstGeom>
          <a:noFill/>
          <a:ln>
            <a:noFill/>
          </a:ln>
        </p:spPr>
        <p:txBody>
          <a:bodyPr anchorCtr="0" anchor="ctr" bIns="125" lIns="125" spcFirstLastPara="1" rIns="125" wrap="square" tIns="125">
            <a:noAutofit/>
          </a:bodyPr>
          <a:lstStyle/>
          <a:p>
            <a:pPr indent="0" lvl="0" marL="0" marR="0" rtl="0" algn="ctr">
              <a:lnSpc>
                <a:spcPct val="95000"/>
              </a:lnSpc>
              <a:spcBef>
                <a:spcPts val="0"/>
              </a:spcBef>
              <a:spcAft>
                <a:spcPts val="0"/>
              </a:spcAft>
              <a:buClr>
                <a:srgbClr val="173F2F"/>
              </a:buClr>
              <a:buSzPts val="839"/>
              <a:buFont typeface="Malgun Gothic"/>
              <a:buNone/>
            </a:pPr>
            <a:r>
              <a:rPr b="1" i="0" lang="en-US" sz="1040" u="none" cap="none" strike="noStrike">
                <a:solidFill>
                  <a:srgbClr val="173F2F"/>
                </a:solidFill>
                <a:latin typeface="Malgun Gothic"/>
                <a:ea typeface="Malgun Gothic"/>
                <a:cs typeface="Malgun Gothic"/>
                <a:sym typeface="Malgun Gothic"/>
              </a:rPr>
              <a:t>evidence_text</a:t>
            </a:r>
            <a:endParaRPr b="0" i="0" sz="1040" u="none" cap="none" strike="noStrike">
              <a:solidFill>
                <a:schemeClr val="dk1"/>
              </a:solidFill>
              <a:latin typeface="Malgun Gothic"/>
              <a:ea typeface="Malgun Gothic"/>
              <a:cs typeface="Malgun Gothic"/>
              <a:sym typeface="Malgun Gothic"/>
            </a:endParaRPr>
          </a:p>
        </p:txBody>
      </p:sp>
      <p:sp>
        <p:nvSpPr>
          <p:cNvPr id="465" name="Google Shape;465;g3faefd80bea_4_0"/>
          <p:cNvSpPr/>
          <p:nvPr/>
        </p:nvSpPr>
        <p:spPr>
          <a:xfrm>
            <a:off x="8130268" y="5177844"/>
            <a:ext cx="1783200" cy="320400"/>
          </a:xfrm>
          <a:prstGeom prst="roundRect">
            <a:avLst>
              <a:gd fmla="val 5000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6" name="Google Shape;466;g3faefd80bea_4_0"/>
          <p:cNvSpPr/>
          <p:nvPr/>
        </p:nvSpPr>
        <p:spPr>
          <a:xfrm>
            <a:off x="8175988" y="5177844"/>
            <a:ext cx="1691700" cy="320400"/>
          </a:xfrm>
          <a:prstGeom prst="rect">
            <a:avLst/>
          </a:prstGeom>
          <a:noFill/>
          <a:ln>
            <a:noFill/>
          </a:ln>
        </p:spPr>
        <p:txBody>
          <a:bodyPr anchorCtr="0" anchor="ctr" bIns="125" lIns="125" spcFirstLastPara="1" rIns="125" wrap="square" tIns="125">
            <a:noAutofit/>
          </a:bodyPr>
          <a:lstStyle/>
          <a:p>
            <a:pPr indent="0" lvl="0" marL="0" marR="0" rtl="0" algn="ctr">
              <a:lnSpc>
                <a:spcPct val="95000"/>
              </a:lnSpc>
              <a:spcBef>
                <a:spcPts val="0"/>
              </a:spcBef>
              <a:spcAft>
                <a:spcPts val="0"/>
              </a:spcAft>
              <a:buClr>
                <a:srgbClr val="173F2F"/>
              </a:buClr>
              <a:buSzPts val="839"/>
              <a:buFont typeface="Malgun Gothic"/>
              <a:buNone/>
            </a:pPr>
            <a:r>
              <a:rPr b="1" i="0" lang="en-US" sz="1040" u="none" cap="none" strike="noStrike">
                <a:solidFill>
                  <a:srgbClr val="173F2F"/>
                </a:solidFill>
                <a:latin typeface="Malgun Gothic"/>
                <a:ea typeface="Malgun Gothic"/>
                <a:cs typeface="Malgun Gothic"/>
                <a:sym typeface="Malgun Gothic"/>
              </a:rPr>
              <a:t>needs_review</a:t>
            </a:r>
            <a:endParaRPr b="0" i="0" sz="1040" u="none" cap="none" strike="noStrike">
              <a:solidFill>
                <a:schemeClr val="dk1"/>
              </a:solidFill>
              <a:latin typeface="Malgun Gothic"/>
              <a:ea typeface="Malgun Gothic"/>
              <a:cs typeface="Malgun Gothic"/>
              <a:sym typeface="Malgun Gothic"/>
            </a:endParaRPr>
          </a:p>
        </p:txBody>
      </p:sp>
      <p:sp>
        <p:nvSpPr>
          <p:cNvPr id="467" name="Google Shape;467;g3faefd80bea_4_0"/>
          <p:cNvSpPr/>
          <p:nvPr/>
        </p:nvSpPr>
        <p:spPr>
          <a:xfrm>
            <a:off x="452626" y="1513325"/>
            <a:ext cx="18900" cy="12612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g3faefd80bea_4_0"/>
          <p:cNvSpPr/>
          <p:nvPr/>
        </p:nvSpPr>
        <p:spPr>
          <a:xfrm flipH="1">
            <a:off x="449972" y="2741600"/>
            <a:ext cx="18900" cy="24294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g3faefd80bea_4_0"/>
          <p:cNvSpPr/>
          <p:nvPr/>
        </p:nvSpPr>
        <p:spPr>
          <a:xfrm>
            <a:off x="424044" y="1475225"/>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3faefd80bea_4_0"/>
          <p:cNvSpPr/>
          <p:nvPr/>
        </p:nvSpPr>
        <p:spPr>
          <a:xfrm>
            <a:off x="652638" y="141807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기사 입력</a:t>
            </a:r>
            <a:endParaRPr b="0" i="0" sz="750" u="none" cap="none" strike="noStrike">
              <a:solidFill>
                <a:srgbClr val="66786E"/>
              </a:solidFill>
              <a:latin typeface="Arial"/>
              <a:ea typeface="Arial"/>
              <a:cs typeface="Arial"/>
              <a:sym typeface="Arial"/>
            </a:endParaRPr>
          </a:p>
        </p:txBody>
      </p:sp>
      <p:sp>
        <p:nvSpPr>
          <p:cNvPr id="471" name="Google Shape;471;g3faefd80bea_4_0"/>
          <p:cNvSpPr/>
          <p:nvPr/>
        </p:nvSpPr>
        <p:spPr>
          <a:xfrm>
            <a:off x="652638" y="200862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전처리</a:t>
            </a:r>
            <a:endParaRPr b="0" i="0" sz="750" u="none" cap="none" strike="noStrike">
              <a:solidFill>
                <a:srgbClr val="66786E"/>
              </a:solidFill>
              <a:latin typeface="Arial"/>
              <a:ea typeface="Arial"/>
              <a:cs typeface="Arial"/>
              <a:sym typeface="Arial"/>
            </a:endParaRPr>
          </a:p>
        </p:txBody>
      </p:sp>
      <p:sp>
        <p:nvSpPr>
          <p:cNvPr id="472" name="Google Shape;472;g3faefd80bea_4_0"/>
          <p:cNvSpPr/>
          <p:nvPr/>
        </p:nvSpPr>
        <p:spPr>
          <a:xfrm>
            <a:off x="424044" y="2694425"/>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3faefd80bea_4_0"/>
          <p:cNvSpPr/>
          <p:nvPr/>
        </p:nvSpPr>
        <p:spPr>
          <a:xfrm>
            <a:off x="652638" y="261822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HCX-007</a:t>
            </a:r>
            <a:endParaRPr b="1" i="0" sz="850" u="none" cap="none" strike="noStrike">
              <a:solidFill>
                <a:srgbClr val="11271D"/>
              </a:solidFill>
              <a:latin typeface="Arial"/>
              <a:ea typeface="Arial"/>
              <a:cs typeface="Arial"/>
              <a:sym typeface="Arial"/>
            </a:endParaRPr>
          </a:p>
        </p:txBody>
      </p:sp>
      <p:sp>
        <p:nvSpPr>
          <p:cNvPr id="474" name="Google Shape;474;g3faefd80bea_4_0"/>
          <p:cNvSpPr/>
          <p:nvPr/>
        </p:nvSpPr>
        <p:spPr>
          <a:xfrm>
            <a:off x="652638" y="322782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ready gate</a:t>
            </a:r>
            <a:endParaRPr b="0" i="0" sz="1400" u="none" cap="none" strike="noStrike">
              <a:solidFill>
                <a:srgbClr val="9AA9A0"/>
              </a:solidFill>
              <a:latin typeface="Arial"/>
              <a:ea typeface="Arial"/>
              <a:cs typeface="Arial"/>
              <a:sym typeface="Arial"/>
            </a:endParaRPr>
          </a:p>
        </p:txBody>
      </p:sp>
      <p:sp>
        <p:nvSpPr>
          <p:cNvPr id="475" name="Google Shape;475;g3faefd80bea_4_0"/>
          <p:cNvSpPr/>
          <p:nvPr/>
        </p:nvSpPr>
        <p:spPr>
          <a:xfrm>
            <a:off x="652638" y="383742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BGE-M3</a:t>
            </a:r>
            <a:endParaRPr b="0" i="0" sz="750" u="none" cap="none" strike="noStrike">
              <a:solidFill>
                <a:srgbClr val="9AA9A0"/>
              </a:solidFill>
              <a:latin typeface="Arial"/>
              <a:ea typeface="Arial"/>
              <a:cs typeface="Arial"/>
              <a:sym typeface="Arial"/>
            </a:endParaRPr>
          </a:p>
        </p:txBody>
      </p:sp>
      <p:sp>
        <p:nvSpPr>
          <p:cNvPr id="476" name="Google Shape;476;g3faefd80bea_4_0"/>
          <p:cNvSpPr/>
          <p:nvPr/>
        </p:nvSpPr>
        <p:spPr>
          <a:xfrm>
            <a:off x="652638" y="444702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PostgreSQL</a:t>
            </a:r>
            <a:endParaRPr b="0" i="0" sz="750" u="none" cap="none" strike="noStrike">
              <a:solidFill>
                <a:srgbClr val="9AA9A0"/>
              </a:solidFill>
              <a:latin typeface="Arial"/>
              <a:ea typeface="Arial"/>
              <a:cs typeface="Arial"/>
              <a:sym typeface="Arial"/>
            </a:endParaRPr>
          </a:p>
        </p:txBody>
      </p:sp>
      <p:sp>
        <p:nvSpPr>
          <p:cNvPr id="477" name="Google Shape;477;g3faefd80bea_4_0"/>
          <p:cNvSpPr/>
          <p:nvPr/>
        </p:nvSpPr>
        <p:spPr>
          <a:xfrm>
            <a:off x="424044" y="5132825"/>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3faefd80bea_4_0"/>
          <p:cNvSpPr/>
          <p:nvPr/>
        </p:nvSpPr>
        <p:spPr>
          <a:xfrm>
            <a:off x="652638" y="505662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공식값 대조</a:t>
            </a:r>
            <a:endParaRPr b="0" i="0" sz="1400" u="none" cap="none" strike="noStrike">
              <a:solidFill>
                <a:srgbClr val="000000"/>
              </a:solidFill>
              <a:latin typeface="Arial"/>
              <a:ea typeface="Arial"/>
              <a:cs typeface="Arial"/>
              <a:sym typeface="Arial"/>
            </a:endParaRPr>
          </a:p>
        </p:txBody>
      </p:sp>
      <p:grpSp>
        <p:nvGrpSpPr>
          <p:cNvPr id="479" name="Google Shape;479;g3faefd80bea_4_0"/>
          <p:cNvGrpSpPr/>
          <p:nvPr/>
        </p:nvGrpSpPr>
        <p:grpSpPr>
          <a:xfrm>
            <a:off x="354721" y="2628113"/>
            <a:ext cx="209400" cy="209700"/>
            <a:chOff x="-1312129" y="2315975"/>
            <a:chExt cx="209400" cy="209700"/>
          </a:xfrm>
        </p:grpSpPr>
        <p:sp>
          <p:nvSpPr>
            <p:cNvPr id="480" name="Google Shape;480;g3faefd80bea_4_0"/>
            <p:cNvSpPr/>
            <p:nvPr/>
          </p:nvSpPr>
          <p:spPr>
            <a:xfrm>
              <a:off x="-1312129" y="2315975"/>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3faefd80bea_4_0"/>
            <p:cNvSpPr/>
            <p:nvPr/>
          </p:nvSpPr>
          <p:spPr>
            <a:xfrm>
              <a:off x="-1274030" y="2354075"/>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2" name="Google Shape;482;g3faefd80bea_4_0"/>
          <p:cNvSpPr/>
          <p:nvPr/>
        </p:nvSpPr>
        <p:spPr>
          <a:xfrm>
            <a:off x="421730" y="4526700"/>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3faefd80bea_4_0"/>
          <p:cNvSpPr/>
          <p:nvPr/>
        </p:nvSpPr>
        <p:spPr>
          <a:xfrm>
            <a:off x="424055" y="3915363"/>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faefd80bea_4_0"/>
          <p:cNvSpPr/>
          <p:nvPr/>
        </p:nvSpPr>
        <p:spPr>
          <a:xfrm>
            <a:off x="424055" y="3304900"/>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faefd80bea_4_0"/>
          <p:cNvSpPr/>
          <p:nvPr/>
        </p:nvSpPr>
        <p:spPr>
          <a:xfrm>
            <a:off x="424044" y="2084825"/>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3faefd80bea_4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3faefd80bea_4_0"/>
          <p:cNvSpPr/>
          <p:nvPr/>
        </p:nvSpPr>
        <p:spPr>
          <a:xfrm>
            <a:off x="2167250" y="334101"/>
            <a:ext cx="1874400" cy="251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입력 </a:t>
            </a:r>
            <a:r>
              <a:rPr b="1" i="0" lang="en-US" sz="975" u="none" cap="none" strike="noStrike">
                <a:solidFill>
                  <a:srgbClr val="3F7A57"/>
                </a:solidFill>
                <a:latin typeface="Calibri"/>
                <a:ea typeface="Calibri"/>
                <a:cs typeface="Calibri"/>
                <a:sym typeface="Calibri"/>
              </a:rPr>
              <a:t>구조화</a:t>
            </a:r>
            <a:endParaRPr b="0" i="0" sz="1400" u="none" cap="none" strike="noStrike">
              <a:solidFill>
                <a:srgbClr val="000000"/>
              </a:solidFill>
              <a:latin typeface="Arial"/>
              <a:ea typeface="Arial"/>
              <a:cs typeface="Arial"/>
              <a:sym typeface="Arial"/>
            </a:endParaRPr>
          </a:p>
        </p:txBody>
      </p:sp>
      <p:sp>
        <p:nvSpPr>
          <p:cNvPr id="488" name="Google Shape;488;g3faefd80bea_4_0"/>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89" name="Google Shape;489;g3faefd80bea_4_0"/>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90" name="Google Shape;490;g3faefd80bea_4_0"/>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91" name="Google Shape;491;g3faefd80bea_4_0"/>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492" name="Google Shape;492;g3faefd80bea_4_0"/>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93" name="Google Shape;493;g3faefd80bea_4_0"/>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494" name="Google Shape;494;g3faefd80bea_4_0"/>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95" name="Google Shape;495;g3faefd80bea_4_0"/>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496" name="Google Shape;496;g3faefd80bea_4_0"/>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497" name="Google Shape;497;g3faefd80bea_4_0"/>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498" name="Google Shape;498;g3faefd80bea_4_0"/>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499" name="Google Shape;499;g3faefd80bea_4_0"/>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500" name="Google Shape;500;g3faefd80bea_4_0"/>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501" name="Google Shape;501;g3faefd80bea_4_0"/>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502" name="Google Shape;502;g3faefd80bea_4_0"/>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03" name="Google Shape;503;g3faefd80bea_4_0"/>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504" name="Google Shape;504;g3faefd80bea_4_0"/>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509" name="Shape 509"/>
        <p:cNvGrpSpPr/>
        <p:nvPr/>
      </p:nvGrpSpPr>
      <p:grpSpPr>
        <a:xfrm>
          <a:off x="0" y="0"/>
          <a:ext cx="0" cy="0"/>
          <a:chOff x="0" y="0"/>
          <a:chExt cx="0" cy="0"/>
        </a:xfrm>
      </p:grpSpPr>
      <p:sp>
        <p:nvSpPr>
          <p:cNvPr id="510" name="Google Shape;510;g3faefd80bea_2_0"/>
          <p:cNvSpPr/>
          <p:nvPr/>
        </p:nvSpPr>
        <p:spPr>
          <a:xfrm>
            <a:off x="0"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3faefd80bea_2_0"/>
          <p:cNvSpPr/>
          <p:nvPr/>
        </p:nvSpPr>
        <p:spPr>
          <a:xfrm>
            <a:off x="0" y="0"/>
            <a:ext cx="12191695" cy="100584"/>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3faefd80bea_2_0"/>
          <p:cNvSpPr/>
          <p:nvPr/>
        </p:nvSpPr>
        <p:spPr>
          <a:xfrm>
            <a:off x="2057400" y="329184"/>
            <a:ext cx="1965960" cy="292608"/>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g3faefd80bea_2_0"/>
          <p:cNvSpPr/>
          <p:nvPr/>
        </p:nvSpPr>
        <p:spPr>
          <a:xfrm>
            <a:off x="2103120" y="329184"/>
            <a:ext cx="1874520" cy="292608"/>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03 · READY Gate</a:t>
            </a:r>
            <a:endParaRPr b="0" i="0" sz="850" u="none" cap="none" strike="noStrike">
              <a:solidFill>
                <a:schemeClr val="dk1"/>
              </a:solidFill>
              <a:latin typeface="Malgun Gothic"/>
              <a:ea typeface="Malgun Gothic"/>
              <a:cs typeface="Malgun Gothic"/>
              <a:sym typeface="Malgun Gothic"/>
            </a:endParaRPr>
          </a:p>
        </p:txBody>
      </p:sp>
      <p:sp>
        <p:nvSpPr>
          <p:cNvPr id="514" name="Google Shape;514;g3faefd80bea_2_0"/>
          <p:cNvSpPr/>
          <p:nvPr/>
        </p:nvSpPr>
        <p:spPr>
          <a:xfrm>
            <a:off x="2057400" y="768096"/>
            <a:ext cx="9738360" cy="47548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Ready Gate 탐지기 규칙</a:t>
            </a:r>
            <a:endParaRPr b="0" i="0" sz="2600" u="none" cap="none" strike="noStrike">
              <a:solidFill>
                <a:schemeClr val="dk1"/>
              </a:solidFill>
              <a:latin typeface="Malgun Gothic"/>
              <a:ea typeface="Malgun Gothic"/>
              <a:cs typeface="Malgun Gothic"/>
              <a:sym typeface="Malgun Gothic"/>
            </a:endParaRPr>
          </a:p>
        </p:txBody>
      </p:sp>
      <p:sp>
        <p:nvSpPr>
          <p:cNvPr id="515" name="Google Shape;515;g3faefd80bea_2_0"/>
          <p:cNvSpPr/>
          <p:nvPr/>
        </p:nvSpPr>
        <p:spPr>
          <a:xfrm>
            <a:off x="2057400" y="1261872"/>
            <a:ext cx="9738360" cy="25603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F7E76"/>
              </a:buClr>
              <a:buSzPts val="1150"/>
              <a:buFont typeface="Malgun Gothic"/>
              <a:buNone/>
            </a:pPr>
            <a:r>
              <a:rPr b="0" i="0" lang="en-US" sz="1150" u="none" cap="none" strike="noStrike">
                <a:solidFill>
                  <a:srgbClr val="6F7E76"/>
                </a:solidFill>
                <a:latin typeface="Malgun Gothic"/>
                <a:ea typeface="Malgun Gothic"/>
                <a:cs typeface="Malgun Gothic"/>
                <a:sym typeface="Malgun Gothic"/>
              </a:rPr>
              <a:t>KOSIS로 검증 가능한 measurement만 READY로 통과시키기 위한 게이트</a:t>
            </a:r>
            <a:endParaRPr b="0" i="0" sz="1150" u="none" cap="none" strike="noStrike">
              <a:solidFill>
                <a:schemeClr val="dk1"/>
              </a:solidFill>
              <a:latin typeface="Malgun Gothic"/>
              <a:ea typeface="Malgun Gothic"/>
              <a:cs typeface="Malgun Gothic"/>
              <a:sym typeface="Malgun Gothic"/>
            </a:endParaRPr>
          </a:p>
        </p:txBody>
      </p:sp>
      <p:sp>
        <p:nvSpPr>
          <p:cNvPr id="516" name="Google Shape;516;g3faefd80bea_2_0"/>
          <p:cNvSpPr/>
          <p:nvPr/>
        </p:nvSpPr>
        <p:spPr>
          <a:xfrm>
            <a:off x="2057400" y="6510528"/>
            <a:ext cx="2560320" cy="13716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graphicFrame>
        <p:nvGraphicFramePr>
          <p:cNvPr id="517" name="Google Shape;517;g3faefd80bea_2_0"/>
          <p:cNvGraphicFramePr/>
          <p:nvPr/>
        </p:nvGraphicFramePr>
        <p:xfrm>
          <a:off x="2346552" y="1929955"/>
          <a:ext cx="3000000" cy="3000000"/>
        </p:xfrm>
        <a:graphic>
          <a:graphicData uri="http://schemas.openxmlformats.org/drawingml/2006/table">
            <a:tbl>
              <a:tblPr>
                <a:noFill/>
                <a:tableStyleId>{45964FCD-4E89-4973-9509-FDA47E31D4AA}</a:tableStyleId>
              </a:tblPr>
              <a:tblGrid>
                <a:gridCol w="1828800"/>
                <a:gridCol w="4480550"/>
                <a:gridCol w="2926075"/>
              </a:tblGrid>
              <a:tr h="525775">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350" u="none" cap="none" strike="noStrike">
                          <a:solidFill>
                            <a:srgbClr val="22372E"/>
                          </a:solidFill>
                          <a:latin typeface="Malgun Gothic"/>
                          <a:ea typeface="Malgun Gothic"/>
                          <a:cs typeface="Malgun Gothic"/>
                          <a:sym typeface="Malgun Gothic"/>
                        </a:rPr>
                        <a:t>규칙 그룹</a:t>
                      </a:r>
                      <a:endParaRPr sz="13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350" u="none" cap="none" strike="noStrike">
                          <a:solidFill>
                            <a:srgbClr val="22372E"/>
                          </a:solidFill>
                          <a:latin typeface="Malgun Gothic"/>
                          <a:ea typeface="Malgun Gothic"/>
                          <a:cs typeface="Malgun Gothic"/>
                          <a:sym typeface="Malgun Gothic"/>
                        </a:rPr>
                        <a:t>체크 내용</a:t>
                      </a:r>
                      <a:endParaRPr sz="13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350" u="none" cap="none" strike="noStrike">
                          <a:solidFill>
                            <a:srgbClr val="22372E"/>
                          </a:solidFill>
                          <a:latin typeface="Malgun Gothic"/>
                          <a:ea typeface="Malgun Gothic"/>
                          <a:cs typeface="Malgun Gothic"/>
                          <a:sym typeface="Malgun Gothic"/>
                        </a:rPr>
                        <a:t>불확실할 때</a:t>
                      </a:r>
                      <a:endParaRPr sz="13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r>
              <a:tr h="525775">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측정값 존재</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숫자·단위·기간이 claim과 직접 연결되는가</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ENRICH</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525775">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역할 판별</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현재값/주값/증감률 등 검증 대상 역할인가</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REJECT/ENRICH</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525775">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KOSIS 범위</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국내 공식통계로 직접 검증 가능한가</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REJECT</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525775">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시계열·대상</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기간·지역·분류축이 충분한가</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ENRICH</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525775">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좌표 확정성</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후보 표와 ITEM/OBJ가 안전하게 확정되는가</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UNRESOLVED</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bl>
          </a:graphicData>
        </a:graphic>
      </p:graphicFrame>
      <p:sp>
        <p:nvSpPr>
          <p:cNvPr id="518" name="Google Shape;518;g3faefd80bea_2_0"/>
          <p:cNvSpPr/>
          <p:nvPr/>
        </p:nvSpPr>
        <p:spPr>
          <a:xfrm>
            <a:off x="2346552" y="5433689"/>
            <a:ext cx="9235500" cy="301800"/>
          </a:xfrm>
          <a:prstGeom prst="rect">
            <a:avLst/>
          </a:prstGeom>
          <a:noFill/>
          <a:ln>
            <a:noFill/>
          </a:ln>
        </p:spPr>
        <p:txBody>
          <a:bodyPr anchorCtr="0" anchor="ctr" bIns="500" lIns="500" spcFirstLastPara="1" rIns="500" wrap="square" tIns="500">
            <a:noAutofit/>
          </a:bodyPr>
          <a:lstStyle/>
          <a:p>
            <a:pPr indent="0" lvl="0" marL="0" marR="0" rtl="0" algn="ctr">
              <a:lnSpc>
                <a:spcPct val="95000"/>
              </a:lnSpc>
              <a:spcBef>
                <a:spcPts val="0"/>
              </a:spcBef>
              <a:spcAft>
                <a:spcPts val="0"/>
              </a:spcAft>
              <a:buClr>
                <a:srgbClr val="173F2F"/>
              </a:buClr>
              <a:buSzPts val="1200"/>
              <a:buFont typeface="Malgun Gothic"/>
              <a:buNone/>
            </a:pPr>
            <a:r>
              <a:rPr b="1" i="0" lang="en-US" sz="1200" u="none" cap="none" strike="noStrike">
                <a:solidFill>
                  <a:srgbClr val="173F2F"/>
                </a:solidFill>
                <a:latin typeface="Malgun Gothic"/>
                <a:ea typeface="Malgun Gothic"/>
                <a:cs typeface="Malgun Gothic"/>
                <a:sym typeface="Malgun Gothic"/>
              </a:rPr>
              <a:t>모든 숫자를 통과시키는 것이 아니라, 공식 통계로 직접 검증 가능한 숫자만 다음 단계로 보내는 과정</a:t>
            </a:r>
            <a:endParaRPr b="0" i="0" sz="1200" u="none" cap="none" strike="noStrike">
              <a:solidFill>
                <a:schemeClr val="dk1"/>
              </a:solidFill>
              <a:latin typeface="Malgun Gothic"/>
              <a:ea typeface="Malgun Gothic"/>
              <a:cs typeface="Malgun Gothic"/>
              <a:sym typeface="Malgun Gothic"/>
            </a:endParaRPr>
          </a:p>
        </p:txBody>
      </p:sp>
      <p:pic>
        <p:nvPicPr>
          <p:cNvPr id="519" name="Google Shape;519;g3faefd80bea_2_0"/>
          <p:cNvPicPr preferRelativeResize="0"/>
          <p:nvPr/>
        </p:nvPicPr>
        <p:blipFill rotWithShape="1">
          <a:blip r:embed="rId3">
            <a:alphaModFix/>
          </a:blip>
          <a:srcRect b="0" l="0" r="0" t="0"/>
          <a:stretch/>
        </p:blipFill>
        <p:spPr>
          <a:xfrm>
            <a:off x="-5093975" y="-1275412"/>
            <a:ext cx="4755650" cy="3574975"/>
          </a:xfrm>
          <a:prstGeom prst="rect">
            <a:avLst/>
          </a:prstGeom>
          <a:noFill/>
          <a:ln>
            <a:noFill/>
          </a:ln>
        </p:spPr>
      </p:pic>
      <p:grpSp>
        <p:nvGrpSpPr>
          <p:cNvPr id="520" name="Google Shape;520;g3faefd80bea_2_0"/>
          <p:cNvGrpSpPr/>
          <p:nvPr/>
        </p:nvGrpSpPr>
        <p:grpSpPr>
          <a:xfrm>
            <a:off x="338521" y="1415075"/>
            <a:ext cx="1171492" cy="3867150"/>
            <a:chOff x="-2720779" y="2695825"/>
            <a:chExt cx="1171492" cy="3867150"/>
          </a:xfrm>
        </p:grpSpPr>
        <p:sp>
          <p:nvSpPr>
            <p:cNvPr id="521" name="Google Shape;521;g3faefd80bea_2_0"/>
            <p:cNvSpPr/>
            <p:nvPr/>
          </p:nvSpPr>
          <p:spPr>
            <a:xfrm>
              <a:off x="-2625600" y="2791075"/>
              <a:ext cx="18900" cy="18375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g3faefd80bea_2_0"/>
            <p:cNvSpPr/>
            <p:nvPr/>
          </p:nvSpPr>
          <p:spPr>
            <a:xfrm flipH="1">
              <a:off x="-2628251" y="4611225"/>
              <a:ext cx="18900" cy="18375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3faefd80bea_2_0"/>
            <p:cNvSpPr/>
            <p:nvPr/>
          </p:nvSpPr>
          <p:spPr>
            <a:xfrm>
              <a:off x="-2654181" y="2752975"/>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3faefd80bea_2_0"/>
            <p:cNvSpPr/>
            <p:nvPr/>
          </p:nvSpPr>
          <p:spPr>
            <a:xfrm>
              <a:off x="-2425587" y="269582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기사 입력</a:t>
              </a:r>
              <a:endParaRPr b="0" i="0" sz="750" u="none" cap="none" strike="noStrike">
                <a:solidFill>
                  <a:srgbClr val="66786E"/>
                </a:solidFill>
                <a:latin typeface="Arial"/>
                <a:ea typeface="Arial"/>
                <a:cs typeface="Arial"/>
                <a:sym typeface="Arial"/>
              </a:endParaRPr>
            </a:p>
          </p:txBody>
        </p:sp>
        <p:sp>
          <p:nvSpPr>
            <p:cNvPr id="525" name="Google Shape;525;g3faefd80bea_2_0"/>
            <p:cNvSpPr/>
            <p:nvPr/>
          </p:nvSpPr>
          <p:spPr>
            <a:xfrm>
              <a:off x="-2425587" y="328637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전처리</a:t>
              </a:r>
              <a:endParaRPr b="0" i="0" sz="750" u="none" cap="none" strike="noStrike">
                <a:solidFill>
                  <a:srgbClr val="66786E"/>
                </a:solidFill>
                <a:latin typeface="Arial"/>
                <a:ea typeface="Arial"/>
                <a:cs typeface="Arial"/>
                <a:sym typeface="Arial"/>
              </a:endParaRPr>
            </a:p>
          </p:txBody>
        </p:sp>
        <p:sp>
          <p:nvSpPr>
            <p:cNvPr id="526" name="Google Shape;526;g3faefd80bea_2_0"/>
            <p:cNvSpPr/>
            <p:nvPr/>
          </p:nvSpPr>
          <p:spPr>
            <a:xfrm>
              <a:off x="-2651456" y="4583063"/>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3faefd80bea_2_0"/>
            <p:cNvSpPr/>
            <p:nvPr/>
          </p:nvSpPr>
          <p:spPr>
            <a:xfrm>
              <a:off x="-2425587" y="389597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HCX-007</a:t>
              </a:r>
              <a:endParaRPr b="0" i="0" sz="750" u="none" cap="none" strike="noStrike">
                <a:solidFill>
                  <a:srgbClr val="66786E"/>
                </a:solidFill>
                <a:latin typeface="Arial"/>
                <a:ea typeface="Arial"/>
                <a:cs typeface="Arial"/>
                <a:sym typeface="Arial"/>
              </a:endParaRPr>
            </a:p>
          </p:txBody>
        </p:sp>
        <p:sp>
          <p:nvSpPr>
            <p:cNvPr id="528" name="Google Shape;528;g3faefd80bea_2_0"/>
            <p:cNvSpPr/>
            <p:nvPr/>
          </p:nvSpPr>
          <p:spPr>
            <a:xfrm>
              <a:off x="-2425587" y="450557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Ready gate</a:t>
              </a:r>
              <a:endParaRPr b="1" i="0" sz="850" u="none" cap="none" strike="noStrike">
                <a:solidFill>
                  <a:srgbClr val="11271D"/>
                </a:solidFill>
                <a:latin typeface="Arial"/>
                <a:ea typeface="Arial"/>
                <a:cs typeface="Arial"/>
                <a:sym typeface="Arial"/>
              </a:endParaRPr>
            </a:p>
          </p:txBody>
        </p:sp>
        <p:sp>
          <p:nvSpPr>
            <p:cNvPr id="529" name="Google Shape;529;g3faefd80bea_2_0"/>
            <p:cNvSpPr/>
            <p:nvPr/>
          </p:nvSpPr>
          <p:spPr>
            <a:xfrm>
              <a:off x="-2425587" y="511517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BGE-M3</a:t>
              </a:r>
              <a:endParaRPr b="0" i="0" sz="750" u="none" cap="none" strike="noStrike">
                <a:solidFill>
                  <a:srgbClr val="9AA9A0"/>
                </a:solidFill>
                <a:latin typeface="Arial"/>
                <a:ea typeface="Arial"/>
                <a:cs typeface="Arial"/>
                <a:sym typeface="Arial"/>
              </a:endParaRPr>
            </a:p>
          </p:txBody>
        </p:sp>
        <p:sp>
          <p:nvSpPr>
            <p:cNvPr id="530" name="Google Shape;530;g3faefd80bea_2_0"/>
            <p:cNvSpPr/>
            <p:nvPr/>
          </p:nvSpPr>
          <p:spPr>
            <a:xfrm>
              <a:off x="-2425587" y="572477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PostgreSQL</a:t>
              </a:r>
              <a:endParaRPr b="0" i="0" sz="750" u="none" cap="none" strike="noStrike">
                <a:solidFill>
                  <a:srgbClr val="9AA9A0"/>
                </a:solidFill>
                <a:latin typeface="Arial"/>
                <a:ea typeface="Arial"/>
                <a:cs typeface="Arial"/>
                <a:sym typeface="Arial"/>
              </a:endParaRPr>
            </a:p>
          </p:txBody>
        </p:sp>
        <p:sp>
          <p:nvSpPr>
            <p:cNvPr id="531" name="Google Shape;531;g3faefd80bea_2_0"/>
            <p:cNvSpPr/>
            <p:nvPr/>
          </p:nvSpPr>
          <p:spPr>
            <a:xfrm>
              <a:off x="-2654181" y="6410575"/>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3faefd80bea_2_0"/>
            <p:cNvSpPr/>
            <p:nvPr/>
          </p:nvSpPr>
          <p:spPr>
            <a:xfrm>
              <a:off x="-2425587" y="6334375"/>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공식값 대조</a:t>
              </a:r>
              <a:endParaRPr b="0" i="0" sz="1400" u="none" cap="none" strike="noStrike">
                <a:solidFill>
                  <a:srgbClr val="000000"/>
                </a:solidFill>
                <a:latin typeface="Arial"/>
                <a:ea typeface="Arial"/>
                <a:cs typeface="Arial"/>
                <a:sym typeface="Arial"/>
              </a:endParaRPr>
            </a:p>
          </p:txBody>
        </p:sp>
        <p:grpSp>
          <p:nvGrpSpPr>
            <p:cNvPr id="533" name="Google Shape;533;g3faefd80bea_2_0"/>
            <p:cNvGrpSpPr/>
            <p:nvPr/>
          </p:nvGrpSpPr>
          <p:grpSpPr>
            <a:xfrm>
              <a:off x="-2720779" y="4516750"/>
              <a:ext cx="209400" cy="209700"/>
              <a:chOff x="-1312129" y="2315975"/>
              <a:chExt cx="209400" cy="209700"/>
            </a:xfrm>
          </p:grpSpPr>
          <p:sp>
            <p:nvSpPr>
              <p:cNvPr id="534" name="Google Shape;534;g3faefd80bea_2_0"/>
              <p:cNvSpPr/>
              <p:nvPr/>
            </p:nvSpPr>
            <p:spPr>
              <a:xfrm>
                <a:off x="-1312129" y="2315975"/>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g3faefd80bea_2_0"/>
              <p:cNvSpPr/>
              <p:nvPr/>
            </p:nvSpPr>
            <p:spPr>
              <a:xfrm>
                <a:off x="-1274030" y="2354075"/>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6" name="Google Shape;536;g3faefd80bea_2_0"/>
            <p:cNvSpPr/>
            <p:nvPr/>
          </p:nvSpPr>
          <p:spPr>
            <a:xfrm>
              <a:off x="-2656495" y="5804450"/>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3faefd80bea_2_0"/>
            <p:cNvSpPr/>
            <p:nvPr/>
          </p:nvSpPr>
          <p:spPr>
            <a:xfrm>
              <a:off x="-2654170" y="5193113"/>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3faefd80bea_2_0"/>
            <p:cNvSpPr/>
            <p:nvPr/>
          </p:nvSpPr>
          <p:spPr>
            <a:xfrm>
              <a:off x="-2654181" y="3362575"/>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3faefd80bea_2_0"/>
            <p:cNvSpPr/>
            <p:nvPr/>
          </p:nvSpPr>
          <p:spPr>
            <a:xfrm>
              <a:off x="-2653034" y="3972825"/>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0" name="Google Shape;540;g3faefd80bea_2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3faefd80bea_2_0"/>
          <p:cNvSpPr/>
          <p:nvPr/>
        </p:nvSpPr>
        <p:spPr>
          <a:xfrm>
            <a:off x="2209751" y="304800"/>
            <a:ext cx="1952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Ready Gate</a:t>
            </a:r>
            <a:endParaRPr b="0" i="0" sz="1400" u="none" cap="none" strike="noStrike">
              <a:solidFill>
                <a:srgbClr val="000000"/>
              </a:solidFill>
              <a:latin typeface="Arial"/>
              <a:ea typeface="Arial"/>
              <a:cs typeface="Arial"/>
              <a:sym typeface="Arial"/>
            </a:endParaRPr>
          </a:p>
        </p:txBody>
      </p:sp>
      <p:sp>
        <p:nvSpPr>
          <p:cNvPr id="542" name="Google Shape;542;g3faefd80bea_2_0"/>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3faefd80bea_2_0"/>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3faefd80bea_2_0"/>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3faefd80bea_2_0"/>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3faefd80bea_2_0"/>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3faefd80bea_2_0"/>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548" name="Google Shape;548;g3faefd80bea_2_0"/>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549" name="Google Shape;549;g3faefd80bea_2_0"/>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550" name="Google Shape;550;g3faefd80bea_2_0"/>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551" name="Google Shape;551;g3faefd80bea_2_0"/>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552" name="Google Shape;552;g3faefd80bea_2_0"/>
          <p:cNvGrpSpPr/>
          <p:nvPr/>
        </p:nvGrpSpPr>
        <p:grpSpPr>
          <a:xfrm>
            <a:off x="283429" y="3067107"/>
            <a:ext cx="209400" cy="209700"/>
            <a:chOff x="-3275292" y="2173036"/>
            <a:chExt cx="209400" cy="209700"/>
          </a:xfrm>
        </p:grpSpPr>
        <p:sp>
          <p:nvSpPr>
            <p:cNvPr id="553" name="Google Shape;553;g3faefd80bea_2_0"/>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3faefd80bea_2_0"/>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5" name="Google Shape;555;g3faefd80bea_2_0"/>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3faefd80bea_2_0"/>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3faefd80bea_2_0"/>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3faefd80bea_2_0"/>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3faefd80bea_2_0"/>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g3faefd80bea_2_0"/>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3faefd80bea_2_0"/>
          <p:cNvSpPr/>
          <p:nvPr/>
        </p:nvSpPr>
        <p:spPr>
          <a:xfrm>
            <a:off x="2057400" y="329184"/>
            <a:ext cx="1965900" cy="292500"/>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3faefd80bea_2_0"/>
          <p:cNvSpPr/>
          <p:nvPr/>
        </p:nvSpPr>
        <p:spPr>
          <a:xfrm>
            <a:off x="2103120" y="329184"/>
            <a:ext cx="1874400" cy="292500"/>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03 · 구조화</a:t>
            </a:r>
            <a:endParaRPr b="0" i="0" sz="850" u="none" cap="none" strike="noStrike">
              <a:solidFill>
                <a:schemeClr val="dk1"/>
              </a:solidFill>
              <a:latin typeface="Malgun Gothic"/>
              <a:ea typeface="Malgun Gothic"/>
              <a:cs typeface="Malgun Gothic"/>
              <a:sym typeface="Malgun Gothic"/>
            </a:endParaRPr>
          </a:p>
        </p:txBody>
      </p:sp>
      <p:sp>
        <p:nvSpPr>
          <p:cNvPr id="563" name="Google Shape;563;g3faefd80bea_2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g3faefd80bea_2_0"/>
          <p:cNvSpPr/>
          <p:nvPr/>
        </p:nvSpPr>
        <p:spPr>
          <a:xfrm>
            <a:off x="2167250" y="334101"/>
            <a:ext cx="1874400" cy="251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입력 </a:t>
            </a:r>
            <a:r>
              <a:rPr b="1" i="0" lang="en-US" sz="975" u="none" cap="none" strike="noStrike">
                <a:solidFill>
                  <a:srgbClr val="3F7A57"/>
                </a:solidFill>
                <a:latin typeface="Calibri"/>
                <a:ea typeface="Calibri"/>
                <a:cs typeface="Calibri"/>
                <a:sym typeface="Calibri"/>
              </a:rPr>
              <a:t>구조화</a:t>
            </a:r>
            <a:endParaRPr b="0" i="0" sz="1400" u="none" cap="none" strike="noStrike">
              <a:solidFill>
                <a:srgbClr val="000000"/>
              </a:solidFill>
              <a:latin typeface="Arial"/>
              <a:ea typeface="Arial"/>
              <a:cs typeface="Arial"/>
              <a:sym typeface="Arial"/>
            </a:endParaRPr>
          </a:p>
        </p:txBody>
      </p:sp>
      <p:sp>
        <p:nvSpPr>
          <p:cNvPr id="565" name="Google Shape;565;g3faefd80bea_2_0"/>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66" name="Google Shape;566;g3faefd80bea_2_0"/>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67" name="Google Shape;567;g3faefd80bea_2_0"/>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68" name="Google Shape;568;g3faefd80bea_2_0"/>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569" name="Google Shape;569;g3faefd80bea_2_0"/>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70" name="Google Shape;570;g3faefd80bea_2_0"/>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571" name="Google Shape;571;g3faefd80bea_2_0"/>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72" name="Google Shape;572;g3faefd80bea_2_0"/>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573" name="Google Shape;573;g3faefd80bea_2_0"/>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74" name="Google Shape;574;g3faefd80bea_2_0"/>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575" name="Google Shape;575;g3faefd80bea_2_0"/>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576" name="Google Shape;576;g3faefd80bea_2_0"/>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577" name="Google Shape;577;g3faefd80bea_2_0"/>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578" name="Google Shape;578;g3faefd80bea_2_0"/>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579" name="Google Shape;579;g3faefd80bea_2_0"/>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580" name="Google Shape;580;g3faefd80bea_2_0"/>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581" name="Google Shape;581;g3faefd80bea_2_0"/>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586" name="Shape 586"/>
        <p:cNvGrpSpPr/>
        <p:nvPr/>
      </p:nvGrpSpPr>
      <p:grpSpPr>
        <a:xfrm>
          <a:off x="0" y="0"/>
          <a:ext cx="0" cy="0"/>
          <a:chOff x="0" y="0"/>
          <a:chExt cx="0" cy="0"/>
        </a:xfrm>
      </p:grpSpPr>
      <p:sp>
        <p:nvSpPr>
          <p:cNvPr id="587" name="Google Shape;587;g3fae3b6faca_1_135"/>
          <p:cNvSpPr/>
          <p:nvPr/>
        </p:nvSpPr>
        <p:spPr>
          <a:xfrm>
            <a:off x="-15037" y="119000"/>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g3fae3b6faca_1_135"/>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g3fae3b6faca_1_135"/>
          <p:cNvSpPr/>
          <p:nvPr/>
        </p:nvSpPr>
        <p:spPr>
          <a:xfrm>
            <a:off x="2095444" y="295275"/>
            <a:ext cx="1952573" cy="295275"/>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g3fae3b6faca_1_135"/>
          <p:cNvSpPr/>
          <p:nvPr/>
        </p:nvSpPr>
        <p:spPr>
          <a:xfrm>
            <a:off x="2209741" y="304800"/>
            <a:ext cx="1723979"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06 · 입력 구조화</a:t>
            </a:r>
            <a:endParaRPr b="0" i="0" sz="1400" u="none" cap="none" strike="noStrike">
              <a:solidFill>
                <a:srgbClr val="000000"/>
              </a:solidFill>
              <a:latin typeface="Arial"/>
              <a:ea typeface="Arial"/>
              <a:cs typeface="Arial"/>
              <a:sym typeface="Arial"/>
            </a:endParaRPr>
          </a:p>
        </p:txBody>
      </p:sp>
      <p:sp>
        <p:nvSpPr>
          <p:cNvPr id="591" name="Google Shape;591;g3fae3b6faca_1_135"/>
          <p:cNvSpPr/>
          <p:nvPr/>
        </p:nvSpPr>
        <p:spPr>
          <a:xfrm>
            <a:off x="2095444" y="714375"/>
            <a:ext cx="9524746" cy="523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10271D"/>
                </a:solidFill>
                <a:latin typeface="Calibri"/>
                <a:ea typeface="Calibri"/>
                <a:cs typeface="Calibri"/>
                <a:sym typeface="Calibri"/>
              </a:rPr>
              <a:t>HCX로 문맥을 보존해 구조화, Ready Gate로 문장 선별</a:t>
            </a:r>
            <a:endParaRPr b="0" i="0" sz="1400" u="none" cap="none" strike="noStrike">
              <a:solidFill>
                <a:srgbClr val="000000"/>
              </a:solidFill>
              <a:latin typeface="Arial"/>
              <a:ea typeface="Arial"/>
              <a:cs typeface="Arial"/>
              <a:sym typeface="Arial"/>
            </a:endParaRPr>
          </a:p>
        </p:txBody>
      </p:sp>
      <p:sp>
        <p:nvSpPr>
          <p:cNvPr id="592" name="Google Shape;592;g3fae3b6faca_1_135"/>
          <p:cNvSpPr/>
          <p:nvPr/>
        </p:nvSpPr>
        <p:spPr>
          <a:xfrm>
            <a:off x="2114494" y="1228725"/>
            <a:ext cx="9429499" cy="323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97B71"/>
                </a:solidFill>
                <a:latin typeface="Calibri"/>
                <a:ea typeface="Calibri"/>
                <a:cs typeface="Calibri"/>
                <a:sym typeface="Calibri"/>
              </a:rPr>
              <a:t>추출과 검증 가능성 판정을 분리해 잘못된 검색을 줄였습니다.</a:t>
            </a:r>
            <a:endParaRPr b="0" i="0" sz="1400" u="none" cap="none" strike="noStrike">
              <a:solidFill>
                <a:srgbClr val="000000"/>
              </a:solidFill>
              <a:latin typeface="Arial"/>
              <a:ea typeface="Arial"/>
              <a:cs typeface="Arial"/>
              <a:sym typeface="Arial"/>
            </a:endParaRPr>
          </a:p>
        </p:txBody>
      </p:sp>
      <p:sp>
        <p:nvSpPr>
          <p:cNvPr id="593" name="Google Shape;593;g3fae3b6faca_1_135"/>
          <p:cNvSpPr/>
          <p:nvPr/>
        </p:nvSpPr>
        <p:spPr>
          <a:xfrm>
            <a:off x="2095444" y="6543675"/>
            <a:ext cx="2666929"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97B71"/>
                </a:solidFill>
                <a:latin typeface="Calibri"/>
                <a:ea typeface="Calibri"/>
                <a:cs typeface="Calibri"/>
                <a:sym typeface="Calibri"/>
              </a:rPr>
              <a:t>KOSIS 뉴스 수치 주장 검증 PoC</a:t>
            </a:r>
            <a:endParaRPr b="0" i="0" sz="1400" u="none" cap="none" strike="noStrike">
              <a:solidFill>
                <a:srgbClr val="000000"/>
              </a:solidFill>
              <a:latin typeface="Arial"/>
              <a:ea typeface="Arial"/>
              <a:cs typeface="Arial"/>
              <a:sym typeface="Arial"/>
            </a:endParaRPr>
          </a:p>
        </p:txBody>
      </p:sp>
      <p:sp>
        <p:nvSpPr>
          <p:cNvPr id="594" name="Google Shape;594;g3fae3b6faca_1_135"/>
          <p:cNvSpPr/>
          <p:nvPr/>
        </p:nvSpPr>
        <p:spPr>
          <a:xfrm>
            <a:off x="2114494" y="1828800"/>
            <a:ext cx="4533779" cy="2952750"/>
          </a:xfrm>
          <a:prstGeom prst="roundRect">
            <a:avLst>
              <a:gd fmla="val 3871" name="adj"/>
            </a:avLst>
          </a:prstGeom>
          <a:solidFill>
            <a:srgbClr val="E7EFF2"/>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3fae3b6faca_1_135"/>
          <p:cNvSpPr/>
          <p:nvPr/>
        </p:nvSpPr>
        <p:spPr>
          <a:xfrm>
            <a:off x="2114494" y="1828800"/>
            <a:ext cx="57148" cy="2952750"/>
          </a:xfrm>
          <a:prstGeom prst="roundRect">
            <a:avLst>
              <a:gd fmla="val 50000" name="adj"/>
            </a:avLst>
          </a:prstGeom>
          <a:solidFill>
            <a:srgbClr val="527487"/>
          </a:solidFill>
          <a:ln cap="flat" cmpd="sng" w="9525">
            <a:solidFill>
              <a:srgbClr val="5274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g3fae3b6faca_1_135"/>
          <p:cNvSpPr/>
          <p:nvPr/>
        </p:nvSpPr>
        <p:spPr>
          <a:xfrm>
            <a:off x="2282625" y="1989759"/>
            <a:ext cx="4171800" cy="28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550" u="none" cap="none" strike="noStrike">
                <a:solidFill>
                  <a:srgbClr val="527487"/>
                </a:solidFill>
                <a:latin typeface="Calibri"/>
                <a:ea typeface="Calibri"/>
                <a:cs typeface="Calibri"/>
                <a:sym typeface="Calibri"/>
              </a:rPr>
              <a:t>HCX 구조화 결과</a:t>
            </a:r>
            <a:endParaRPr b="0" i="0" sz="1600" u="none" cap="none" strike="noStrike">
              <a:solidFill>
                <a:srgbClr val="000000"/>
              </a:solidFill>
              <a:latin typeface="Arial"/>
              <a:ea typeface="Arial"/>
              <a:cs typeface="Arial"/>
              <a:sym typeface="Arial"/>
            </a:endParaRPr>
          </a:p>
        </p:txBody>
      </p:sp>
      <p:sp>
        <p:nvSpPr>
          <p:cNvPr id="597" name="Google Shape;597;g3fae3b6faca_1_135"/>
          <p:cNvSpPr/>
          <p:nvPr/>
        </p:nvSpPr>
        <p:spPr>
          <a:xfrm>
            <a:off x="2374988" y="2484571"/>
            <a:ext cx="4171800" cy="1764900"/>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Clr>
                <a:srgbClr val="000000"/>
              </a:buClr>
              <a:buSzPts val="1125"/>
              <a:buFont typeface="Arial"/>
              <a:buNone/>
            </a:pPr>
            <a:r>
              <a:rPr b="0" i="0" lang="en-US" sz="1325" u="none" cap="none" strike="noStrike">
                <a:solidFill>
                  <a:srgbClr val="14251D"/>
                </a:solidFill>
                <a:latin typeface="Calibri"/>
                <a:ea typeface="Calibri"/>
                <a:cs typeface="Calibri"/>
                <a:sym typeface="Calibri"/>
              </a:rPr>
              <a:t>claim_text</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125"/>
              <a:buFont typeface="Arial"/>
              <a:buNone/>
            </a:pPr>
            <a:r>
              <a:rPr b="0" i="0" lang="en-US" sz="1325" u="none" cap="none" strike="noStrike">
                <a:solidFill>
                  <a:srgbClr val="14251D"/>
                </a:solidFill>
                <a:latin typeface="Calibri"/>
                <a:ea typeface="Calibri"/>
                <a:cs typeface="Calibri"/>
                <a:sym typeface="Calibri"/>
              </a:rPr>
              <a:t>indicator · item</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125"/>
              <a:buFont typeface="Arial"/>
              <a:buNone/>
            </a:pPr>
            <a:r>
              <a:rPr b="0" i="0" lang="en-US" sz="1325" u="none" cap="none" strike="noStrike">
                <a:solidFill>
                  <a:srgbClr val="14251D"/>
                </a:solidFill>
                <a:latin typeface="Calibri"/>
                <a:ea typeface="Calibri"/>
                <a:cs typeface="Calibri"/>
                <a:sym typeface="Calibri"/>
              </a:rPr>
              <a:t>value · unit · period</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125"/>
              <a:buFont typeface="Arial"/>
              <a:buNone/>
            </a:pPr>
            <a:r>
              <a:rPr b="0" i="0" lang="en-US" sz="1325" u="none" cap="none" strike="noStrike">
                <a:solidFill>
                  <a:srgbClr val="14251D"/>
                </a:solidFill>
                <a:latin typeface="Calibri"/>
                <a:ea typeface="Calibri"/>
                <a:cs typeface="Calibri"/>
                <a:sym typeface="Calibri"/>
              </a:rPr>
              <a:t>geography · sex · age · product</a:t>
            </a:r>
            <a:endParaRPr b="0" i="0" sz="16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125"/>
              <a:buFont typeface="Arial"/>
              <a:buNone/>
            </a:pPr>
            <a:r>
              <a:rPr b="0" i="0" lang="en-US" sz="1325" u="none" cap="none" strike="noStrike">
                <a:solidFill>
                  <a:srgbClr val="14251D"/>
                </a:solidFill>
                <a:latin typeface="Calibri"/>
                <a:ea typeface="Calibri"/>
                <a:cs typeface="Calibri"/>
                <a:sym typeface="Calibri"/>
              </a:rPr>
              <a:t>앞뒤 context · 기사 메타데이터</a:t>
            </a:r>
            <a:endParaRPr b="0" i="0" sz="1600" u="none" cap="none" strike="noStrike">
              <a:solidFill>
                <a:srgbClr val="000000"/>
              </a:solidFill>
              <a:latin typeface="Arial"/>
              <a:ea typeface="Arial"/>
              <a:cs typeface="Arial"/>
              <a:sym typeface="Arial"/>
            </a:endParaRPr>
          </a:p>
        </p:txBody>
      </p:sp>
      <p:sp>
        <p:nvSpPr>
          <p:cNvPr id="598" name="Google Shape;598;g3fae3b6faca_1_135"/>
          <p:cNvSpPr/>
          <p:nvPr/>
        </p:nvSpPr>
        <p:spPr>
          <a:xfrm>
            <a:off x="6667322" y="2962275"/>
            <a:ext cx="457188" cy="381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99" name="Google Shape;599;g3fae3b6faca_1_135"/>
          <p:cNvSpPr/>
          <p:nvPr/>
        </p:nvSpPr>
        <p:spPr>
          <a:xfrm>
            <a:off x="7143560" y="1835415"/>
            <a:ext cx="4457700" cy="2952900"/>
          </a:xfrm>
          <a:prstGeom prst="roundRect">
            <a:avLst>
              <a:gd fmla="val 3871"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g3fae3b6faca_1_135"/>
          <p:cNvSpPr/>
          <p:nvPr/>
        </p:nvSpPr>
        <p:spPr>
          <a:xfrm>
            <a:off x="7372153" y="1990725"/>
            <a:ext cx="3809898" cy="2857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F7A57"/>
                </a:solidFill>
                <a:latin typeface="Calibri"/>
                <a:ea typeface="Calibri"/>
                <a:cs typeface="Calibri"/>
                <a:sym typeface="Calibri"/>
              </a:rPr>
              <a:t>KOSIS-ready Gate</a:t>
            </a:r>
            <a:endParaRPr b="0" i="0" sz="1400" u="none" cap="none" strike="noStrike">
              <a:solidFill>
                <a:srgbClr val="000000"/>
              </a:solidFill>
              <a:latin typeface="Arial"/>
              <a:ea typeface="Arial"/>
              <a:cs typeface="Arial"/>
              <a:sym typeface="Arial"/>
            </a:endParaRPr>
          </a:p>
        </p:txBody>
      </p:sp>
      <p:sp>
        <p:nvSpPr>
          <p:cNvPr id="601" name="Google Shape;601;g3fae3b6faca_1_135"/>
          <p:cNvSpPr/>
          <p:nvPr/>
        </p:nvSpPr>
        <p:spPr>
          <a:xfrm>
            <a:off x="7391203" y="2626519"/>
            <a:ext cx="228600" cy="228600"/>
          </a:xfrm>
          <a:prstGeom prst="roundRect">
            <a:avLst>
              <a:gd fmla="val 50000" name="adj"/>
            </a:avLst>
          </a:prstGeom>
          <a:solidFill>
            <a:srgbClr val="E8F1EA"/>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g3fae3b6faca_1_135"/>
          <p:cNvSpPr/>
          <p:nvPr/>
        </p:nvSpPr>
        <p:spPr>
          <a:xfrm>
            <a:off x="7374331" y="2626519"/>
            <a:ext cx="209400" cy="219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03" name="Google Shape;603;g3fae3b6faca_1_135"/>
          <p:cNvSpPr/>
          <p:nvPr/>
        </p:nvSpPr>
        <p:spPr>
          <a:xfrm>
            <a:off x="7753143" y="2578894"/>
            <a:ext cx="34290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14251D"/>
                </a:solidFill>
                <a:latin typeface="Calibri"/>
                <a:ea typeface="Calibri"/>
                <a:cs typeface="Calibri"/>
                <a:sym typeface="Calibri"/>
              </a:rPr>
              <a:t>공공통계 성격의 indicator / item</a:t>
            </a:r>
            <a:endParaRPr b="0" i="0" sz="1400" u="none" cap="none" strike="noStrike">
              <a:solidFill>
                <a:srgbClr val="000000"/>
              </a:solidFill>
              <a:latin typeface="Arial"/>
              <a:ea typeface="Arial"/>
              <a:cs typeface="Arial"/>
              <a:sym typeface="Arial"/>
            </a:endParaRPr>
          </a:p>
        </p:txBody>
      </p:sp>
      <p:sp>
        <p:nvSpPr>
          <p:cNvPr id="604" name="Google Shape;604;g3fae3b6faca_1_135"/>
          <p:cNvSpPr/>
          <p:nvPr/>
        </p:nvSpPr>
        <p:spPr>
          <a:xfrm>
            <a:off x="7391203" y="3112294"/>
            <a:ext cx="228600" cy="228600"/>
          </a:xfrm>
          <a:prstGeom prst="roundRect">
            <a:avLst>
              <a:gd fmla="val 50000" name="adj"/>
            </a:avLst>
          </a:prstGeom>
          <a:solidFill>
            <a:srgbClr val="E8F1EA"/>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3fae3b6faca_1_135"/>
          <p:cNvSpPr/>
          <p:nvPr/>
        </p:nvSpPr>
        <p:spPr>
          <a:xfrm>
            <a:off x="7374331" y="3112294"/>
            <a:ext cx="209400" cy="219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06" name="Google Shape;606;g3fae3b6faca_1_135"/>
          <p:cNvSpPr/>
          <p:nvPr/>
        </p:nvSpPr>
        <p:spPr>
          <a:xfrm>
            <a:off x="7769658" y="3064581"/>
            <a:ext cx="34290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14251D"/>
                </a:solidFill>
                <a:latin typeface="Calibri"/>
                <a:ea typeface="Calibri"/>
                <a:cs typeface="Calibri"/>
                <a:sym typeface="Calibri"/>
              </a:rPr>
              <a:t>해석 가능한 기간 · 수치 · 단위</a:t>
            </a:r>
            <a:endParaRPr b="0" i="0" sz="1400" u="none" cap="none" strike="noStrike">
              <a:solidFill>
                <a:srgbClr val="000000"/>
              </a:solidFill>
              <a:latin typeface="Arial"/>
              <a:ea typeface="Arial"/>
              <a:cs typeface="Arial"/>
              <a:sym typeface="Arial"/>
            </a:endParaRPr>
          </a:p>
        </p:txBody>
      </p:sp>
      <p:sp>
        <p:nvSpPr>
          <p:cNvPr id="607" name="Google Shape;607;g3fae3b6faca_1_135"/>
          <p:cNvSpPr/>
          <p:nvPr/>
        </p:nvSpPr>
        <p:spPr>
          <a:xfrm>
            <a:off x="7391203" y="3598069"/>
            <a:ext cx="228600" cy="228600"/>
          </a:xfrm>
          <a:prstGeom prst="roundRect">
            <a:avLst>
              <a:gd fmla="val 50000" name="adj"/>
            </a:avLst>
          </a:prstGeom>
          <a:solidFill>
            <a:srgbClr val="E8F1EA"/>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3fae3b6faca_1_135"/>
          <p:cNvSpPr/>
          <p:nvPr/>
        </p:nvSpPr>
        <p:spPr>
          <a:xfrm>
            <a:off x="7372131" y="3598069"/>
            <a:ext cx="209400" cy="219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09" name="Google Shape;609;g3fae3b6faca_1_135"/>
          <p:cNvSpPr/>
          <p:nvPr/>
        </p:nvSpPr>
        <p:spPr>
          <a:xfrm>
            <a:off x="7753143" y="3550444"/>
            <a:ext cx="34290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14251D"/>
                </a:solidFill>
                <a:latin typeface="Calibri"/>
                <a:ea typeface="Calibri"/>
                <a:cs typeface="Calibri"/>
                <a:sym typeface="Calibri"/>
              </a:rPr>
              <a:t>필요한 대상 축 정보</a:t>
            </a:r>
            <a:endParaRPr b="0" i="0" sz="1400" u="none" cap="none" strike="noStrike">
              <a:solidFill>
                <a:srgbClr val="000000"/>
              </a:solidFill>
              <a:latin typeface="Arial"/>
              <a:ea typeface="Arial"/>
              <a:cs typeface="Arial"/>
              <a:sym typeface="Arial"/>
            </a:endParaRPr>
          </a:p>
        </p:txBody>
      </p:sp>
      <p:sp>
        <p:nvSpPr>
          <p:cNvPr id="610" name="Google Shape;610;g3fae3b6faca_1_135"/>
          <p:cNvSpPr/>
          <p:nvPr/>
        </p:nvSpPr>
        <p:spPr>
          <a:xfrm>
            <a:off x="7391203" y="4083844"/>
            <a:ext cx="228600" cy="228600"/>
          </a:xfrm>
          <a:prstGeom prst="roundRect">
            <a:avLst>
              <a:gd fmla="val 50000" name="adj"/>
            </a:avLst>
          </a:prstGeom>
          <a:solidFill>
            <a:srgbClr val="E8F1EA"/>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g3fae3b6faca_1_135"/>
          <p:cNvSpPr/>
          <p:nvPr/>
        </p:nvSpPr>
        <p:spPr>
          <a:xfrm>
            <a:off x="7376531" y="4083844"/>
            <a:ext cx="209400" cy="219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12" name="Google Shape;612;g3fae3b6faca_1_135"/>
          <p:cNvSpPr/>
          <p:nvPr/>
        </p:nvSpPr>
        <p:spPr>
          <a:xfrm>
            <a:off x="7753143" y="4036219"/>
            <a:ext cx="34290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14251D"/>
                </a:solidFill>
                <a:latin typeface="Calibri"/>
                <a:ea typeface="Calibri"/>
                <a:cs typeface="Calibri"/>
                <a:sym typeface="Calibri"/>
              </a:rPr>
              <a:t>파생값이면 계산 근거</a:t>
            </a:r>
            <a:endParaRPr b="1" i="0" sz="1400" u="none" cap="none" strike="noStrike">
              <a:solidFill>
                <a:srgbClr val="000000"/>
              </a:solidFill>
              <a:latin typeface="Arial"/>
              <a:ea typeface="Arial"/>
              <a:cs typeface="Arial"/>
              <a:sym typeface="Arial"/>
            </a:endParaRPr>
          </a:p>
        </p:txBody>
      </p:sp>
      <p:sp>
        <p:nvSpPr>
          <p:cNvPr id="613" name="Google Shape;613;g3fae3b6faca_1_135"/>
          <p:cNvSpPr/>
          <p:nvPr/>
        </p:nvSpPr>
        <p:spPr>
          <a:xfrm>
            <a:off x="2114494" y="5124450"/>
            <a:ext cx="9486647" cy="542925"/>
          </a:xfrm>
          <a:prstGeom prst="roundRect">
            <a:avLst>
              <a:gd fmla="val 21053" name="adj"/>
            </a:avLst>
          </a:prstGeom>
          <a:solidFill>
            <a:srgbClr val="10271D"/>
          </a:solidFill>
          <a:ln cap="flat" cmpd="sng" w="9525">
            <a:solidFill>
              <a:srgbClr val="1027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g3fae3b6faca_1_135"/>
          <p:cNvSpPr/>
          <p:nvPr/>
        </p:nvSpPr>
        <p:spPr>
          <a:xfrm>
            <a:off x="2333563" y="5219700"/>
            <a:ext cx="952475" cy="342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FFFFFF"/>
                </a:solidFill>
                <a:latin typeface="Calibri"/>
                <a:ea typeface="Calibri"/>
                <a:cs typeface="Calibri"/>
                <a:sym typeface="Calibri"/>
              </a:rPr>
              <a:t>READY</a:t>
            </a:r>
            <a:endParaRPr b="0" i="0" sz="1400" u="none" cap="none" strike="noStrike">
              <a:solidFill>
                <a:srgbClr val="000000"/>
              </a:solidFill>
              <a:latin typeface="Arial"/>
              <a:ea typeface="Arial"/>
              <a:cs typeface="Arial"/>
              <a:sym typeface="Arial"/>
            </a:endParaRPr>
          </a:p>
        </p:txBody>
      </p:sp>
      <p:sp>
        <p:nvSpPr>
          <p:cNvPr id="615" name="Google Shape;615;g3fae3b6faca_1_135"/>
          <p:cNvSpPr/>
          <p:nvPr/>
        </p:nvSpPr>
        <p:spPr>
          <a:xfrm>
            <a:off x="3381285" y="5219700"/>
            <a:ext cx="7905539" cy="342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D8E5DC"/>
                </a:solidFill>
                <a:latin typeface="Calibri"/>
                <a:ea typeface="Calibri"/>
                <a:cs typeface="Calibri"/>
                <a:sym typeface="Calibri"/>
              </a:rPr>
              <a:t>공식 통계 검증에 필요한 정보가 충분한 측정값만 다음 단계로 이동</a:t>
            </a:r>
            <a:endParaRPr b="0" i="0" sz="1400" u="none" cap="none" strike="noStrike">
              <a:solidFill>
                <a:srgbClr val="000000"/>
              </a:solidFill>
              <a:latin typeface="Arial"/>
              <a:ea typeface="Arial"/>
              <a:cs typeface="Arial"/>
              <a:sym typeface="Arial"/>
            </a:endParaRPr>
          </a:p>
        </p:txBody>
      </p:sp>
      <p:sp>
        <p:nvSpPr>
          <p:cNvPr id="616" name="Google Shape;616;g3fae3b6faca_1_135"/>
          <p:cNvSpPr/>
          <p:nvPr/>
        </p:nvSpPr>
        <p:spPr>
          <a:xfrm>
            <a:off x="-1411298" y="1668282"/>
            <a:ext cx="18900" cy="12084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g3fae3b6faca_1_135"/>
          <p:cNvSpPr/>
          <p:nvPr/>
        </p:nvSpPr>
        <p:spPr>
          <a:xfrm>
            <a:off x="-1411301" y="2876642"/>
            <a:ext cx="18900" cy="24492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g3fae3b6faca_1_135"/>
          <p:cNvSpPr/>
          <p:nvPr/>
        </p:nvSpPr>
        <p:spPr>
          <a:xfrm>
            <a:off x="-1439869" y="16301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g3fae3b6faca_1_135"/>
          <p:cNvSpPr/>
          <p:nvPr/>
        </p:nvSpPr>
        <p:spPr>
          <a:xfrm>
            <a:off x="-1211275" y="15539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기사 입력</a:t>
            </a:r>
            <a:endParaRPr b="0" i="0" sz="1400" u="none" cap="none" strike="noStrike">
              <a:solidFill>
                <a:srgbClr val="000000"/>
              </a:solidFill>
              <a:latin typeface="Arial"/>
              <a:ea typeface="Arial"/>
              <a:cs typeface="Arial"/>
              <a:sym typeface="Arial"/>
            </a:endParaRPr>
          </a:p>
        </p:txBody>
      </p:sp>
      <p:sp>
        <p:nvSpPr>
          <p:cNvPr id="620" name="Google Shape;620;g3fae3b6faca_1_135"/>
          <p:cNvSpPr/>
          <p:nvPr/>
        </p:nvSpPr>
        <p:spPr>
          <a:xfrm>
            <a:off x="-1439869" y="22397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3fae3b6faca_1_135"/>
          <p:cNvSpPr/>
          <p:nvPr/>
        </p:nvSpPr>
        <p:spPr>
          <a:xfrm>
            <a:off x="-1211275" y="2163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50" u="none" cap="none" strike="noStrike">
                <a:solidFill>
                  <a:srgbClr val="11271D"/>
                </a:solidFill>
                <a:latin typeface="Arial"/>
                <a:ea typeface="Arial"/>
                <a:cs typeface="Arial"/>
                <a:sym typeface="Arial"/>
              </a:rPr>
              <a:t>HCX 추출</a:t>
            </a:r>
            <a:endParaRPr b="1" i="0" sz="850" u="none" cap="none" strike="noStrike">
              <a:solidFill>
                <a:srgbClr val="11271D"/>
              </a:solidFill>
              <a:latin typeface="Arial"/>
              <a:ea typeface="Arial"/>
              <a:cs typeface="Arial"/>
              <a:sym typeface="Arial"/>
            </a:endParaRPr>
          </a:p>
        </p:txBody>
      </p:sp>
      <p:sp>
        <p:nvSpPr>
          <p:cNvPr id="622" name="Google Shape;622;g3fae3b6faca_1_135"/>
          <p:cNvSpPr/>
          <p:nvPr/>
        </p:nvSpPr>
        <p:spPr>
          <a:xfrm>
            <a:off x="-1439869" y="28493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g3fae3b6faca_1_135"/>
          <p:cNvSpPr/>
          <p:nvPr/>
        </p:nvSpPr>
        <p:spPr>
          <a:xfrm>
            <a:off x="-1211275" y="27731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50" u="none" cap="none" strike="noStrike">
                <a:solidFill>
                  <a:srgbClr val="11271D"/>
                </a:solidFill>
                <a:latin typeface="Arial"/>
                <a:ea typeface="Arial"/>
                <a:cs typeface="Arial"/>
                <a:sym typeface="Arial"/>
              </a:rPr>
              <a:t>Ready Gate</a:t>
            </a:r>
            <a:endParaRPr b="1" i="0" sz="850" u="none" cap="none" strike="noStrike">
              <a:solidFill>
                <a:srgbClr val="11271D"/>
              </a:solidFill>
              <a:latin typeface="Arial"/>
              <a:ea typeface="Arial"/>
              <a:cs typeface="Arial"/>
              <a:sym typeface="Arial"/>
            </a:endParaRPr>
          </a:p>
        </p:txBody>
      </p:sp>
      <p:sp>
        <p:nvSpPr>
          <p:cNvPr id="624" name="Google Shape;624;g3fae3b6faca_1_135"/>
          <p:cNvSpPr/>
          <p:nvPr/>
        </p:nvSpPr>
        <p:spPr>
          <a:xfrm>
            <a:off x="-1211275" y="33827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표 검색</a:t>
            </a:r>
            <a:endParaRPr b="0" i="0" sz="1400" u="none" cap="none" strike="noStrike">
              <a:solidFill>
                <a:srgbClr val="9AA9A0"/>
              </a:solidFill>
              <a:latin typeface="Arial"/>
              <a:ea typeface="Arial"/>
              <a:cs typeface="Arial"/>
              <a:sym typeface="Arial"/>
            </a:endParaRPr>
          </a:p>
        </p:txBody>
      </p:sp>
      <p:sp>
        <p:nvSpPr>
          <p:cNvPr id="625" name="Google Shape;625;g3fae3b6faca_1_135"/>
          <p:cNvSpPr/>
          <p:nvPr/>
        </p:nvSpPr>
        <p:spPr>
          <a:xfrm>
            <a:off x="-1506467"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g3fae3b6faca_1_135"/>
          <p:cNvSpPr/>
          <p:nvPr/>
        </p:nvSpPr>
        <p:spPr>
          <a:xfrm>
            <a:off x="-1468368"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g3fae3b6faca_1_135"/>
          <p:cNvSpPr/>
          <p:nvPr/>
        </p:nvSpPr>
        <p:spPr>
          <a:xfrm>
            <a:off x="-1211275" y="39923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0" i="0" lang="en-US" sz="750" u="none" cap="none" strike="noStrike">
                <a:solidFill>
                  <a:srgbClr val="9AA9A0"/>
                </a:solidFill>
                <a:latin typeface="Arial"/>
                <a:ea typeface="Arial"/>
                <a:cs typeface="Arial"/>
                <a:sym typeface="Arial"/>
              </a:rPr>
              <a:t>좌표 생성</a:t>
            </a:r>
            <a:endParaRPr b="0" i="0" sz="750" u="none" cap="none" strike="noStrike">
              <a:solidFill>
                <a:srgbClr val="9AA9A0"/>
              </a:solidFill>
              <a:latin typeface="Arial"/>
              <a:ea typeface="Arial"/>
              <a:cs typeface="Arial"/>
              <a:sym typeface="Arial"/>
            </a:endParaRPr>
          </a:p>
        </p:txBody>
      </p:sp>
      <p:sp>
        <p:nvSpPr>
          <p:cNvPr id="628" name="Google Shape;628;g3fae3b6faca_1_135"/>
          <p:cNvSpPr/>
          <p:nvPr/>
        </p:nvSpPr>
        <p:spPr>
          <a:xfrm>
            <a:off x="-1506467" y="27826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g3fae3b6faca_1_135"/>
          <p:cNvSpPr/>
          <p:nvPr/>
        </p:nvSpPr>
        <p:spPr>
          <a:xfrm>
            <a:off x="-1468368" y="28207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3fae3b6faca_1_135"/>
          <p:cNvSpPr/>
          <p:nvPr/>
        </p:nvSpPr>
        <p:spPr>
          <a:xfrm>
            <a:off x="-1211275" y="46019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0" i="0" lang="en-US" sz="750" u="none" cap="none" strike="noStrike">
                <a:solidFill>
                  <a:srgbClr val="9AA9A0"/>
                </a:solidFill>
                <a:latin typeface="Arial"/>
                <a:ea typeface="Arial"/>
                <a:cs typeface="Arial"/>
                <a:sym typeface="Arial"/>
              </a:rPr>
              <a:t>공식값 대조</a:t>
            </a:r>
            <a:endParaRPr b="0" i="0" sz="750" u="none" cap="none" strike="noStrike">
              <a:solidFill>
                <a:srgbClr val="9AA9A0"/>
              </a:solidFill>
              <a:latin typeface="Arial"/>
              <a:ea typeface="Arial"/>
              <a:cs typeface="Arial"/>
              <a:sym typeface="Arial"/>
            </a:endParaRPr>
          </a:p>
        </p:txBody>
      </p:sp>
      <p:sp>
        <p:nvSpPr>
          <p:cNvPr id="631" name="Google Shape;631;g3fae3b6faca_1_135"/>
          <p:cNvSpPr/>
          <p:nvPr/>
        </p:nvSpPr>
        <p:spPr>
          <a:xfrm>
            <a:off x="-1439869" y="52877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3fae3b6faca_1_135"/>
          <p:cNvSpPr/>
          <p:nvPr/>
        </p:nvSpPr>
        <p:spPr>
          <a:xfrm>
            <a:off x="-1211275" y="5211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판정</a:t>
            </a:r>
            <a:endParaRPr b="0" i="0" sz="1400" u="none" cap="none" strike="noStrike">
              <a:solidFill>
                <a:srgbClr val="000000"/>
              </a:solidFill>
              <a:latin typeface="Arial"/>
              <a:ea typeface="Arial"/>
              <a:cs typeface="Arial"/>
              <a:sym typeface="Arial"/>
            </a:endParaRPr>
          </a:p>
        </p:txBody>
      </p:sp>
      <p:sp>
        <p:nvSpPr>
          <p:cNvPr id="633" name="Google Shape;633;g3fae3b6faca_1_135"/>
          <p:cNvSpPr/>
          <p:nvPr/>
        </p:nvSpPr>
        <p:spPr>
          <a:xfrm>
            <a:off x="-1439944" y="46781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g3fae3b6faca_1_135"/>
          <p:cNvSpPr/>
          <p:nvPr/>
        </p:nvSpPr>
        <p:spPr>
          <a:xfrm>
            <a:off x="-1439869" y="40685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g3fae3b6faca_1_135"/>
          <p:cNvSpPr/>
          <p:nvPr/>
        </p:nvSpPr>
        <p:spPr>
          <a:xfrm>
            <a:off x="-1439944" y="34589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g3fae3b6faca_1_135"/>
          <p:cNvSpPr/>
          <p:nvPr/>
        </p:nvSpPr>
        <p:spPr>
          <a:xfrm>
            <a:off x="399190" y="1943107"/>
            <a:ext cx="18900" cy="12084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g3fae3b6faca_1_135"/>
          <p:cNvSpPr/>
          <p:nvPr/>
        </p:nvSpPr>
        <p:spPr>
          <a:xfrm>
            <a:off x="399187" y="3151467"/>
            <a:ext cx="18900" cy="24492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g3fae3b6faca_1_135"/>
          <p:cNvSpPr/>
          <p:nvPr/>
        </p:nvSpPr>
        <p:spPr>
          <a:xfrm>
            <a:off x="370619" y="19050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g3fae3b6faca_1_135"/>
          <p:cNvSpPr/>
          <p:nvPr/>
        </p:nvSpPr>
        <p:spPr>
          <a:xfrm>
            <a:off x="599213"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기사 입력</a:t>
            </a:r>
            <a:endParaRPr b="0" i="0" sz="1400" u="none" cap="none" strike="noStrike">
              <a:solidFill>
                <a:srgbClr val="000000"/>
              </a:solidFill>
              <a:latin typeface="Arial"/>
              <a:ea typeface="Arial"/>
              <a:cs typeface="Arial"/>
              <a:sym typeface="Arial"/>
            </a:endParaRPr>
          </a:p>
        </p:txBody>
      </p:sp>
      <p:sp>
        <p:nvSpPr>
          <p:cNvPr id="640" name="Google Shape;640;g3fae3b6faca_1_135"/>
          <p:cNvSpPr/>
          <p:nvPr/>
        </p:nvSpPr>
        <p:spPr>
          <a:xfrm>
            <a:off x="370619" y="25146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g3fae3b6faca_1_135"/>
          <p:cNvSpPr/>
          <p:nvPr/>
        </p:nvSpPr>
        <p:spPr>
          <a:xfrm>
            <a:off x="599213"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50" u="none" cap="none" strike="noStrike">
                <a:solidFill>
                  <a:srgbClr val="11271D"/>
                </a:solidFill>
                <a:latin typeface="Arial"/>
                <a:ea typeface="Arial"/>
                <a:cs typeface="Arial"/>
                <a:sym typeface="Arial"/>
              </a:rPr>
              <a:t>HCX 추출</a:t>
            </a:r>
            <a:endParaRPr b="1" i="0" sz="850" u="none" cap="none" strike="noStrike">
              <a:solidFill>
                <a:srgbClr val="11271D"/>
              </a:solidFill>
              <a:latin typeface="Arial"/>
              <a:ea typeface="Arial"/>
              <a:cs typeface="Arial"/>
              <a:sym typeface="Arial"/>
            </a:endParaRPr>
          </a:p>
        </p:txBody>
      </p:sp>
      <p:sp>
        <p:nvSpPr>
          <p:cNvPr id="642" name="Google Shape;642;g3fae3b6faca_1_135"/>
          <p:cNvSpPr/>
          <p:nvPr/>
        </p:nvSpPr>
        <p:spPr>
          <a:xfrm>
            <a:off x="370619" y="31242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3fae3b6faca_1_135"/>
          <p:cNvSpPr/>
          <p:nvPr/>
        </p:nvSpPr>
        <p:spPr>
          <a:xfrm>
            <a:off x="599213"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50" u="none" cap="none" strike="noStrike">
                <a:solidFill>
                  <a:srgbClr val="11271D"/>
                </a:solidFill>
                <a:latin typeface="Arial"/>
                <a:ea typeface="Arial"/>
                <a:cs typeface="Arial"/>
                <a:sym typeface="Arial"/>
              </a:rPr>
              <a:t>Ready Gate</a:t>
            </a:r>
            <a:endParaRPr b="1" i="0" sz="850" u="none" cap="none" strike="noStrike">
              <a:solidFill>
                <a:srgbClr val="11271D"/>
              </a:solidFill>
              <a:latin typeface="Arial"/>
              <a:ea typeface="Arial"/>
              <a:cs typeface="Arial"/>
              <a:sym typeface="Arial"/>
            </a:endParaRPr>
          </a:p>
        </p:txBody>
      </p:sp>
      <p:sp>
        <p:nvSpPr>
          <p:cNvPr id="644" name="Google Shape;644;g3fae3b6faca_1_135"/>
          <p:cNvSpPr/>
          <p:nvPr/>
        </p:nvSpPr>
        <p:spPr>
          <a:xfrm>
            <a:off x="599213"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표 검색</a:t>
            </a:r>
            <a:endParaRPr b="0" i="0" sz="1400" u="none" cap="none" strike="noStrike">
              <a:solidFill>
                <a:srgbClr val="9AA9A0"/>
              </a:solidFill>
              <a:latin typeface="Arial"/>
              <a:ea typeface="Arial"/>
              <a:cs typeface="Arial"/>
              <a:sym typeface="Arial"/>
            </a:endParaRPr>
          </a:p>
        </p:txBody>
      </p:sp>
      <p:sp>
        <p:nvSpPr>
          <p:cNvPr id="645" name="Google Shape;645;g3fae3b6faca_1_135"/>
          <p:cNvSpPr/>
          <p:nvPr/>
        </p:nvSpPr>
        <p:spPr>
          <a:xfrm>
            <a:off x="304021" y="2447861"/>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g3fae3b6faca_1_135"/>
          <p:cNvSpPr/>
          <p:nvPr/>
        </p:nvSpPr>
        <p:spPr>
          <a:xfrm>
            <a:off x="342120" y="2485961"/>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g3fae3b6faca_1_135"/>
          <p:cNvSpPr/>
          <p:nvPr/>
        </p:nvSpPr>
        <p:spPr>
          <a:xfrm>
            <a:off x="599213" y="42672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0" i="0" lang="en-US" sz="750" u="none" cap="none" strike="noStrike">
                <a:solidFill>
                  <a:srgbClr val="9AA9A0"/>
                </a:solidFill>
                <a:latin typeface="Arial"/>
                <a:ea typeface="Arial"/>
                <a:cs typeface="Arial"/>
                <a:sym typeface="Arial"/>
              </a:rPr>
              <a:t>좌표 생성</a:t>
            </a:r>
            <a:endParaRPr b="0" i="0" sz="750" u="none" cap="none" strike="noStrike">
              <a:solidFill>
                <a:srgbClr val="9AA9A0"/>
              </a:solidFill>
              <a:latin typeface="Arial"/>
              <a:ea typeface="Arial"/>
              <a:cs typeface="Arial"/>
              <a:sym typeface="Arial"/>
            </a:endParaRPr>
          </a:p>
        </p:txBody>
      </p:sp>
      <p:sp>
        <p:nvSpPr>
          <p:cNvPr id="648" name="Google Shape;648;g3fae3b6faca_1_135"/>
          <p:cNvSpPr/>
          <p:nvPr/>
        </p:nvSpPr>
        <p:spPr>
          <a:xfrm>
            <a:off x="304021" y="3057461"/>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g3fae3b6faca_1_135"/>
          <p:cNvSpPr/>
          <p:nvPr/>
        </p:nvSpPr>
        <p:spPr>
          <a:xfrm>
            <a:off x="342120" y="3095561"/>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g3fae3b6faca_1_135"/>
          <p:cNvSpPr/>
          <p:nvPr/>
        </p:nvSpPr>
        <p:spPr>
          <a:xfrm>
            <a:off x="599213" y="4876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0" i="0" lang="en-US" sz="750" u="none" cap="none" strike="noStrike">
                <a:solidFill>
                  <a:srgbClr val="9AA9A0"/>
                </a:solidFill>
                <a:latin typeface="Arial"/>
                <a:ea typeface="Arial"/>
                <a:cs typeface="Arial"/>
                <a:sym typeface="Arial"/>
              </a:rPr>
              <a:t>공식값 대조</a:t>
            </a:r>
            <a:endParaRPr b="0" i="0" sz="750" u="none" cap="none" strike="noStrike">
              <a:solidFill>
                <a:srgbClr val="9AA9A0"/>
              </a:solidFill>
              <a:latin typeface="Arial"/>
              <a:ea typeface="Arial"/>
              <a:cs typeface="Arial"/>
              <a:sym typeface="Arial"/>
            </a:endParaRPr>
          </a:p>
        </p:txBody>
      </p:sp>
      <p:sp>
        <p:nvSpPr>
          <p:cNvPr id="651" name="Google Shape;651;g3fae3b6faca_1_135"/>
          <p:cNvSpPr/>
          <p:nvPr/>
        </p:nvSpPr>
        <p:spPr>
          <a:xfrm>
            <a:off x="370619" y="55626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fae3b6faca_1_135"/>
          <p:cNvSpPr/>
          <p:nvPr/>
        </p:nvSpPr>
        <p:spPr>
          <a:xfrm>
            <a:off x="599213" y="5486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판정</a:t>
            </a:r>
            <a:endParaRPr b="0" i="0" sz="1400" u="none" cap="none" strike="noStrike">
              <a:solidFill>
                <a:srgbClr val="000000"/>
              </a:solidFill>
              <a:latin typeface="Arial"/>
              <a:ea typeface="Arial"/>
              <a:cs typeface="Arial"/>
              <a:sym typeface="Arial"/>
            </a:endParaRPr>
          </a:p>
        </p:txBody>
      </p:sp>
      <p:sp>
        <p:nvSpPr>
          <p:cNvPr id="653" name="Google Shape;653;g3fae3b6faca_1_135"/>
          <p:cNvSpPr/>
          <p:nvPr/>
        </p:nvSpPr>
        <p:spPr>
          <a:xfrm>
            <a:off x="370544" y="49530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g3fae3b6faca_1_135"/>
          <p:cNvSpPr/>
          <p:nvPr/>
        </p:nvSpPr>
        <p:spPr>
          <a:xfrm>
            <a:off x="370619" y="43434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g3fae3b6faca_1_135"/>
          <p:cNvSpPr/>
          <p:nvPr/>
        </p:nvSpPr>
        <p:spPr>
          <a:xfrm>
            <a:off x="370544" y="37338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g3fae3b6faca_1_135"/>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g3fae3b6faca_1_135"/>
          <p:cNvSpPr/>
          <p:nvPr/>
        </p:nvSpPr>
        <p:spPr>
          <a:xfrm>
            <a:off x="2209751" y="304800"/>
            <a:ext cx="1809600" cy="28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Ready Gate</a:t>
            </a:r>
            <a:endParaRPr b="0" i="0" sz="1400" u="none" cap="none" strike="noStrike">
              <a:solidFill>
                <a:srgbClr val="000000"/>
              </a:solidFill>
              <a:latin typeface="Arial"/>
              <a:ea typeface="Arial"/>
              <a:cs typeface="Arial"/>
              <a:sym typeface="Arial"/>
            </a:endParaRPr>
          </a:p>
        </p:txBody>
      </p:sp>
      <p:sp>
        <p:nvSpPr>
          <p:cNvPr id="658" name="Google Shape;658;g3fae3b6faca_1_135"/>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g3fae3b6faca_1_135"/>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g3fae3b6faca_1_135"/>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g3fae3b6faca_1_135"/>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g3fae3b6faca_1_135"/>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g3fae3b6faca_1_135"/>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664" name="Google Shape;664;g3fae3b6faca_1_135"/>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665" name="Google Shape;665;g3fae3b6faca_1_135"/>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666" name="Google Shape;666;g3fae3b6faca_1_135"/>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667" name="Google Shape;667;g3fae3b6faca_1_135"/>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668" name="Google Shape;668;g3fae3b6faca_1_135"/>
          <p:cNvGrpSpPr/>
          <p:nvPr/>
        </p:nvGrpSpPr>
        <p:grpSpPr>
          <a:xfrm>
            <a:off x="283429" y="3067107"/>
            <a:ext cx="209400" cy="209700"/>
            <a:chOff x="-3275292" y="2173036"/>
            <a:chExt cx="209400" cy="209700"/>
          </a:xfrm>
        </p:grpSpPr>
        <p:sp>
          <p:nvSpPr>
            <p:cNvPr id="669" name="Google Shape;669;g3fae3b6faca_1_135"/>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3fae3b6faca_1_135"/>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1" name="Google Shape;671;g3fae3b6faca_1_135"/>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g3fae3b6faca_1_135"/>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g3fae3b6faca_1_135"/>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g3fae3b6faca_1_135"/>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g3fae3b6faca_1_135"/>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3fae3b6faca_1_135"/>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3fae3b6faca_1_135"/>
          <p:cNvSpPr/>
          <p:nvPr/>
        </p:nvSpPr>
        <p:spPr>
          <a:xfrm>
            <a:off x="2057400" y="329184"/>
            <a:ext cx="1965900" cy="292500"/>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g3fae3b6faca_1_135"/>
          <p:cNvSpPr/>
          <p:nvPr/>
        </p:nvSpPr>
        <p:spPr>
          <a:xfrm>
            <a:off x="2103120" y="329184"/>
            <a:ext cx="1874400" cy="292500"/>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03 · 구조화</a:t>
            </a:r>
            <a:endParaRPr b="0" i="0" sz="850" u="none" cap="none" strike="noStrike">
              <a:solidFill>
                <a:schemeClr val="dk1"/>
              </a:solidFill>
              <a:latin typeface="Malgun Gothic"/>
              <a:ea typeface="Malgun Gothic"/>
              <a:cs typeface="Malgun Gothic"/>
              <a:sym typeface="Malgun Gothic"/>
            </a:endParaRPr>
          </a:p>
        </p:txBody>
      </p:sp>
      <p:sp>
        <p:nvSpPr>
          <p:cNvPr id="679" name="Google Shape;679;g3fae3b6faca_1_135"/>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g3fae3b6faca_1_135"/>
          <p:cNvSpPr/>
          <p:nvPr/>
        </p:nvSpPr>
        <p:spPr>
          <a:xfrm>
            <a:off x="2167250" y="334101"/>
            <a:ext cx="1874400" cy="251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입력 </a:t>
            </a:r>
            <a:r>
              <a:rPr b="1" i="0" lang="en-US" sz="975" u="none" cap="none" strike="noStrike">
                <a:solidFill>
                  <a:srgbClr val="3F7A57"/>
                </a:solidFill>
                <a:latin typeface="Calibri"/>
                <a:ea typeface="Calibri"/>
                <a:cs typeface="Calibri"/>
                <a:sym typeface="Calibri"/>
              </a:rPr>
              <a:t>구조화</a:t>
            </a:r>
            <a:endParaRPr b="0" i="0" sz="1400" u="none" cap="none" strike="noStrike">
              <a:solidFill>
                <a:srgbClr val="000000"/>
              </a:solidFill>
              <a:latin typeface="Arial"/>
              <a:ea typeface="Arial"/>
              <a:cs typeface="Arial"/>
              <a:sym typeface="Arial"/>
            </a:endParaRPr>
          </a:p>
        </p:txBody>
      </p:sp>
      <p:sp>
        <p:nvSpPr>
          <p:cNvPr id="681" name="Google Shape;681;g3fae3b6faca_1_135"/>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682" name="Google Shape;682;g3fae3b6faca_1_135"/>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683" name="Google Shape;683;g3fae3b6faca_1_135"/>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684" name="Google Shape;684;g3fae3b6faca_1_135"/>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685" name="Google Shape;685;g3fae3b6faca_1_135"/>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686" name="Google Shape;686;g3fae3b6faca_1_135"/>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687" name="Google Shape;687;g3fae3b6faca_1_135"/>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688" name="Google Shape;688;g3fae3b6faca_1_135"/>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689" name="Google Shape;689;g3fae3b6faca_1_135"/>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690" name="Google Shape;690;g3fae3b6faca_1_135"/>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691" name="Google Shape;691;g3fae3b6faca_1_135"/>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692" name="Google Shape;692;g3fae3b6faca_1_135"/>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693" name="Google Shape;693;g3fae3b6faca_1_135"/>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694" name="Google Shape;694;g3fae3b6faca_1_135"/>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695" name="Google Shape;695;g3fae3b6faca_1_135"/>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696" name="Google Shape;696;g3fae3b6faca_1_135"/>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697" name="Google Shape;697;g3fae3b6faca_1_135"/>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702" name="Shape 702"/>
        <p:cNvGrpSpPr/>
        <p:nvPr/>
      </p:nvGrpSpPr>
      <p:grpSpPr>
        <a:xfrm>
          <a:off x="0" y="0"/>
          <a:ext cx="0" cy="0"/>
          <a:chOff x="0" y="0"/>
          <a:chExt cx="0" cy="0"/>
        </a:xfrm>
      </p:grpSpPr>
      <p:sp>
        <p:nvSpPr>
          <p:cNvPr id="703" name="Google Shape;703;g3fafe51123f_6_0"/>
          <p:cNvSpPr/>
          <p:nvPr/>
        </p:nvSpPr>
        <p:spPr>
          <a:xfrm>
            <a:off x="-6347"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04" name="Google Shape;704;g3fafe51123f_6_0"/>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705" name="Google Shape;705;g3fafe51123f_6_0"/>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g3fafe51123f_6_0"/>
          <p:cNvSpPr/>
          <p:nvPr/>
        </p:nvSpPr>
        <p:spPr>
          <a:xfrm>
            <a:off x="393192" y="5925312"/>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KOSIS 공식 통계 연결</a:t>
            </a:r>
            <a:endParaRPr b="0" i="0" sz="730" u="none" cap="none" strike="noStrike">
              <a:solidFill>
                <a:schemeClr val="dk1"/>
              </a:solidFill>
              <a:latin typeface="Malgun Gothic"/>
              <a:ea typeface="Malgun Gothic"/>
              <a:cs typeface="Malgun Gothic"/>
              <a:sym typeface="Malgun Gothic"/>
            </a:endParaRPr>
          </a:p>
        </p:txBody>
      </p:sp>
      <p:sp>
        <p:nvSpPr>
          <p:cNvPr id="707" name="Google Shape;707;g3fafe51123f_6_0"/>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g3fafe51123f_6_0"/>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g3fafe51123f_6_0"/>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3fafe51123f_6_0"/>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3fafe51123f_6_0"/>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g3fafe51123f_6_0"/>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713" name="Google Shape;713;g3fafe51123f_6_0"/>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714" name="Google Shape;714;g3fafe51123f_6_0"/>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715" name="Google Shape;715;g3fafe51123f_6_0"/>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716" name="Google Shape;716;g3fafe51123f_6_0"/>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717" name="Google Shape;717;g3fafe51123f_6_0"/>
          <p:cNvGrpSpPr/>
          <p:nvPr/>
        </p:nvGrpSpPr>
        <p:grpSpPr>
          <a:xfrm>
            <a:off x="283429" y="3067107"/>
            <a:ext cx="209400" cy="209700"/>
            <a:chOff x="-3275292" y="2173036"/>
            <a:chExt cx="209400" cy="209700"/>
          </a:xfrm>
        </p:grpSpPr>
        <p:sp>
          <p:nvSpPr>
            <p:cNvPr id="718" name="Google Shape;718;g3fafe51123f_6_0"/>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g3fafe51123f_6_0"/>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0" name="Google Shape;720;g3fafe51123f_6_0"/>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g3fafe51123f_6_0"/>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g3fafe51123f_6_0"/>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g3fafe51123f_6_0"/>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3fafe51123f_6_0"/>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g3fafe51123f_6_0"/>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3fafe51123f_6_0"/>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g3fafe51123f_6_0"/>
          <p:cNvSpPr/>
          <p:nvPr/>
        </p:nvSpPr>
        <p:spPr>
          <a:xfrm>
            <a:off x="2095444" y="695325"/>
            <a:ext cx="9524746" cy="523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0271D"/>
                </a:solidFill>
                <a:latin typeface="Arial"/>
                <a:ea typeface="Arial"/>
                <a:cs typeface="Arial"/>
                <a:sym typeface="Arial"/>
              </a:rPr>
              <a:t>검색은 “표 → 좌표 → 순위”의 3단계</a:t>
            </a:r>
            <a:endParaRPr b="0" i="0" sz="1400" u="none" cap="none" strike="noStrike">
              <a:solidFill>
                <a:srgbClr val="000000"/>
              </a:solidFill>
              <a:latin typeface="Arial"/>
              <a:ea typeface="Arial"/>
              <a:cs typeface="Arial"/>
              <a:sym typeface="Arial"/>
            </a:endParaRPr>
          </a:p>
        </p:txBody>
      </p:sp>
      <p:sp>
        <p:nvSpPr>
          <p:cNvPr id="728" name="Google Shape;728;g3fafe51123f_6_0"/>
          <p:cNvSpPr/>
          <p:nvPr/>
        </p:nvSpPr>
        <p:spPr>
          <a:xfrm>
            <a:off x="2114494" y="1228725"/>
            <a:ext cx="9429499" cy="323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6A7C72"/>
                </a:solidFill>
                <a:latin typeface="Arial"/>
                <a:ea typeface="Arial"/>
                <a:cs typeface="Arial"/>
                <a:sym typeface="Arial"/>
              </a:rPr>
              <a:t>각 Stage가 다른 질문을 풀기 때문에 검색과 확정을 분리할 수 있습니다.</a:t>
            </a:r>
            <a:endParaRPr b="0" i="0" sz="1400" u="none" cap="none" strike="noStrike">
              <a:solidFill>
                <a:srgbClr val="000000"/>
              </a:solidFill>
              <a:latin typeface="Arial"/>
              <a:ea typeface="Arial"/>
              <a:cs typeface="Arial"/>
              <a:sym typeface="Arial"/>
            </a:endParaRPr>
          </a:p>
        </p:txBody>
      </p:sp>
      <p:sp>
        <p:nvSpPr>
          <p:cNvPr id="729" name="Google Shape;729;g3fafe51123f_6_0"/>
          <p:cNvSpPr/>
          <p:nvPr/>
        </p:nvSpPr>
        <p:spPr>
          <a:xfrm>
            <a:off x="2095444" y="6543675"/>
            <a:ext cx="2857424"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A7C72"/>
                </a:solidFill>
                <a:latin typeface="Arial"/>
                <a:ea typeface="Arial"/>
                <a:cs typeface="Arial"/>
                <a:sym typeface="Arial"/>
              </a:rPr>
              <a:t>KOSIS 뉴스 수치 주장 검증 PoC</a:t>
            </a:r>
            <a:endParaRPr b="0" i="0" sz="1400" u="none" cap="none" strike="noStrike">
              <a:solidFill>
                <a:srgbClr val="000000"/>
              </a:solidFill>
              <a:latin typeface="Arial"/>
              <a:ea typeface="Arial"/>
              <a:cs typeface="Arial"/>
              <a:sym typeface="Arial"/>
            </a:endParaRPr>
          </a:p>
        </p:txBody>
      </p:sp>
      <p:sp>
        <p:nvSpPr>
          <p:cNvPr id="730" name="Google Shape;730;g3fafe51123f_6_0"/>
          <p:cNvSpPr/>
          <p:nvPr/>
        </p:nvSpPr>
        <p:spPr>
          <a:xfrm>
            <a:off x="10953458" y="6534150"/>
            <a:ext cx="666732" cy="152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675"/>
              <a:buFont typeface="Arial"/>
              <a:buNone/>
            </a:pPr>
            <a:r>
              <a:rPr b="1" i="0" lang="en-US" sz="675" u="none" cap="none" strike="noStrike">
                <a:solidFill>
                  <a:srgbClr val="6A7C72"/>
                </a:solidFill>
                <a:latin typeface="Arial"/>
                <a:ea typeface="Arial"/>
                <a:cs typeface="Arial"/>
                <a:sym typeface="Arial"/>
              </a:rPr>
              <a:t>1 / 4</a:t>
            </a:r>
            <a:endParaRPr b="0" i="0" sz="1400" u="none" cap="none" strike="noStrike">
              <a:solidFill>
                <a:srgbClr val="000000"/>
              </a:solidFill>
              <a:latin typeface="Arial"/>
              <a:ea typeface="Arial"/>
              <a:cs typeface="Arial"/>
              <a:sym typeface="Arial"/>
            </a:endParaRPr>
          </a:p>
        </p:txBody>
      </p:sp>
      <p:sp>
        <p:nvSpPr>
          <p:cNvPr id="731" name="Google Shape;731;g3fafe51123f_6_0"/>
          <p:cNvSpPr/>
          <p:nvPr/>
        </p:nvSpPr>
        <p:spPr>
          <a:xfrm>
            <a:off x="5171937" y="3105150"/>
            <a:ext cx="295267" cy="28575"/>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3fafe51123f_6_0"/>
          <p:cNvSpPr/>
          <p:nvPr/>
        </p:nvSpPr>
        <p:spPr>
          <a:xfrm>
            <a:off x="5381482" y="2962275"/>
            <a:ext cx="209544"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3F7A57"/>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33" name="Google Shape;733;g3fafe51123f_6_0"/>
          <p:cNvSpPr/>
          <p:nvPr/>
        </p:nvSpPr>
        <p:spPr>
          <a:xfrm>
            <a:off x="8381777" y="3105150"/>
            <a:ext cx="295267" cy="28575"/>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g3fafe51123f_6_0"/>
          <p:cNvSpPr/>
          <p:nvPr/>
        </p:nvSpPr>
        <p:spPr>
          <a:xfrm>
            <a:off x="8591321" y="2962275"/>
            <a:ext cx="209544"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3F7A57"/>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35" name="Google Shape;735;g3fafe51123f_6_0"/>
          <p:cNvSpPr/>
          <p:nvPr/>
        </p:nvSpPr>
        <p:spPr>
          <a:xfrm>
            <a:off x="2114494" y="1962150"/>
            <a:ext cx="2857424" cy="2543175"/>
          </a:xfrm>
          <a:prstGeom prst="roundRect">
            <a:avLst>
              <a:gd fmla="val 4494" name="adj"/>
            </a:avLst>
          </a:prstGeom>
          <a:solidFill>
            <a:srgbClr val="E7EFF2"/>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g3fafe51123f_6_0"/>
          <p:cNvSpPr/>
          <p:nvPr/>
        </p:nvSpPr>
        <p:spPr>
          <a:xfrm>
            <a:off x="2114494" y="1962150"/>
            <a:ext cx="57148" cy="2543175"/>
          </a:xfrm>
          <a:prstGeom prst="roundRect">
            <a:avLst>
              <a:gd fmla="val 50000" name="adj"/>
            </a:avLst>
          </a:prstGeom>
          <a:solidFill>
            <a:srgbClr val="527487"/>
          </a:solidFill>
          <a:ln cap="flat" cmpd="sng" w="9525">
            <a:solidFill>
              <a:srgbClr val="5274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g3fafe51123f_6_0"/>
          <p:cNvSpPr/>
          <p:nvPr/>
        </p:nvSpPr>
        <p:spPr>
          <a:xfrm>
            <a:off x="2324038" y="2105025"/>
            <a:ext cx="2476434" cy="200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27487"/>
                </a:solidFill>
                <a:latin typeface="Arial"/>
                <a:ea typeface="Arial"/>
                <a:cs typeface="Arial"/>
                <a:sym typeface="Arial"/>
              </a:rPr>
              <a:t>STAGE A</a:t>
            </a:r>
            <a:endParaRPr b="0" i="0" sz="1400" u="none" cap="none" strike="noStrike">
              <a:solidFill>
                <a:srgbClr val="000000"/>
              </a:solidFill>
              <a:latin typeface="Arial"/>
              <a:ea typeface="Arial"/>
              <a:cs typeface="Arial"/>
              <a:sym typeface="Arial"/>
            </a:endParaRPr>
          </a:p>
        </p:txBody>
      </p:sp>
      <p:sp>
        <p:nvSpPr>
          <p:cNvPr id="738" name="Google Shape;738;g3fafe51123f_6_0"/>
          <p:cNvSpPr/>
          <p:nvPr/>
        </p:nvSpPr>
        <p:spPr>
          <a:xfrm>
            <a:off x="2324038" y="2362200"/>
            <a:ext cx="2476434" cy="3143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10271D"/>
                </a:solidFill>
                <a:latin typeface="Arial"/>
                <a:ea typeface="Arial"/>
                <a:cs typeface="Arial"/>
                <a:sym typeface="Arial"/>
              </a:rPr>
              <a:t>관련 통계표 검색</a:t>
            </a:r>
            <a:endParaRPr b="0" i="0" sz="1400" u="none" cap="none" strike="noStrike">
              <a:solidFill>
                <a:srgbClr val="000000"/>
              </a:solidFill>
              <a:latin typeface="Arial"/>
              <a:ea typeface="Arial"/>
              <a:cs typeface="Arial"/>
              <a:sym typeface="Arial"/>
            </a:endParaRPr>
          </a:p>
        </p:txBody>
      </p:sp>
      <p:sp>
        <p:nvSpPr>
          <p:cNvPr id="739" name="Google Shape;739;g3fafe51123f_6_0"/>
          <p:cNvSpPr/>
          <p:nvPr/>
        </p:nvSpPr>
        <p:spPr>
          <a:xfrm>
            <a:off x="2324038" y="2752725"/>
            <a:ext cx="2476434" cy="1628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질문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어느 KOSIS 통계표가 관련 있는가?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17271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출력</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주장별 표 후보 pool</a:t>
            </a:r>
            <a:endParaRPr b="0" i="0" sz="1400" u="none" cap="none" strike="noStrike">
              <a:solidFill>
                <a:srgbClr val="000000"/>
              </a:solidFill>
              <a:latin typeface="Arial"/>
              <a:ea typeface="Arial"/>
              <a:cs typeface="Arial"/>
              <a:sym typeface="Arial"/>
            </a:endParaRPr>
          </a:p>
        </p:txBody>
      </p:sp>
      <p:sp>
        <p:nvSpPr>
          <p:cNvPr id="740" name="Google Shape;740;g3fafe51123f_6_0"/>
          <p:cNvSpPr/>
          <p:nvPr/>
        </p:nvSpPr>
        <p:spPr>
          <a:xfrm>
            <a:off x="5324333" y="1962150"/>
            <a:ext cx="2857424" cy="2543175"/>
          </a:xfrm>
          <a:prstGeom prst="roundRect">
            <a:avLst>
              <a:gd fmla="val 4494" name="adj"/>
            </a:avLst>
          </a:prstGeom>
          <a:solidFill>
            <a:srgbClr val="E8F1EA"/>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3fafe51123f_6_0"/>
          <p:cNvSpPr/>
          <p:nvPr/>
        </p:nvSpPr>
        <p:spPr>
          <a:xfrm>
            <a:off x="5324333" y="1962150"/>
            <a:ext cx="57148" cy="2543175"/>
          </a:xfrm>
          <a:prstGeom prst="roundRect">
            <a:avLst>
              <a:gd fmla="val 500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g3fafe51123f_6_0"/>
          <p:cNvSpPr/>
          <p:nvPr/>
        </p:nvSpPr>
        <p:spPr>
          <a:xfrm>
            <a:off x="5533877" y="2105025"/>
            <a:ext cx="2476434" cy="200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F7A57"/>
                </a:solidFill>
                <a:latin typeface="Arial"/>
                <a:ea typeface="Arial"/>
                <a:cs typeface="Arial"/>
                <a:sym typeface="Arial"/>
              </a:rPr>
              <a:t>STAGE B</a:t>
            </a:r>
            <a:endParaRPr b="0" i="0" sz="1400" u="none" cap="none" strike="noStrike">
              <a:solidFill>
                <a:srgbClr val="000000"/>
              </a:solidFill>
              <a:latin typeface="Arial"/>
              <a:ea typeface="Arial"/>
              <a:cs typeface="Arial"/>
              <a:sym typeface="Arial"/>
            </a:endParaRPr>
          </a:p>
        </p:txBody>
      </p:sp>
      <p:sp>
        <p:nvSpPr>
          <p:cNvPr id="743" name="Google Shape;743;g3fafe51123f_6_0"/>
          <p:cNvSpPr/>
          <p:nvPr/>
        </p:nvSpPr>
        <p:spPr>
          <a:xfrm>
            <a:off x="5533877" y="2362200"/>
            <a:ext cx="2476434" cy="3143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10271D"/>
                </a:solidFill>
                <a:latin typeface="Arial"/>
                <a:ea typeface="Arial"/>
                <a:cs typeface="Arial"/>
                <a:sym typeface="Arial"/>
              </a:rPr>
              <a:t>ITEM·OBJ 좌표 생성</a:t>
            </a:r>
            <a:endParaRPr b="0" i="0" sz="1400" u="none" cap="none" strike="noStrike">
              <a:solidFill>
                <a:srgbClr val="000000"/>
              </a:solidFill>
              <a:latin typeface="Arial"/>
              <a:ea typeface="Arial"/>
              <a:cs typeface="Arial"/>
              <a:sym typeface="Arial"/>
            </a:endParaRPr>
          </a:p>
        </p:txBody>
      </p:sp>
      <p:sp>
        <p:nvSpPr>
          <p:cNvPr id="744" name="Google Shape;744;g3fafe51123f_6_0"/>
          <p:cNvSpPr/>
          <p:nvPr/>
        </p:nvSpPr>
        <p:spPr>
          <a:xfrm>
            <a:off x="5533877" y="2752725"/>
            <a:ext cx="2476434" cy="1628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질문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그 표 안에서 어떤 코드 조합이 실제로 존재하는가?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17271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출력</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조회 가능한 좌표 후보</a:t>
            </a:r>
            <a:endParaRPr b="0" i="0" sz="1400" u="none" cap="none" strike="noStrike">
              <a:solidFill>
                <a:srgbClr val="000000"/>
              </a:solidFill>
              <a:latin typeface="Arial"/>
              <a:ea typeface="Arial"/>
              <a:cs typeface="Arial"/>
              <a:sym typeface="Arial"/>
            </a:endParaRPr>
          </a:p>
        </p:txBody>
      </p:sp>
      <p:sp>
        <p:nvSpPr>
          <p:cNvPr id="745" name="Google Shape;745;g3fafe51123f_6_0"/>
          <p:cNvSpPr/>
          <p:nvPr/>
        </p:nvSpPr>
        <p:spPr>
          <a:xfrm>
            <a:off x="8534173" y="1962150"/>
            <a:ext cx="3066968" cy="2543175"/>
          </a:xfrm>
          <a:prstGeom prst="roundRect">
            <a:avLst>
              <a:gd fmla="val 4494" name="adj"/>
            </a:avLst>
          </a:prstGeom>
          <a:solidFill>
            <a:srgbClr val="F7EDE2"/>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g3fafe51123f_6_0"/>
          <p:cNvSpPr/>
          <p:nvPr/>
        </p:nvSpPr>
        <p:spPr>
          <a:xfrm>
            <a:off x="8534173" y="1962150"/>
            <a:ext cx="57148" cy="2543175"/>
          </a:xfrm>
          <a:prstGeom prst="roundRect">
            <a:avLst>
              <a:gd fmla="val 50000" name="adj"/>
            </a:avLst>
          </a:prstGeom>
          <a:solidFill>
            <a:srgbClr val="B36C2E"/>
          </a:solidFill>
          <a:ln cap="flat" cmpd="sng" w="9525">
            <a:solidFill>
              <a:srgbClr val="B36C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g3fafe51123f_6_0"/>
          <p:cNvSpPr/>
          <p:nvPr/>
        </p:nvSpPr>
        <p:spPr>
          <a:xfrm>
            <a:off x="8743717" y="2105025"/>
            <a:ext cx="2685978" cy="200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36C2E"/>
                </a:solidFill>
                <a:latin typeface="Arial"/>
                <a:ea typeface="Arial"/>
                <a:cs typeface="Arial"/>
                <a:sym typeface="Arial"/>
              </a:rPr>
              <a:t>STAGE C</a:t>
            </a:r>
            <a:endParaRPr b="0" i="0" sz="1400" u="none" cap="none" strike="noStrike">
              <a:solidFill>
                <a:srgbClr val="000000"/>
              </a:solidFill>
              <a:latin typeface="Arial"/>
              <a:ea typeface="Arial"/>
              <a:cs typeface="Arial"/>
              <a:sym typeface="Arial"/>
            </a:endParaRPr>
          </a:p>
        </p:txBody>
      </p:sp>
      <p:sp>
        <p:nvSpPr>
          <p:cNvPr id="748" name="Google Shape;748;g3fafe51123f_6_0"/>
          <p:cNvSpPr/>
          <p:nvPr/>
        </p:nvSpPr>
        <p:spPr>
          <a:xfrm>
            <a:off x="8743717" y="2362200"/>
            <a:ext cx="2685978" cy="3143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10271D"/>
                </a:solidFill>
                <a:latin typeface="Arial"/>
                <a:ea typeface="Arial"/>
                <a:cs typeface="Arial"/>
                <a:sym typeface="Arial"/>
              </a:rPr>
              <a:t>좌표 재순위</a:t>
            </a:r>
            <a:endParaRPr b="0" i="0" sz="1400" u="none" cap="none" strike="noStrike">
              <a:solidFill>
                <a:srgbClr val="000000"/>
              </a:solidFill>
              <a:latin typeface="Arial"/>
              <a:ea typeface="Arial"/>
              <a:cs typeface="Arial"/>
              <a:sym typeface="Arial"/>
            </a:endParaRPr>
          </a:p>
        </p:txBody>
      </p:sp>
      <p:sp>
        <p:nvSpPr>
          <p:cNvPr id="749" name="Google Shape;749;g3fafe51123f_6_0"/>
          <p:cNvSpPr/>
          <p:nvPr/>
        </p:nvSpPr>
        <p:spPr>
          <a:xfrm>
            <a:off x="8743717" y="2752725"/>
            <a:ext cx="2685978" cy="1628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질문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기사 의미에 가장 맞는 좌표는 무엇인가?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17271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출력</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Top-3 + 제한적 rank 4·5</a:t>
            </a:r>
            <a:endParaRPr b="0" i="0" sz="1400" u="none" cap="none" strike="noStrike">
              <a:solidFill>
                <a:srgbClr val="000000"/>
              </a:solidFill>
              <a:latin typeface="Arial"/>
              <a:ea typeface="Arial"/>
              <a:cs typeface="Arial"/>
              <a:sym typeface="Arial"/>
            </a:endParaRPr>
          </a:p>
        </p:txBody>
      </p:sp>
      <p:sp>
        <p:nvSpPr>
          <p:cNvPr id="750" name="Google Shape;750;g3fafe51123f_6_0"/>
          <p:cNvSpPr/>
          <p:nvPr/>
        </p:nvSpPr>
        <p:spPr>
          <a:xfrm>
            <a:off x="2114494" y="4962525"/>
            <a:ext cx="9486647" cy="666750"/>
          </a:xfrm>
          <a:prstGeom prst="roundRect">
            <a:avLst>
              <a:gd fmla="val 17143" name="adj"/>
            </a:avLst>
          </a:prstGeom>
          <a:solidFill>
            <a:srgbClr val="10271D"/>
          </a:solidFill>
          <a:ln cap="flat" cmpd="sng" w="9525">
            <a:solidFill>
              <a:srgbClr val="1027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g3fafe51123f_6_0"/>
          <p:cNvSpPr/>
          <p:nvPr/>
        </p:nvSpPr>
        <p:spPr>
          <a:xfrm>
            <a:off x="2333563" y="5124450"/>
            <a:ext cx="1238217" cy="323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BBD0C1"/>
                </a:solidFill>
                <a:latin typeface="Arial"/>
                <a:ea typeface="Arial"/>
                <a:cs typeface="Arial"/>
                <a:sym typeface="Arial"/>
              </a:rPr>
              <a:t>핵심 원칙</a:t>
            </a:r>
            <a:endParaRPr b="0" i="0" sz="1400" u="none" cap="none" strike="noStrike">
              <a:solidFill>
                <a:srgbClr val="000000"/>
              </a:solidFill>
              <a:latin typeface="Arial"/>
              <a:ea typeface="Arial"/>
              <a:cs typeface="Arial"/>
              <a:sym typeface="Arial"/>
            </a:endParaRPr>
          </a:p>
        </p:txBody>
      </p:sp>
      <p:sp>
        <p:nvSpPr>
          <p:cNvPr id="752" name="Google Shape;752;g3fafe51123f_6_0"/>
          <p:cNvSpPr/>
          <p:nvPr/>
        </p:nvSpPr>
        <p:spPr>
          <a:xfrm>
            <a:off x="3571780" y="5086350"/>
            <a:ext cx="7715044"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Arial"/>
                <a:ea typeface="Arial"/>
                <a:cs typeface="Arial"/>
                <a:sym typeface="Arial"/>
              </a:rPr>
              <a:t>Stage A는 표를 추천하고, Stage B는 실재 좌표를 만들며, Stage C는 안전한 순서를 정합니다.</a:t>
            </a:r>
            <a:endParaRPr b="0" i="0" sz="1400" u="none" cap="none" strike="noStrike">
              <a:solidFill>
                <a:srgbClr val="000000"/>
              </a:solidFill>
              <a:latin typeface="Arial"/>
              <a:ea typeface="Arial"/>
              <a:cs typeface="Arial"/>
              <a:sym typeface="Arial"/>
            </a:endParaRPr>
          </a:p>
        </p:txBody>
      </p:sp>
      <p:sp>
        <p:nvSpPr>
          <p:cNvPr id="753" name="Google Shape;753;g3fafe51123f_6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g3fafe51123f_6_0"/>
          <p:cNvSpPr/>
          <p:nvPr/>
        </p:nvSpPr>
        <p:spPr>
          <a:xfrm>
            <a:off x="2013401" y="169973"/>
            <a:ext cx="21636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검색 및 좌표확정</a:t>
            </a:r>
            <a:endParaRPr b="0" i="0" sz="1400" u="none" cap="none" strike="noStrike">
              <a:solidFill>
                <a:srgbClr val="000000"/>
              </a:solidFill>
              <a:latin typeface="Arial"/>
              <a:ea typeface="Arial"/>
              <a:cs typeface="Arial"/>
              <a:sym typeface="Arial"/>
            </a:endParaRPr>
          </a:p>
        </p:txBody>
      </p:sp>
      <p:sp>
        <p:nvSpPr>
          <p:cNvPr id="755" name="Google Shape;755;g3fafe51123f_6_0"/>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756" name="Google Shape;756;g3fafe51123f_6_0"/>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757" name="Google Shape;757;g3fafe51123f_6_0"/>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758" name="Google Shape;758;g3fafe51123f_6_0"/>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759" name="Google Shape;759;g3fafe51123f_6_0"/>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760" name="Google Shape;760;g3fafe51123f_6_0"/>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761" name="Google Shape;761;g3fafe51123f_6_0"/>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762" name="Google Shape;762;g3fafe51123f_6_0"/>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763" name="Google Shape;763;g3fafe51123f_6_0"/>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764" name="Google Shape;764;g3fafe51123f_6_0"/>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765" name="Google Shape;765;g3fafe51123f_6_0"/>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766" name="Google Shape;766;g3fafe51123f_6_0"/>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767" name="Google Shape;767;g3fafe51123f_6_0"/>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768" name="Google Shape;768;g3fafe51123f_6_0"/>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769" name="Google Shape;769;g3fafe51123f_6_0"/>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770" name="Google Shape;770;g3fafe51123f_6_0"/>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771" name="Google Shape;771;g3fafe51123f_6_0"/>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776" name="Shape 776"/>
        <p:cNvGrpSpPr/>
        <p:nvPr/>
      </p:nvGrpSpPr>
      <p:grpSpPr>
        <a:xfrm>
          <a:off x="0" y="0"/>
          <a:ext cx="0" cy="0"/>
          <a:chOff x="0" y="0"/>
          <a:chExt cx="0" cy="0"/>
        </a:xfrm>
      </p:grpSpPr>
      <p:sp>
        <p:nvSpPr>
          <p:cNvPr id="777" name="Google Shape;777;g3fafe51123f_6_49"/>
          <p:cNvSpPr/>
          <p:nvPr/>
        </p:nvSpPr>
        <p:spPr>
          <a:xfrm>
            <a:off x="-6347"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g3fafe51123f_6_49"/>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3fafe51123f_6_49"/>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g3fafe51123f_6_49"/>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g3fafe51123f_6_49"/>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g3fafe51123f_6_49"/>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3fafe51123f_6_49"/>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784" name="Google Shape;784;g3fafe51123f_6_49"/>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785" name="Google Shape;785;g3fafe51123f_6_49"/>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786" name="Google Shape;786;g3fafe51123f_6_49"/>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787" name="Google Shape;787;g3fafe51123f_6_49"/>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788" name="Google Shape;788;g3fafe51123f_6_49"/>
          <p:cNvGrpSpPr/>
          <p:nvPr/>
        </p:nvGrpSpPr>
        <p:grpSpPr>
          <a:xfrm>
            <a:off x="283429" y="3067107"/>
            <a:ext cx="209400" cy="209700"/>
            <a:chOff x="-3275292" y="2173036"/>
            <a:chExt cx="209400" cy="209700"/>
          </a:xfrm>
        </p:grpSpPr>
        <p:sp>
          <p:nvSpPr>
            <p:cNvPr id="789" name="Google Shape;789;g3fafe51123f_6_49"/>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g3fafe51123f_6_49"/>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1" name="Google Shape;791;g3fafe51123f_6_49"/>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g3fafe51123f_6_49"/>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g3fafe51123f_6_49"/>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g3fafe51123f_6_49"/>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g3fafe51123f_6_49"/>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g3fafe51123f_6_49"/>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g3fafe51123f_6_49"/>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g3fafe51123f_6_49"/>
          <p:cNvSpPr/>
          <p:nvPr/>
        </p:nvSpPr>
        <p:spPr>
          <a:xfrm>
            <a:off x="2095444" y="695325"/>
            <a:ext cx="9524746" cy="523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0271D"/>
                </a:solidFill>
                <a:latin typeface="Arial"/>
                <a:ea typeface="Arial"/>
                <a:cs typeface="Arial"/>
                <a:sym typeface="Arial"/>
              </a:rPr>
              <a:t>Stage A : 자연어 주장을 관련 KOSIS 통계표로 연결</a:t>
            </a:r>
            <a:endParaRPr b="0" i="0" sz="1400" u="none" cap="none" strike="noStrike">
              <a:solidFill>
                <a:srgbClr val="000000"/>
              </a:solidFill>
              <a:latin typeface="Arial"/>
              <a:ea typeface="Arial"/>
              <a:cs typeface="Arial"/>
              <a:sym typeface="Arial"/>
            </a:endParaRPr>
          </a:p>
        </p:txBody>
      </p:sp>
      <p:sp>
        <p:nvSpPr>
          <p:cNvPr id="799" name="Google Shape;799;g3fafe51123f_6_49"/>
          <p:cNvSpPr/>
          <p:nvPr/>
        </p:nvSpPr>
        <p:spPr>
          <a:xfrm>
            <a:off x="2114494" y="1228725"/>
            <a:ext cx="9429499" cy="323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6A7C72"/>
                </a:solidFill>
                <a:latin typeface="Arial"/>
                <a:ea typeface="Arial"/>
                <a:cs typeface="Arial"/>
                <a:sym typeface="Arial"/>
              </a:rPr>
              <a:t>정확 문자열과 의미 유사성을 함께 보고, 아직 ITEM·OBJ 코드는 확정하지 않습니다.</a:t>
            </a:r>
            <a:endParaRPr b="0" i="0" sz="1400" u="none" cap="none" strike="noStrike">
              <a:solidFill>
                <a:srgbClr val="000000"/>
              </a:solidFill>
              <a:latin typeface="Arial"/>
              <a:ea typeface="Arial"/>
              <a:cs typeface="Arial"/>
              <a:sym typeface="Arial"/>
            </a:endParaRPr>
          </a:p>
        </p:txBody>
      </p:sp>
      <p:sp>
        <p:nvSpPr>
          <p:cNvPr id="800" name="Google Shape;800;g3fafe51123f_6_49"/>
          <p:cNvSpPr/>
          <p:nvPr/>
        </p:nvSpPr>
        <p:spPr>
          <a:xfrm>
            <a:off x="2095444" y="6543675"/>
            <a:ext cx="2857424"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A7C72"/>
                </a:solidFill>
                <a:latin typeface="Arial"/>
                <a:ea typeface="Arial"/>
                <a:cs typeface="Arial"/>
                <a:sym typeface="Arial"/>
              </a:rPr>
              <a:t>KOSIS 뉴스 수치 주장 검증 PoC</a:t>
            </a:r>
            <a:endParaRPr b="0" i="0" sz="1400" u="none" cap="none" strike="noStrike">
              <a:solidFill>
                <a:srgbClr val="000000"/>
              </a:solidFill>
              <a:latin typeface="Arial"/>
              <a:ea typeface="Arial"/>
              <a:cs typeface="Arial"/>
              <a:sym typeface="Arial"/>
            </a:endParaRPr>
          </a:p>
        </p:txBody>
      </p:sp>
      <p:sp>
        <p:nvSpPr>
          <p:cNvPr id="801" name="Google Shape;801;g3fafe51123f_6_49"/>
          <p:cNvSpPr/>
          <p:nvPr/>
        </p:nvSpPr>
        <p:spPr>
          <a:xfrm>
            <a:off x="10953458" y="6534150"/>
            <a:ext cx="666732" cy="152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675"/>
              <a:buFont typeface="Arial"/>
              <a:buNone/>
            </a:pPr>
            <a:r>
              <a:rPr b="1" i="0" lang="en-US" sz="675" u="none" cap="none" strike="noStrike">
                <a:solidFill>
                  <a:srgbClr val="6A7C72"/>
                </a:solidFill>
                <a:latin typeface="Arial"/>
                <a:ea typeface="Arial"/>
                <a:cs typeface="Arial"/>
                <a:sym typeface="Arial"/>
              </a:rPr>
              <a:t>2 / 4</a:t>
            </a:r>
            <a:endParaRPr b="0" i="0" sz="1400" u="none" cap="none" strike="noStrike">
              <a:solidFill>
                <a:srgbClr val="000000"/>
              </a:solidFill>
              <a:latin typeface="Arial"/>
              <a:ea typeface="Arial"/>
              <a:cs typeface="Arial"/>
              <a:sym typeface="Arial"/>
            </a:endParaRPr>
          </a:p>
        </p:txBody>
      </p:sp>
      <p:sp>
        <p:nvSpPr>
          <p:cNvPr id="802" name="Google Shape;802;g3fafe51123f_6_49"/>
          <p:cNvSpPr/>
          <p:nvPr/>
        </p:nvSpPr>
        <p:spPr>
          <a:xfrm>
            <a:off x="2114500" y="1752600"/>
            <a:ext cx="3434100" cy="435300"/>
          </a:xfrm>
          <a:prstGeom prst="roundRect">
            <a:avLst>
              <a:gd fmla="val 37500" name="adj"/>
            </a:avLst>
          </a:prstGeom>
          <a:solidFill>
            <a:srgbClr val="E7EFF2"/>
          </a:solidFill>
          <a:ln cap="flat" cmpd="sng" w="13600">
            <a:solidFill>
              <a:srgbClr val="E7EFF2"/>
            </a:solidFill>
            <a:prstDash val="solid"/>
            <a:round/>
            <a:headEnd len="sm" w="sm" type="none"/>
            <a:tailEnd len="sm" w="sm" type="none"/>
          </a:ln>
        </p:spPr>
        <p:txBody>
          <a:bodyPr anchorCtr="0" anchor="ctr" bIns="130525" lIns="130525" spcFirstLastPara="1" rIns="130525" wrap="square" tIns="130525">
            <a:noAutofit/>
          </a:bodyPr>
          <a:lstStyle/>
          <a:p>
            <a:pPr indent="0" lvl="0" marL="0" marR="0" rtl="0" algn="l">
              <a:lnSpc>
                <a:spcPct val="100000"/>
              </a:lnSpc>
              <a:spcBef>
                <a:spcPts val="0"/>
              </a:spcBef>
              <a:spcAft>
                <a:spcPts val="0"/>
              </a:spcAft>
              <a:buClr>
                <a:srgbClr val="000000"/>
              </a:buClr>
              <a:buSzPts val="1999"/>
              <a:buFont typeface="Arial"/>
              <a:buNone/>
            </a:pPr>
            <a:r>
              <a:t/>
            </a:r>
            <a:endParaRPr b="0" i="0" sz="2227" u="none" cap="none" strike="noStrike">
              <a:solidFill>
                <a:srgbClr val="000000"/>
              </a:solidFill>
              <a:latin typeface="Arial"/>
              <a:ea typeface="Arial"/>
              <a:cs typeface="Arial"/>
              <a:sym typeface="Arial"/>
            </a:endParaRPr>
          </a:p>
        </p:txBody>
      </p:sp>
      <p:sp>
        <p:nvSpPr>
          <p:cNvPr id="803" name="Google Shape;803;g3fafe51123f_6_49"/>
          <p:cNvSpPr/>
          <p:nvPr/>
        </p:nvSpPr>
        <p:spPr>
          <a:xfrm>
            <a:off x="2168399" y="1766200"/>
            <a:ext cx="3371700" cy="435300"/>
          </a:xfrm>
          <a:prstGeom prst="rect">
            <a:avLst/>
          </a:prstGeom>
          <a:noFill/>
          <a:ln>
            <a:noFill/>
          </a:ln>
        </p:spPr>
        <p:txBody>
          <a:bodyPr anchorCtr="0" anchor="ctr" bIns="65250" lIns="130525" spcFirstLastPara="1" rIns="130525" wrap="square" tIns="65250">
            <a:noAutofit/>
          </a:bodyPr>
          <a:lstStyle/>
          <a:p>
            <a:pPr indent="0" lvl="0" marL="0" marR="0" rtl="0" algn="l">
              <a:lnSpc>
                <a:spcPct val="100000"/>
              </a:lnSpc>
              <a:spcBef>
                <a:spcPts val="0"/>
              </a:spcBef>
              <a:spcAft>
                <a:spcPts val="0"/>
              </a:spcAft>
              <a:buClr>
                <a:srgbClr val="000000"/>
              </a:buClr>
              <a:buSzPts val="1392"/>
              <a:buFont typeface="Arial"/>
              <a:buNone/>
            </a:pPr>
            <a:r>
              <a:rPr b="1" i="0" lang="en-US" sz="1620" u="none" cap="none" strike="noStrike">
                <a:solidFill>
                  <a:srgbClr val="527487"/>
                </a:solidFill>
                <a:latin typeface="Arial"/>
                <a:ea typeface="Arial"/>
                <a:cs typeface="Arial"/>
                <a:sym typeface="Arial"/>
              </a:rPr>
              <a:t>INPUT · prepared READY claim</a:t>
            </a:r>
            <a:endParaRPr b="0" i="0" sz="2227" u="none" cap="none" strike="noStrike">
              <a:solidFill>
                <a:srgbClr val="000000"/>
              </a:solidFill>
              <a:latin typeface="Arial"/>
              <a:ea typeface="Arial"/>
              <a:cs typeface="Arial"/>
              <a:sym typeface="Arial"/>
            </a:endParaRPr>
          </a:p>
        </p:txBody>
      </p:sp>
      <p:sp>
        <p:nvSpPr>
          <p:cNvPr id="804" name="Google Shape;804;g3fafe51123f_6_49"/>
          <p:cNvSpPr/>
          <p:nvPr/>
        </p:nvSpPr>
        <p:spPr>
          <a:xfrm>
            <a:off x="2114500" y="2310149"/>
            <a:ext cx="9111300" cy="475800"/>
          </a:xfrm>
          <a:prstGeom prst="rect">
            <a:avLst/>
          </a:prstGeom>
          <a:noFill/>
          <a:ln>
            <a:noFill/>
          </a:ln>
        </p:spPr>
        <p:txBody>
          <a:bodyPr anchorCtr="0" anchor="ctr" bIns="65250" lIns="130525" spcFirstLastPara="1" rIns="130525" wrap="square" tIns="65250">
            <a:noAutofit/>
          </a:bodyPr>
          <a:lstStyle/>
          <a:p>
            <a:pPr indent="0" lvl="0" marL="0" marR="0" rtl="0" algn="l">
              <a:lnSpc>
                <a:spcPct val="100000"/>
              </a:lnSpc>
              <a:spcBef>
                <a:spcPts val="0"/>
              </a:spcBef>
              <a:spcAft>
                <a:spcPts val="0"/>
              </a:spcAft>
              <a:buClr>
                <a:srgbClr val="000000"/>
              </a:buClr>
              <a:buSzPts val="1820"/>
              <a:buFont typeface="Arial"/>
              <a:buNone/>
            </a:pPr>
            <a:r>
              <a:rPr b="1" i="0" lang="en-US" sz="2049" u="none" cap="none" strike="noStrike">
                <a:solidFill>
                  <a:srgbClr val="10271D"/>
                </a:solidFill>
                <a:latin typeface="Arial"/>
                <a:ea typeface="Arial"/>
                <a:cs typeface="Arial"/>
                <a:sym typeface="Arial"/>
              </a:rPr>
              <a:t>indicator · item · 조사명 · 기관 · 대상어 · 기간 · 기사 문맥</a:t>
            </a:r>
            <a:endParaRPr b="0" i="0" sz="2227" u="none" cap="none" strike="noStrike">
              <a:solidFill>
                <a:srgbClr val="000000"/>
              </a:solidFill>
              <a:latin typeface="Arial"/>
              <a:ea typeface="Arial"/>
              <a:cs typeface="Arial"/>
              <a:sym typeface="Arial"/>
            </a:endParaRPr>
          </a:p>
        </p:txBody>
      </p:sp>
      <p:sp>
        <p:nvSpPr>
          <p:cNvPr id="805" name="Google Shape;805;g3fafe51123f_6_49"/>
          <p:cNvSpPr/>
          <p:nvPr/>
        </p:nvSpPr>
        <p:spPr>
          <a:xfrm>
            <a:off x="4762374" y="3772838"/>
            <a:ext cx="219000" cy="414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06" name="Google Shape;806;g3fafe51123f_6_49"/>
          <p:cNvSpPr/>
          <p:nvPr/>
        </p:nvSpPr>
        <p:spPr>
          <a:xfrm>
            <a:off x="4895720" y="3564341"/>
            <a:ext cx="209400" cy="444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50"/>
              <a:buFont typeface="Arial"/>
              <a:buNone/>
            </a:pPr>
            <a:r>
              <a:rPr b="1" i="0" lang="en-US" sz="2050" u="none" cap="none" strike="noStrike">
                <a:solidFill>
                  <a:srgbClr val="3F7A57"/>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807" name="Google Shape;807;g3fafe51123f_6_49"/>
          <p:cNvSpPr/>
          <p:nvPr/>
        </p:nvSpPr>
        <p:spPr>
          <a:xfrm>
            <a:off x="7886486" y="3772838"/>
            <a:ext cx="219000" cy="41400"/>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08" name="Google Shape;808;g3fafe51123f_6_49"/>
          <p:cNvSpPr/>
          <p:nvPr/>
        </p:nvSpPr>
        <p:spPr>
          <a:xfrm>
            <a:off x="8019832" y="3564341"/>
            <a:ext cx="209400" cy="444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50"/>
              <a:buFont typeface="Arial"/>
              <a:buNone/>
            </a:pPr>
            <a:r>
              <a:rPr b="1" i="0" lang="en-US" sz="2050" u="none" cap="none" strike="noStrike">
                <a:solidFill>
                  <a:srgbClr val="3F7A57"/>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809" name="Google Shape;809;g3fafe51123f_6_49"/>
          <p:cNvSpPr/>
          <p:nvPr/>
        </p:nvSpPr>
        <p:spPr>
          <a:xfrm>
            <a:off x="2114500" y="2785950"/>
            <a:ext cx="2781300" cy="2112900"/>
          </a:xfrm>
          <a:prstGeom prst="roundRect">
            <a:avLst>
              <a:gd fmla="val 7895"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10" name="Google Shape;810;g3fafe51123f_6_49"/>
          <p:cNvSpPr/>
          <p:nvPr/>
        </p:nvSpPr>
        <p:spPr>
          <a:xfrm>
            <a:off x="2114500" y="2785950"/>
            <a:ext cx="57000" cy="2112900"/>
          </a:xfrm>
          <a:prstGeom prst="roundRect">
            <a:avLst>
              <a:gd fmla="val 50000" name="adj"/>
            </a:avLst>
          </a:prstGeom>
          <a:solidFill>
            <a:srgbClr val="527487"/>
          </a:solidFill>
          <a:ln cap="flat" cmpd="sng" w="9525">
            <a:solidFill>
              <a:srgbClr val="5274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11" name="Google Shape;811;g3fafe51123f_6_49"/>
          <p:cNvSpPr/>
          <p:nvPr/>
        </p:nvSpPr>
        <p:spPr>
          <a:xfrm>
            <a:off x="2324044" y="2994448"/>
            <a:ext cx="2400300" cy="292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1000" u="none" cap="none" strike="noStrike">
                <a:solidFill>
                  <a:srgbClr val="527487"/>
                </a:solidFill>
                <a:latin typeface="Arial"/>
                <a:ea typeface="Arial"/>
                <a:cs typeface="Arial"/>
                <a:sym typeface="Arial"/>
              </a:rPr>
              <a:t>1 · LEXICAL</a:t>
            </a:r>
            <a:endParaRPr b="0" i="0" sz="1500" u="none" cap="none" strike="noStrike">
              <a:solidFill>
                <a:srgbClr val="000000"/>
              </a:solidFill>
              <a:latin typeface="Arial"/>
              <a:ea typeface="Arial"/>
              <a:cs typeface="Arial"/>
              <a:sym typeface="Arial"/>
            </a:endParaRPr>
          </a:p>
        </p:txBody>
      </p:sp>
      <p:sp>
        <p:nvSpPr>
          <p:cNvPr id="812" name="Google Shape;812;g3fafe51123f_6_49"/>
          <p:cNvSpPr/>
          <p:nvPr/>
        </p:nvSpPr>
        <p:spPr>
          <a:xfrm>
            <a:off x="2324044" y="3369743"/>
            <a:ext cx="2400300" cy="45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675" u="none" cap="none" strike="noStrike">
                <a:solidFill>
                  <a:srgbClr val="10271D"/>
                </a:solidFill>
                <a:latin typeface="Arial"/>
                <a:ea typeface="Arial"/>
                <a:cs typeface="Arial"/>
                <a:sym typeface="Arial"/>
              </a:rPr>
              <a:t>정확한 이름을 놓치지 않기</a:t>
            </a:r>
            <a:endParaRPr b="0" i="0" sz="1500" u="none" cap="none" strike="noStrike">
              <a:solidFill>
                <a:srgbClr val="000000"/>
              </a:solidFill>
              <a:latin typeface="Arial"/>
              <a:ea typeface="Arial"/>
              <a:cs typeface="Arial"/>
              <a:sym typeface="Arial"/>
            </a:endParaRPr>
          </a:p>
        </p:txBody>
      </p:sp>
      <p:sp>
        <p:nvSpPr>
          <p:cNvPr id="813" name="Google Shape;813;g3fafe51123f_6_49"/>
          <p:cNvSpPr/>
          <p:nvPr/>
        </p:nvSpPr>
        <p:spPr>
          <a:xfrm>
            <a:off x="2324044" y="3939636"/>
            <a:ext cx="2400300" cy="77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7271F"/>
                </a:solidFill>
                <a:latin typeface="Arial"/>
                <a:ea typeface="Arial"/>
                <a:cs typeface="Arial"/>
                <a:sym typeface="Arial"/>
              </a:rPr>
              <a:t>표명·조사명·기관명·품목의 정확 일치</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7271F"/>
                </a:solidFill>
                <a:latin typeface="Arial"/>
                <a:ea typeface="Arial"/>
                <a:cs typeface="Arial"/>
                <a:sym typeface="Arial"/>
              </a:rPr>
              <a:t>약어·띄어쓰기·동의어 정규화</a:t>
            </a:r>
            <a:endParaRPr b="0" i="0" sz="1500" u="none" cap="none" strike="noStrike">
              <a:solidFill>
                <a:srgbClr val="000000"/>
              </a:solidFill>
              <a:latin typeface="Arial"/>
              <a:ea typeface="Arial"/>
              <a:cs typeface="Arial"/>
              <a:sym typeface="Arial"/>
            </a:endParaRPr>
          </a:p>
        </p:txBody>
      </p:sp>
      <p:sp>
        <p:nvSpPr>
          <p:cNvPr id="814" name="Google Shape;814;g3fafe51123f_6_49"/>
          <p:cNvSpPr/>
          <p:nvPr/>
        </p:nvSpPr>
        <p:spPr>
          <a:xfrm>
            <a:off x="5105265" y="2785950"/>
            <a:ext cx="2781300" cy="2112900"/>
          </a:xfrm>
          <a:prstGeom prst="roundRect">
            <a:avLst>
              <a:gd fmla="val 7895"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15" name="Google Shape;815;g3fafe51123f_6_49"/>
          <p:cNvSpPr/>
          <p:nvPr/>
        </p:nvSpPr>
        <p:spPr>
          <a:xfrm>
            <a:off x="5105265" y="2785950"/>
            <a:ext cx="57000" cy="2112900"/>
          </a:xfrm>
          <a:prstGeom prst="roundRect">
            <a:avLst>
              <a:gd fmla="val 500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16" name="Google Shape;816;g3fafe51123f_6_49"/>
          <p:cNvSpPr/>
          <p:nvPr/>
        </p:nvSpPr>
        <p:spPr>
          <a:xfrm>
            <a:off x="5314809" y="2994448"/>
            <a:ext cx="2400300" cy="292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1000" u="none" cap="none" strike="noStrike">
                <a:solidFill>
                  <a:srgbClr val="3F7A57"/>
                </a:solidFill>
                <a:latin typeface="Arial"/>
                <a:ea typeface="Arial"/>
                <a:cs typeface="Arial"/>
                <a:sym typeface="Arial"/>
              </a:rPr>
              <a:t>2 · BGE-M3</a:t>
            </a:r>
            <a:endParaRPr b="0" i="0" sz="1500" u="none" cap="none" strike="noStrike">
              <a:solidFill>
                <a:srgbClr val="000000"/>
              </a:solidFill>
              <a:latin typeface="Arial"/>
              <a:ea typeface="Arial"/>
              <a:cs typeface="Arial"/>
              <a:sym typeface="Arial"/>
            </a:endParaRPr>
          </a:p>
        </p:txBody>
      </p:sp>
      <p:sp>
        <p:nvSpPr>
          <p:cNvPr id="817" name="Google Shape;817;g3fafe51123f_6_49"/>
          <p:cNvSpPr/>
          <p:nvPr/>
        </p:nvSpPr>
        <p:spPr>
          <a:xfrm>
            <a:off x="5314809" y="3369743"/>
            <a:ext cx="2400300" cy="45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675" u="none" cap="none" strike="noStrike">
                <a:solidFill>
                  <a:srgbClr val="10271D"/>
                </a:solidFill>
                <a:latin typeface="Arial"/>
                <a:ea typeface="Arial"/>
                <a:cs typeface="Arial"/>
                <a:sym typeface="Arial"/>
              </a:rPr>
              <a:t>표현이 달라도 의미로 찾기</a:t>
            </a:r>
            <a:endParaRPr b="0" i="0" sz="1500" u="none" cap="none" strike="noStrike">
              <a:solidFill>
                <a:srgbClr val="000000"/>
              </a:solidFill>
              <a:latin typeface="Arial"/>
              <a:ea typeface="Arial"/>
              <a:cs typeface="Arial"/>
              <a:sym typeface="Arial"/>
            </a:endParaRPr>
          </a:p>
        </p:txBody>
      </p:sp>
      <p:sp>
        <p:nvSpPr>
          <p:cNvPr id="818" name="Google Shape;818;g3fafe51123f_6_49"/>
          <p:cNvSpPr/>
          <p:nvPr/>
        </p:nvSpPr>
        <p:spPr>
          <a:xfrm>
            <a:off x="5314809" y="3939636"/>
            <a:ext cx="2400300" cy="77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7271F"/>
                </a:solidFill>
                <a:latin typeface="Arial"/>
                <a:ea typeface="Arial"/>
                <a:cs typeface="Arial"/>
                <a:sym typeface="Arial"/>
              </a:rPr>
              <a:t>질의와 통계표 임베딩 유사도 계산</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7271F"/>
                </a:solidFill>
                <a:latin typeface="Arial"/>
                <a:ea typeface="Arial"/>
                <a:cs typeface="Arial"/>
                <a:sym typeface="Arial"/>
              </a:rPr>
              <a:t>대량 후보 recall 확보</a:t>
            </a:r>
            <a:endParaRPr b="0" i="0" sz="1500" u="none" cap="none" strike="noStrike">
              <a:solidFill>
                <a:srgbClr val="000000"/>
              </a:solidFill>
              <a:latin typeface="Arial"/>
              <a:ea typeface="Arial"/>
              <a:cs typeface="Arial"/>
              <a:sym typeface="Arial"/>
            </a:endParaRPr>
          </a:p>
        </p:txBody>
      </p:sp>
      <p:sp>
        <p:nvSpPr>
          <p:cNvPr id="819" name="Google Shape;819;g3fafe51123f_6_49"/>
          <p:cNvSpPr/>
          <p:nvPr/>
        </p:nvSpPr>
        <p:spPr>
          <a:xfrm>
            <a:off x="8229377" y="2785950"/>
            <a:ext cx="3371700" cy="2112900"/>
          </a:xfrm>
          <a:prstGeom prst="roundRect">
            <a:avLst>
              <a:gd fmla="val 7895" name="adj"/>
            </a:avLst>
          </a:prstGeom>
          <a:solidFill>
            <a:srgbClr val="F7EDE2"/>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20" name="Google Shape;820;g3fafe51123f_6_49"/>
          <p:cNvSpPr/>
          <p:nvPr/>
        </p:nvSpPr>
        <p:spPr>
          <a:xfrm>
            <a:off x="8229377" y="2785950"/>
            <a:ext cx="57000" cy="2112900"/>
          </a:xfrm>
          <a:prstGeom prst="roundRect">
            <a:avLst>
              <a:gd fmla="val 50000" name="adj"/>
            </a:avLst>
          </a:prstGeom>
          <a:solidFill>
            <a:srgbClr val="B36C2E"/>
          </a:solidFill>
          <a:ln cap="flat" cmpd="sng" w="9525">
            <a:solidFill>
              <a:srgbClr val="B36C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821" name="Google Shape;821;g3fafe51123f_6_49"/>
          <p:cNvSpPr/>
          <p:nvPr/>
        </p:nvSpPr>
        <p:spPr>
          <a:xfrm>
            <a:off x="8438920" y="2994448"/>
            <a:ext cx="2990700" cy="292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1000" u="none" cap="none" strike="noStrike">
                <a:solidFill>
                  <a:srgbClr val="B36C2E"/>
                </a:solidFill>
                <a:latin typeface="Arial"/>
                <a:ea typeface="Arial"/>
                <a:cs typeface="Arial"/>
                <a:sym typeface="Arial"/>
              </a:rPr>
              <a:t>3 · RERANK + STRUCTURE</a:t>
            </a:r>
            <a:endParaRPr b="0" i="0" sz="1500" u="none" cap="none" strike="noStrike">
              <a:solidFill>
                <a:srgbClr val="000000"/>
              </a:solidFill>
              <a:latin typeface="Arial"/>
              <a:ea typeface="Arial"/>
              <a:cs typeface="Arial"/>
              <a:sym typeface="Arial"/>
            </a:endParaRPr>
          </a:p>
        </p:txBody>
      </p:sp>
      <p:sp>
        <p:nvSpPr>
          <p:cNvPr id="822" name="Google Shape;822;g3fafe51123f_6_49"/>
          <p:cNvSpPr/>
          <p:nvPr/>
        </p:nvSpPr>
        <p:spPr>
          <a:xfrm>
            <a:off x="8438920" y="3369743"/>
            <a:ext cx="2990700" cy="45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675" u="none" cap="none" strike="noStrike">
                <a:solidFill>
                  <a:srgbClr val="10271D"/>
                </a:solidFill>
                <a:latin typeface="Arial"/>
                <a:ea typeface="Arial"/>
                <a:cs typeface="Arial"/>
                <a:sym typeface="Arial"/>
              </a:rPr>
              <a:t>의미와 구조를 함께 재점수화</a:t>
            </a:r>
            <a:endParaRPr b="0" i="0" sz="1500" u="none" cap="none" strike="noStrike">
              <a:solidFill>
                <a:srgbClr val="000000"/>
              </a:solidFill>
              <a:latin typeface="Arial"/>
              <a:ea typeface="Arial"/>
              <a:cs typeface="Arial"/>
              <a:sym typeface="Arial"/>
            </a:endParaRPr>
          </a:p>
        </p:txBody>
      </p:sp>
      <p:sp>
        <p:nvSpPr>
          <p:cNvPr id="823" name="Google Shape;823;g3fafe51123f_6_49"/>
          <p:cNvSpPr/>
          <p:nvPr/>
        </p:nvSpPr>
        <p:spPr>
          <a:xfrm>
            <a:off x="8438920" y="3939636"/>
            <a:ext cx="2990700" cy="77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7271F"/>
                </a:solidFill>
                <a:latin typeface="Arial"/>
                <a:ea typeface="Arial"/>
                <a:cs typeface="Arial"/>
                <a:sym typeface="Arial"/>
              </a:rPr>
              <a:t>조사·기관·분류·표 family·주기·대상 축 반영</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17271F"/>
                </a:solidFill>
                <a:latin typeface="Arial"/>
                <a:ea typeface="Arial"/>
                <a:cs typeface="Arial"/>
                <a:sym typeface="Arial"/>
              </a:rPr>
              <a:t>주기가 다르면 강하게 감점</a:t>
            </a:r>
            <a:endParaRPr b="0" i="0" sz="1500" u="none" cap="none" strike="noStrike">
              <a:solidFill>
                <a:srgbClr val="000000"/>
              </a:solidFill>
              <a:latin typeface="Arial"/>
              <a:ea typeface="Arial"/>
              <a:cs typeface="Arial"/>
              <a:sym typeface="Arial"/>
            </a:endParaRPr>
          </a:p>
        </p:txBody>
      </p:sp>
      <p:sp>
        <p:nvSpPr>
          <p:cNvPr id="824" name="Google Shape;824;g3fafe51123f_6_49"/>
          <p:cNvSpPr/>
          <p:nvPr/>
        </p:nvSpPr>
        <p:spPr>
          <a:xfrm>
            <a:off x="2114500" y="5048250"/>
            <a:ext cx="9486600" cy="523800"/>
          </a:xfrm>
          <a:prstGeom prst="roundRect">
            <a:avLst>
              <a:gd fmla="val 15789"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g3fafe51123f_6_49"/>
          <p:cNvSpPr/>
          <p:nvPr/>
        </p:nvSpPr>
        <p:spPr>
          <a:xfrm>
            <a:off x="2333563" y="5145155"/>
            <a:ext cx="857100" cy="33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3F7A57"/>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826" name="Google Shape;826;g3fafe51123f_6_49"/>
          <p:cNvSpPr/>
          <p:nvPr/>
        </p:nvSpPr>
        <p:spPr>
          <a:xfrm>
            <a:off x="3204047" y="5145155"/>
            <a:ext cx="44766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7271F"/>
                </a:solidFill>
                <a:latin typeface="Arial"/>
                <a:ea typeface="Arial"/>
                <a:cs typeface="Arial"/>
                <a:sym typeface="Arial"/>
              </a:rPr>
              <a:t>주장별 표 후보 · 점수 · 검색 경로 · 순위 근거</a:t>
            </a:r>
            <a:endParaRPr b="1" i="0" sz="1500" u="none" cap="none" strike="noStrike">
              <a:solidFill>
                <a:srgbClr val="17271F"/>
              </a:solidFill>
              <a:latin typeface="Arial"/>
              <a:ea typeface="Arial"/>
              <a:cs typeface="Arial"/>
              <a:sym typeface="Arial"/>
            </a:endParaRPr>
          </a:p>
        </p:txBody>
      </p:sp>
      <p:cxnSp>
        <p:nvCxnSpPr>
          <p:cNvPr id="827" name="Google Shape;827;g3fafe51123f_6_49"/>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828" name="Google Shape;828;g3fafe51123f_6_49"/>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g3fafe51123f_6_49"/>
          <p:cNvSpPr/>
          <p:nvPr/>
        </p:nvSpPr>
        <p:spPr>
          <a:xfrm>
            <a:off x="393192" y="5925312"/>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KOSIS 공식 통계 연결</a:t>
            </a:r>
            <a:endParaRPr b="0" i="0" sz="730" u="none" cap="none" strike="noStrike">
              <a:solidFill>
                <a:schemeClr val="dk1"/>
              </a:solidFill>
              <a:latin typeface="Malgun Gothic"/>
              <a:ea typeface="Malgun Gothic"/>
              <a:cs typeface="Malgun Gothic"/>
              <a:sym typeface="Malgun Gothic"/>
            </a:endParaRPr>
          </a:p>
        </p:txBody>
      </p:sp>
      <p:sp>
        <p:nvSpPr>
          <p:cNvPr id="830" name="Google Shape;830;g3fafe51123f_6_49"/>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g3fafe51123f_6_49"/>
          <p:cNvSpPr/>
          <p:nvPr/>
        </p:nvSpPr>
        <p:spPr>
          <a:xfrm>
            <a:off x="2165788" y="246185"/>
            <a:ext cx="19527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Stage A, B, C</a:t>
            </a:r>
            <a:endParaRPr b="0" i="0" sz="1400" u="none" cap="none" strike="noStrike">
              <a:solidFill>
                <a:srgbClr val="000000"/>
              </a:solidFill>
              <a:latin typeface="Arial"/>
              <a:ea typeface="Arial"/>
              <a:cs typeface="Arial"/>
              <a:sym typeface="Arial"/>
            </a:endParaRPr>
          </a:p>
        </p:txBody>
      </p:sp>
      <p:sp>
        <p:nvSpPr>
          <p:cNvPr id="832" name="Google Shape;832;g3fafe51123f_6_49"/>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g3fafe51123f_6_49"/>
          <p:cNvSpPr/>
          <p:nvPr/>
        </p:nvSpPr>
        <p:spPr>
          <a:xfrm>
            <a:off x="2013401" y="169973"/>
            <a:ext cx="21636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검색 및 좌표확정</a:t>
            </a:r>
            <a:endParaRPr b="0" i="0" sz="1400" u="none" cap="none" strike="noStrike">
              <a:solidFill>
                <a:srgbClr val="000000"/>
              </a:solidFill>
              <a:latin typeface="Arial"/>
              <a:ea typeface="Arial"/>
              <a:cs typeface="Arial"/>
              <a:sym typeface="Arial"/>
            </a:endParaRPr>
          </a:p>
        </p:txBody>
      </p:sp>
      <p:sp>
        <p:nvSpPr>
          <p:cNvPr id="834" name="Google Shape;834;g3fafe51123f_6_49"/>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835" name="Google Shape;835;g3fafe51123f_6_49"/>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836" name="Google Shape;836;g3fafe51123f_6_49"/>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837" name="Google Shape;837;g3fafe51123f_6_49"/>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838" name="Google Shape;838;g3fafe51123f_6_49"/>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839" name="Google Shape;839;g3fafe51123f_6_49"/>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840" name="Google Shape;840;g3fafe51123f_6_49"/>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841" name="Google Shape;841;g3fafe51123f_6_49"/>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842" name="Google Shape;842;g3fafe51123f_6_49"/>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843" name="Google Shape;843;g3fafe51123f_6_49"/>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844" name="Google Shape;844;g3fafe51123f_6_49"/>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845" name="Google Shape;845;g3fafe51123f_6_49"/>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846" name="Google Shape;846;g3fafe51123f_6_49"/>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847" name="Google Shape;847;g3fafe51123f_6_49"/>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848" name="Google Shape;848;g3fafe51123f_6_49"/>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849" name="Google Shape;849;g3fafe51123f_6_49"/>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850" name="Google Shape;850;g3fafe51123f_6_49"/>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855" name="Shape 855"/>
        <p:cNvGrpSpPr/>
        <p:nvPr/>
      </p:nvGrpSpPr>
      <p:grpSpPr>
        <a:xfrm>
          <a:off x="0" y="0"/>
          <a:ext cx="0" cy="0"/>
          <a:chOff x="0" y="0"/>
          <a:chExt cx="0" cy="0"/>
        </a:xfrm>
      </p:grpSpPr>
      <p:sp>
        <p:nvSpPr>
          <p:cNvPr id="856" name="Google Shape;856;g3fafe51123f_6_104"/>
          <p:cNvSpPr/>
          <p:nvPr/>
        </p:nvSpPr>
        <p:spPr>
          <a:xfrm>
            <a:off x="-6347"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g3fafe51123f_6_104"/>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g3fafe51123f_6_104"/>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g3fafe51123f_6_104"/>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g3fafe51123f_6_104"/>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g3fafe51123f_6_104"/>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g3fafe51123f_6_104"/>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863" name="Google Shape;863;g3fafe51123f_6_104"/>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864" name="Google Shape;864;g3fafe51123f_6_104"/>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865" name="Google Shape;865;g3fafe51123f_6_104"/>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866" name="Google Shape;866;g3fafe51123f_6_104"/>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867" name="Google Shape;867;g3fafe51123f_6_104"/>
          <p:cNvGrpSpPr/>
          <p:nvPr/>
        </p:nvGrpSpPr>
        <p:grpSpPr>
          <a:xfrm>
            <a:off x="283429" y="3067107"/>
            <a:ext cx="209400" cy="209700"/>
            <a:chOff x="-3275292" y="2173036"/>
            <a:chExt cx="209400" cy="209700"/>
          </a:xfrm>
        </p:grpSpPr>
        <p:sp>
          <p:nvSpPr>
            <p:cNvPr id="868" name="Google Shape;868;g3fafe51123f_6_104"/>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g3fafe51123f_6_104"/>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0" name="Google Shape;870;g3fafe51123f_6_104"/>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3fafe51123f_6_104"/>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g3fafe51123f_6_104"/>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g3fafe51123f_6_104"/>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g3fafe51123f_6_104"/>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g3fafe51123f_6_104"/>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g3fafe51123f_6_104"/>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g3fafe51123f_6_104"/>
          <p:cNvSpPr/>
          <p:nvPr/>
        </p:nvSpPr>
        <p:spPr>
          <a:xfrm>
            <a:off x="2095444" y="716862"/>
            <a:ext cx="95247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0271D"/>
                </a:solidFill>
                <a:latin typeface="Arial"/>
                <a:ea typeface="Arial"/>
                <a:cs typeface="Arial"/>
                <a:sym typeface="Arial"/>
              </a:rPr>
              <a:t>Stage B : PostgreSQL에서 “실제로 존재하는 좌표” 만들기</a:t>
            </a:r>
            <a:endParaRPr b="0" i="0" sz="1400" u="none" cap="none" strike="noStrike">
              <a:solidFill>
                <a:srgbClr val="000000"/>
              </a:solidFill>
              <a:latin typeface="Arial"/>
              <a:ea typeface="Arial"/>
              <a:cs typeface="Arial"/>
              <a:sym typeface="Arial"/>
            </a:endParaRPr>
          </a:p>
        </p:txBody>
      </p:sp>
      <p:sp>
        <p:nvSpPr>
          <p:cNvPr id="878" name="Google Shape;878;g3fafe51123f_6_104"/>
          <p:cNvSpPr/>
          <p:nvPr/>
        </p:nvSpPr>
        <p:spPr>
          <a:xfrm>
            <a:off x="2114494" y="1250262"/>
            <a:ext cx="94296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6A7C72"/>
                </a:solidFill>
                <a:latin typeface="Arial"/>
                <a:ea typeface="Arial"/>
                <a:cs typeface="Arial"/>
                <a:sym typeface="Arial"/>
              </a:rPr>
              <a:t>후보 표 내부의 ITEM·OBJ·주기를 정형 메타데이터로 확인</a:t>
            </a:r>
            <a:endParaRPr b="0" i="0" sz="1400" u="none" cap="none" strike="noStrike">
              <a:solidFill>
                <a:srgbClr val="000000"/>
              </a:solidFill>
              <a:latin typeface="Arial"/>
              <a:ea typeface="Arial"/>
              <a:cs typeface="Arial"/>
              <a:sym typeface="Arial"/>
            </a:endParaRPr>
          </a:p>
        </p:txBody>
      </p:sp>
      <p:sp>
        <p:nvSpPr>
          <p:cNvPr id="879" name="Google Shape;879;g3fafe51123f_6_104"/>
          <p:cNvSpPr/>
          <p:nvPr/>
        </p:nvSpPr>
        <p:spPr>
          <a:xfrm>
            <a:off x="2095444" y="6543675"/>
            <a:ext cx="2857424"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A7C72"/>
                </a:solidFill>
                <a:latin typeface="Arial"/>
                <a:ea typeface="Arial"/>
                <a:cs typeface="Arial"/>
                <a:sym typeface="Arial"/>
              </a:rPr>
              <a:t>KOSIS 뉴스 수치 주장 검증 PoC</a:t>
            </a:r>
            <a:endParaRPr b="0" i="0" sz="1400" u="none" cap="none" strike="noStrike">
              <a:solidFill>
                <a:srgbClr val="000000"/>
              </a:solidFill>
              <a:latin typeface="Arial"/>
              <a:ea typeface="Arial"/>
              <a:cs typeface="Arial"/>
              <a:sym typeface="Arial"/>
            </a:endParaRPr>
          </a:p>
        </p:txBody>
      </p:sp>
      <p:sp>
        <p:nvSpPr>
          <p:cNvPr id="880" name="Google Shape;880;g3fafe51123f_6_104"/>
          <p:cNvSpPr/>
          <p:nvPr/>
        </p:nvSpPr>
        <p:spPr>
          <a:xfrm>
            <a:off x="10953458" y="6534150"/>
            <a:ext cx="666732" cy="152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675"/>
              <a:buFont typeface="Arial"/>
              <a:buNone/>
            </a:pPr>
            <a:r>
              <a:rPr b="1" i="0" lang="en-US" sz="675" u="none" cap="none" strike="noStrike">
                <a:solidFill>
                  <a:srgbClr val="6A7C72"/>
                </a:solidFill>
                <a:latin typeface="Arial"/>
                <a:ea typeface="Arial"/>
                <a:cs typeface="Arial"/>
                <a:sym typeface="Arial"/>
              </a:rPr>
              <a:t>3 / 4</a:t>
            </a:r>
            <a:endParaRPr b="0" i="0" sz="1400" u="none" cap="none" strike="noStrike">
              <a:solidFill>
                <a:srgbClr val="000000"/>
              </a:solidFill>
              <a:latin typeface="Arial"/>
              <a:ea typeface="Arial"/>
              <a:cs typeface="Arial"/>
              <a:sym typeface="Arial"/>
            </a:endParaRPr>
          </a:p>
        </p:txBody>
      </p:sp>
      <p:sp>
        <p:nvSpPr>
          <p:cNvPr id="881" name="Google Shape;881;g3fafe51123f_6_104"/>
          <p:cNvSpPr/>
          <p:nvPr/>
        </p:nvSpPr>
        <p:spPr>
          <a:xfrm>
            <a:off x="2114494" y="1866900"/>
            <a:ext cx="9486600" cy="685800"/>
          </a:xfrm>
          <a:prstGeom prst="roundRect">
            <a:avLst>
              <a:gd fmla="val 16667" name="adj"/>
            </a:avLst>
          </a:prstGeom>
          <a:solidFill>
            <a:srgbClr val="10271D"/>
          </a:solidFill>
          <a:ln cap="flat" cmpd="sng" w="9525">
            <a:solidFill>
              <a:srgbClr val="1027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g3fafe51123f_6_104"/>
          <p:cNvSpPr/>
          <p:nvPr/>
        </p:nvSpPr>
        <p:spPr>
          <a:xfrm>
            <a:off x="2343088" y="1981200"/>
            <a:ext cx="22383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BD0C1"/>
                </a:solidFill>
                <a:latin typeface="Arial"/>
                <a:ea typeface="Arial"/>
                <a:cs typeface="Arial"/>
                <a:sym typeface="Arial"/>
              </a:rPr>
              <a:t>POSTGRESQL METADATA</a:t>
            </a:r>
            <a:endParaRPr b="0" i="0" sz="1400" u="none" cap="none" strike="noStrike">
              <a:solidFill>
                <a:srgbClr val="000000"/>
              </a:solidFill>
              <a:latin typeface="Arial"/>
              <a:ea typeface="Arial"/>
              <a:cs typeface="Arial"/>
              <a:sym typeface="Arial"/>
            </a:endParaRPr>
          </a:p>
        </p:txBody>
      </p:sp>
      <p:sp>
        <p:nvSpPr>
          <p:cNvPr id="883" name="Google Shape;883;g3fafe51123f_6_104"/>
          <p:cNvSpPr/>
          <p:nvPr/>
        </p:nvSpPr>
        <p:spPr>
          <a:xfrm>
            <a:off x="4629027" y="1971675"/>
            <a:ext cx="6667200" cy="29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Arial"/>
                <a:ea typeface="Arial"/>
                <a:cs typeface="Arial"/>
                <a:sym typeface="Arial"/>
              </a:rPr>
              <a:t>tables  ·  items  ·  axes  ·  axis_values  ·  periodicities</a:t>
            </a:r>
            <a:endParaRPr b="0" i="0" sz="1400" u="none" cap="none" strike="noStrike">
              <a:solidFill>
                <a:srgbClr val="000000"/>
              </a:solidFill>
              <a:latin typeface="Arial"/>
              <a:ea typeface="Arial"/>
              <a:cs typeface="Arial"/>
              <a:sym typeface="Arial"/>
            </a:endParaRPr>
          </a:p>
        </p:txBody>
      </p:sp>
      <p:sp>
        <p:nvSpPr>
          <p:cNvPr id="884" name="Google Shape;884;g3fafe51123f_6_104"/>
          <p:cNvSpPr/>
          <p:nvPr/>
        </p:nvSpPr>
        <p:spPr>
          <a:xfrm>
            <a:off x="4629027" y="2266950"/>
            <a:ext cx="6667200" cy="180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BDD0C2"/>
                </a:solidFill>
                <a:latin typeface="Arial"/>
                <a:ea typeface="Arial"/>
                <a:cs typeface="Arial"/>
                <a:sym typeface="Arial"/>
              </a:rPr>
              <a:t>표 ID부터 실제 분류 코드와 조회 주기까지</a:t>
            </a:r>
            <a:endParaRPr b="0" i="0" sz="1400" u="none" cap="none" strike="noStrike">
              <a:solidFill>
                <a:srgbClr val="000000"/>
              </a:solidFill>
              <a:latin typeface="Arial"/>
              <a:ea typeface="Arial"/>
              <a:cs typeface="Arial"/>
              <a:sym typeface="Arial"/>
            </a:endParaRPr>
          </a:p>
        </p:txBody>
      </p:sp>
      <p:sp>
        <p:nvSpPr>
          <p:cNvPr id="885" name="Google Shape;885;g3fafe51123f_6_104"/>
          <p:cNvSpPr/>
          <p:nvPr/>
        </p:nvSpPr>
        <p:spPr>
          <a:xfrm>
            <a:off x="4362334" y="3419475"/>
            <a:ext cx="276218" cy="28575"/>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g3fafe51123f_6_104"/>
          <p:cNvSpPr/>
          <p:nvPr/>
        </p:nvSpPr>
        <p:spPr>
          <a:xfrm>
            <a:off x="4552829" y="3276600"/>
            <a:ext cx="209544"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3F7A57"/>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887" name="Google Shape;887;g3fafe51123f_6_104"/>
          <p:cNvSpPr/>
          <p:nvPr/>
        </p:nvSpPr>
        <p:spPr>
          <a:xfrm>
            <a:off x="7238807" y="3419475"/>
            <a:ext cx="276218" cy="28575"/>
          </a:xfrm>
          <a:prstGeom prst="rect">
            <a:avLst/>
          </a:prstGeom>
          <a:solidFill>
            <a:srgbClr val="D5E0D7"/>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g3fafe51123f_6_104"/>
          <p:cNvSpPr/>
          <p:nvPr/>
        </p:nvSpPr>
        <p:spPr>
          <a:xfrm>
            <a:off x="7429302" y="3276600"/>
            <a:ext cx="209544"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3F7A57"/>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889" name="Google Shape;889;g3fafe51123f_6_104"/>
          <p:cNvSpPr/>
          <p:nvPr/>
        </p:nvSpPr>
        <p:spPr>
          <a:xfrm>
            <a:off x="2114494" y="2857500"/>
            <a:ext cx="2476434" cy="1762125"/>
          </a:xfrm>
          <a:prstGeom prst="roundRect">
            <a:avLst>
              <a:gd fmla="val 6486" name="adj"/>
            </a:avLst>
          </a:prstGeom>
          <a:solidFill>
            <a:srgbClr val="E7EFF2"/>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g3fafe51123f_6_104"/>
          <p:cNvSpPr/>
          <p:nvPr/>
        </p:nvSpPr>
        <p:spPr>
          <a:xfrm>
            <a:off x="2114494" y="2857500"/>
            <a:ext cx="57148" cy="1762125"/>
          </a:xfrm>
          <a:prstGeom prst="roundRect">
            <a:avLst>
              <a:gd fmla="val 50000" name="adj"/>
            </a:avLst>
          </a:prstGeom>
          <a:solidFill>
            <a:srgbClr val="527487"/>
          </a:solidFill>
          <a:ln cap="flat" cmpd="sng" w="9525">
            <a:solidFill>
              <a:srgbClr val="5274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g3fafe51123f_6_104"/>
          <p:cNvSpPr/>
          <p:nvPr/>
        </p:nvSpPr>
        <p:spPr>
          <a:xfrm>
            <a:off x="2324038" y="3000375"/>
            <a:ext cx="2095444" cy="200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27487"/>
                </a:solidFill>
                <a:latin typeface="Arial"/>
                <a:ea typeface="Arial"/>
                <a:cs typeface="Arial"/>
                <a:sym typeface="Arial"/>
              </a:rPr>
              <a:t>1 · ITEM</a:t>
            </a:r>
            <a:endParaRPr b="0" i="0" sz="1400" u="none" cap="none" strike="noStrike">
              <a:solidFill>
                <a:srgbClr val="000000"/>
              </a:solidFill>
              <a:latin typeface="Arial"/>
              <a:ea typeface="Arial"/>
              <a:cs typeface="Arial"/>
              <a:sym typeface="Arial"/>
            </a:endParaRPr>
          </a:p>
        </p:txBody>
      </p:sp>
      <p:sp>
        <p:nvSpPr>
          <p:cNvPr id="892" name="Google Shape;892;g3fafe51123f_6_104"/>
          <p:cNvSpPr/>
          <p:nvPr/>
        </p:nvSpPr>
        <p:spPr>
          <a:xfrm>
            <a:off x="2324038" y="3257550"/>
            <a:ext cx="2095444" cy="3143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10271D"/>
                </a:solidFill>
                <a:latin typeface="Arial"/>
                <a:ea typeface="Arial"/>
                <a:cs typeface="Arial"/>
                <a:sym typeface="Arial"/>
              </a:rPr>
              <a:t>무엇을 측정하는가</a:t>
            </a:r>
            <a:endParaRPr b="0" i="0" sz="1400" u="none" cap="none" strike="noStrike">
              <a:solidFill>
                <a:srgbClr val="000000"/>
              </a:solidFill>
              <a:latin typeface="Arial"/>
              <a:ea typeface="Arial"/>
              <a:cs typeface="Arial"/>
              <a:sym typeface="Arial"/>
            </a:endParaRPr>
          </a:p>
        </p:txBody>
      </p:sp>
      <p:sp>
        <p:nvSpPr>
          <p:cNvPr id="893" name="Google Shape;893;g3fafe51123f_6_104"/>
          <p:cNvSpPr/>
          <p:nvPr/>
        </p:nvSpPr>
        <p:spPr>
          <a:xfrm>
            <a:off x="2324038" y="3648075"/>
            <a:ext cx="2095444" cy="847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indicator와 ITEM 라벨·단위 비교</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수출액 ≠ 수출증감률</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인구수 ≠ 구성비</a:t>
            </a:r>
            <a:endParaRPr b="0" i="0" sz="1400" u="none" cap="none" strike="noStrike">
              <a:solidFill>
                <a:srgbClr val="000000"/>
              </a:solidFill>
              <a:latin typeface="Arial"/>
              <a:ea typeface="Arial"/>
              <a:cs typeface="Arial"/>
              <a:sym typeface="Arial"/>
            </a:endParaRPr>
          </a:p>
        </p:txBody>
      </p:sp>
      <p:sp>
        <p:nvSpPr>
          <p:cNvPr id="894" name="Google Shape;894;g3fafe51123f_6_104"/>
          <p:cNvSpPr/>
          <p:nvPr/>
        </p:nvSpPr>
        <p:spPr>
          <a:xfrm>
            <a:off x="4762373" y="2857500"/>
            <a:ext cx="2685978" cy="1762125"/>
          </a:xfrm>
          <a:prstGeom prst="roundRect">
            <a:avLst>
              <a:gd fmla="val 6486" name="adj"/>
            </a:avLst>
          </a:prstGeom>
          <a:solidFill>
            <a:srgbClr val="E8F1EA"/>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g3fafe51123f_6_104"/>
          <p:cNvSpPr/>
          <p:nvPr/>
        </p:nvSpPr>
        <p:spPr>
          <a:xfrm>
            <a:off x="4762373" y="2857500"/>
            <a:ext cx="57148" cy="1762125"/>
          </a:xfrm>
          <a:prstGeom prst="roundRect">
            <a:avLst>
              <a:gd fmla="val 500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g3fafe51123f_6_104"/>
          <p:cNvSpPr/>
          <p:nvPr/>
        </p:nvSpPr>
        <p:spPr>
          <a:xfrm>
            <a:off x="4971917" y="3000375"/>
            <a:ext cx="2304989" cy="200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3F7A57"/>
                </a:solidFill>
                <a:latin typeface="Arial"/>
                <a:ea typeface="Arial"/>
                <a:cs typeface="Arial"/>
                <a:sym typeface="Arial"/>
              </a:rPr>
              <a:t>2 · OBJ</a:t>
            </a:r>
            <a:endParaRPr b="0" i="0" sz="1400" u="none" cap="none" strike="noStrike">
              <a:solidFill>
                <a:srgbClr val="000000"/>
              </a:solidFill>
              <a:latin typeface="Arial"/>
              <a:ea typeface="Arial"/>
              <a:cs typeface="Arial"/>
              <a:sym typeface="Arial"/>
            </a:endParaRPr>
          </a:p>
        </p:txBody>
      </p:sp>
      <p:sp>
        <p:nvSpPr>
          <p:cNvPr id="897" name="Google Shape;897;g3fafe51123f_6_104"/>
          <p:cNvSpPr/>
          <p:nvPr/>
        </p:nvSpPr>
        <p:spPr>
          <a:xfrm>
            <a:off x="4971917" y="3257550"/>
            <a:ext cx="2304989" cy="3143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10271D"/>
                </a:solidFill>
                <a:latin typeface="Arial"/>
                <a:ea typeface="Arial"/>
                <a:cs typeface="Arial"/>
                <a:sym typeface="Arial"/>
              </a:rPr>
              <a:t>누구·어디·어떤 품목인가</a:t>
            </a:r>
            <a:endParaRPr b="0" i="0" sz="1400" u="none" cap="none" strike="noStrike">
              <a:solidFill>
                <a:srgbClr val="000000"/>
              </a:solidFill>
              <a:latin typeface="Arial"/>
              <a:ea typeface="Arial"/>
              <a:cs typeface="Arial"/>
              <a:sym typeface="Arial"/>
            </a:endParaRPr>
          </a:p>
        </p:txBody>
      </p:sp>
      <p:sp>
        <p:nvSpPr>
          <p:cNvPr id="898" name="Google Shape;898;g3fafe51123f_6_104"/>
          <p:cNvSpPr/>
          <p:nvPr/>
        </p:nvSpPr>
        <p:spPr>
          <a:xfrm>
            <a:off x="4971917" y="3648075"/>
            <a:ext cx="2304989" cy="847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지역·성별·연령·품목을 실제 축 코드에 연결</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명시된 축은 완전 일치 필요</a:t>
            </a:r>
            <a:endParaRPr b="0" i="0" sz="1400" u="none" cap="none" strike="noStrike">
              <a:solidFill>
                <a:srgbClr val="000000"/>
              </a:solidFill>
              <a:latin typeface="Arial"/>
              <a:ea typeface="Arial"/>
              <a:cs typeface="Arial"/>
              <a:sym typeface="Arial"/>
            </a:endParaRPr>
          </a:p>
        </p:txBody>
      </p:sp>
      <p:sp>
        <p:nvSpPr>
          <p:cNvPr id="899" name="Google Shape;899;g3fafe51123f_6_104"/>
          <p:cNvSpPr/>
          <p:nvPr/>
        </p:nvSpPr>
        <p:spPr>
          <a:xfrm>
            <a:off x="7619797" y="2857500"/>
            <a:ext cx="3981344" cy="1762125"/>
          </a:xfrm>
          <a:prstGeom prst="roundRect">
            <a:avLst>
              <a:gd fmla="val 6486" name="adj"/>
            </a:avLst>
          </a:prstGeom>
          <a:solidFill>
            <a:srgbClr val="F7EDE2"/>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g3fafe51123f_6_104"/>
          <p:cNvSpPr/>
          <p:nvPr/>
        </p:nvSpPr>
        <p:spPr>
          <a:xfrm>
            <a:off x="7619797" y="2857500"/>
            <a:ext cx="57148" cy="1762125"/>
          </a:xfrm>
          <a:prstGeom prst="roundRect">
            <a:avLst>
              <a:gd fmla="val 50000" name="adj"/>
            </a:avLst>
          </a:prstGeom>
          <a:solidFill>
            <a:srgbClr val="B36C2E"/>
          </a:solidFill>
          <a:ln cap="flat" cmpd="sng" w="9525">
            <a:solidFill>
              <a:srgbClr val="B36C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g3fafe51123f_6_104"/>
          <p:cNvSpPr/>
          <p:nvPr/>
        </p:nvSpPr>
        <p:spPr>
          <a:xfrm>
            <a:off x="7829341" y="3000375"/>
            <a:ext cx="3600354" cy="200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36C2E"/>
                </a:solidFill>
                <a:latin typeface="Arial"/>
                <a:ea typeface="Arial"/>
                <a:cs typeface="Arial"/>
                <a:sym typeface="Arial"/>
              </a:rPr>
              <a:t>3 · HIERARCHY + BEAM</a:t>
            </a:r>
            <a:endParaRPr b="0" i="0" sz="1400" u="none" cap="none" strike="noStrike">
              <a:solidFill>
                <a:srgbClr val="000000"/>
              </a:solidFill>
              <a:latin typeface="Arial"/>
              <a:ea typeface="Arial"/>
              <a:cs typeface="Arial"/>
              <a:sym typeface="Arial"/>
            </a:endParaRPr>
          </a:p>
        </p:txBody>
      </p:sp>
      <p:sp>
        <p:nvSpPr>
          <p:cNvPr id="902" name="Google Shape;902;g3fafe51123f_6_104"/>
          <p:cNvSpPr/>
          <p:nvPr/>
        </p:nvSpPr>
        <p:spPr>
          <a:xfrm>
            <a:off x="7829341" y="3257550"/>
            <a:ext cx="3600354" cy="3143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10271D"/>
                </a:solidFill>
                <a:latin typeface="Arial"/>
                <a:ea typeface="Arial"/>
                <a:cs typeface="Arial"/>
                <a:sym typeface="Arial"/>
              </a:rPr>
              <a:t>의미 범위와 조합 폭을 제어</a:t>
            </a:r>
            <a:endParaRPr b="0" i="0" sz="1400" u="none" cap="none" strike="noStrike">
              <a:solidFill>
                <a:srgbClr val="000000"/>
              </a:solidFill>
              <a:latin typeface="Arial"/>
              <a:ea typeface="Arial"/>
              <a:cs typeface="Arial"/>
              <a:sym typeface="Arial"/>
            </a:endParaRPr>
          </a:p>
        </p:txBody>
      </p:sp>
      <p:sp>
        <p:nvSpPr>
          <p:cNvPr id="903" name="Google Shape;903;g3fafe51123f_6_104"/>
          <p:cNvSpPr/>
          <p:nvPr/>
        </p:nvSpPr>
        <p:spPr>
          <a:xfrm>
            <a:off x="7829341" y="3648075"/>
            <a:ext cx="3600354" cy="847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전체 품목과 세부 HS 품목의 계층을 검사</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7271F"/>
                </a:solidFill>
                <a:latin typeface="Arial"/>
                <a:ea typeface="Arial"/>
                <a:cs typeface="Arial"/>
                <a:sym typeface="Arial"/>
              </a:rPr>
              <a:t>상위 조합만 유지하되 표별 최소 한 좌표 보존</a:t>
            </a:r>
            <a:endParaRPr b="0" i="0" sz="1400" u="none" cap="none" strike="noStrike">
              <a:solidFill>
                <a:srgbClr val="000000"/>
              </a:solidFill>
              <a:latin typeface="Arial"/>
              <a:ea typeface="Arial"/>
              <a:cs typeface="Arial"/>
              <a:sym typeface="Arial"/>
            </a:endParaRPr>
          </a:p>
        </p:txBody>
      </p:sp>
      <p:sp>
        <p:nvSpPr>
          <p:cNvPr id="904" name="Google Shape;904;g3fafe51123f_6_104"/>
          <p:cNvSpPr/>
          <p:nvPr/>
        </p:nvSpPr>
        <p:spPr>
          <a:xfrm>
            <a:off x="2114494" y="4991100"/>
            <a:ext cx="9486647" cy="685800"/>
          </a:xfrm>
          <a:prstGeom prst="roundRect">
            <a:avLst>
              <a:gd fmla="val 16667"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g3fafe51123f_6_104"/>
          <p:cNvSpPr/>
          <p:nvPr/>
        </p:nvSpPr>
        <p:spPr>
          <a:xfrm>
            <a:off x="2333563" y="5166277"/>
            <a:ext cx="857100" cy="333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3F7A57"/>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906" name="Google Shape;906;g3fafe51123f_6_104"/>
          <p:cNvSpPr/>
          <p:nvPr/>
        </p:nvSpPr>
        <p:spPr>
          <a:xfrm>
            <a:off x="3239985" y="5183255"/>
            <a:ext cx="73842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7271F"/>
                </a:solidFill>
                <a:latin typeface="Arial"/>
                <a:ea typeface="Arial"/>
                <a:cs typeface="Arial"/>
                <a:sym typeface="Arial"/>
              </a:rPr>
              <a:t>tbl_id + ITEM + OBJ + period + unit + 구성 점수</a:t>
            </a:r>
            <a:endParaRPr b="1" i="0" sz="1500" u="none" cap="none" strike="noStrike">
              <a:solidFill>
                <a:srgbClr val="17271F"/>
              </a:solidFill>
              <a:latin typeface="Arial"/>
              <a:ea typeface="Arial"/>
              <a:cs typeface="Arial"/>
              <a:sym typeface="Arial"/>
            </a:endParaRPr>
          </a:p>
        </p:txBody>
      </p:sp>
      <p:sp>
        <p:nvSpPr>
          <p:cNvPr id="907" name="Google Shape;907;g3fafe51123f_6_104"/>
          <p:cNvSpPr/>
          <p:nvPr/>
        </p:nvSpPr>
        <p:spPr>
          <a:xfrm>
            <a:off x="2324038" y="5838825"/>
            <a:ext cx="9048509"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3F7A57"/>
                </a:solidFill>
                <a:latin typeface="Arial"/>
                <a:ea typeface="Arial"/>
                <a:cs typeface="Arial"/>
                <a:sym typeface="Arial"/>
              </a:rPr>
              <a:t>※ 출력은 실제 KOSIS 값이 아니라 “조회 가능한 좌표 후보 목록”</a:t>
            </a:r>
            <a:endParaRPr b="0" i="0" sz="1400" u="none" cap="none" strike="noStrike">
              <a:solidFill>
                <a:srgbClr val="000000"/>
              </a:solidFill>
              <a:latin typeface="Arial"/>
              <a:ea typeface="Arial"/>
              <a:cs typeface="Arial"/>
              <a:sym typeface="Arial"/>
            </a:endParaRPr>
          </a:p>
        </p:txBody>
      </p:sp>
      <p:cxnSp>
        <p:nvCxnSpPr>
          <p:cNvPr id="908" name="Google Shape;908;g3fafe51123f_6_104"/>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909" name="Google Shape;909;g3fafe51123f_6_104"/>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3fafe51123f_6_104"/>
          <p:cNvSpPr/>
          <p:nvPr/>
        </p:nvSpPr>
        <p:spPr>
          <a:xfrm>
            <a:off x="393192" y="5925312"/>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KOSIS 공식 통계 연결</a:t>
            </a:r>
            <a:endParaRPr b="0" i="0" sz="730" u="none" cap="none" strike="noStrike">
              <a:solidFill>
                <a:schemeClr val="dk1"/>
              </a:solidFill>
              <a:latin typeface="Malgun Gothic"/>
              <a:ea typeface="Malgun Gothic"/>
              <a:cs typeface="Malgun Gothic"/>
              <a:sym typeface="Malgun Gothic"/>
            </a:endParaRPr>
          </a:p>
        </p:txBody>
      </p:sp>
      <p:sp>
        <p:nvSpPr>
          <p:cNvPr id="911" name="Google Shape;911;g3fafe51123f_6_104"/>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g3fafe51123f_6_104"/>
          <p:cNvSpPr/>
          <p:nvPr/>
        </p:nvSpPr>
        <p:spPr>
          <a:xfrm>
            <a:off x="2165788" y="246185"/>
            <a:ext cx="19527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Stage A, B, C</a:t>
            </a:r>
            <a:endParaRPr b="0" i="0" sz="1400" u="none" cap="none" strike="noStrike">
              <a:solidFill>
                <a:srgbClr val="000000"/>
              </a:solidFill>
              <a:latin typeface="Arial"/>
              <a:ea typeface="Arial"/>
              <a:cs typeface="Arial"/>
              <a:sym typeface="Arial"/>
            </a:endParaRPr>
          </a:p>
        </p:txBody>
      </p:sp>
      <p:sp>
        <p:nvSpPr>
          <p:cNvPr id="913" name="Google Shape;913;g3fafe51123f_6_104"/>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g3fafe51123f_6_104"/>
          <p:cNvSpPr/>
          <p:nvPr/>
        </p:nvSpPr>
        <p:spPr>
          <a:xfrm>
            <a:off x="2013401" y="169973"/>
            <a:ext cx="21636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검색 및 좌표확정</a:t>
            </a:r>
            <a:endParaRPr b="0" i="0" sz="1400" u="none" cap="none" strike="noStrike">
              <a:solidFill>
                <a:srgbClr val="000000"/>
              </a:solidFill>
              <a:latin typeface="Arial"/>
              <a:ea typeface="Arial"/>
              <a:cs typeface="Arial"/>
              <a:sym typeface="Arial"/>
            </a:endParaRPr>
          </a:p>
        </p:txBody>
      </p:sp>
      <p:sp>
        <p:nvSpPr>
          <p:cNvPr id="915" name="Google Shape;915;g3fafe51123f_6_104"/>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916" name="Google Shape;916;g3fafe51123f_6_104"/>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917" name="Google Shape;917;g3fafe51123f_6_104"/>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918" name="Google Shape;918;g3fafe51123f_6_104"/>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919" name="Google Shape;919;g3fafe51123f_6_104"/>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920" name="Google Shape;920;g3fafe51123f_6_104"/>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921" name="Google Shape;921;g3fafe51123f_6_104"/>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922" name="Google Shape;922;g3fafe51123f_6_104"/>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923" name="Google Shape;923;g3fafe51123f_6_104"/>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924" name="Google Shape;924;g3fafe51123f_6_104"/>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925" name="Google Shape;925;g3fafe51123f_6_104"/>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926" name="Google Shape;926;g3fafe51123f_6_104"/>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927" name="Google Shape;927;g3fafe51123f_6_104"/>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928" name="Google Shape;928;g3fafe51123f_6_104"/>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929" name="Google Shape;929;g3fafe51123f_6_104"/>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930" name="Google Shape;930;g3fafe51123f_6_104"/>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931" name="Google Shape;931;g3fafe51123f_6_104"/>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936" name="Shape 936"/>
        <p:cNvGrpSpPr/>
        <p:nvPr/>
      </p:nvGrpSpPr>
      <p:grpSpPr>
        <a:xfrm>
          <a:off x="0" y="0"/>
          <a:ext cx="0" cy="0"/>
          <a:chOff x="0" y="0"/>
          <a:chExt cx="0" cy="0"/>
        </a:xfrm>
      </p:grpSpPr>
      <p:sp>
        <p:nvSpPr>
          <p:cNvPr id="937" name="Google Shape;937;g3fafe51123f_6_158"/>
          <p:cNvSpPr/>
          <p:nvPr/>
        </p:nvSpPr>
        <p:spPr>
          <a:xfrm>
            <a:off x="3467022" y="2342505"/>
            <a:ext cx="1219200" cy="752400"/>
          </a:xfrm>
          <a:prstGeom prst="roundRect">
            <a:avLst>
              <a:gd fmla="val 15190"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g3fafe51123f_6_158"/>
          <p:cNvSpPr/>
          <p:nvPr/>
        </p:nvSpPr>
        <p:spPr>
          <a:xfrm>
            <a:off x="-6347"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39" name="Google Shape;939;g3fafe51123f_6_158"/>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940" name="Google Shape;940;g3fafe51123f_6_158"/>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g3fafe51123f_6_158"/>
          <p:cNvSpPr/>
          <p:nvPr/>
        </p:nvSpPr>
        <p:spPr>
          <a:xfrm>
            <a:off x="393192" y="5925312"/>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KOSIS 공식 통계 연결</a:t>
            </a:r>
            <a:endParaRPr b="0" i="0" sz="730" u="none" cap="none" strike="noStrike">
              <a:solidFill>
                <a:schemeClr val="dk1"/>
              </a:solidFill>
              <a:latin typeface="Malgun Gothic"/>
              <a:ea typeface="Malgun Gothic"/>
              <a:cs typeface="Malgun Gothic"/>
              <a:sym typeface="Malgun Gothic"/>
            </a:endParaRPr>
          </a:p>
        </p:txBody>
      </p:sp>
      <p:sp>
        <p:nvSpPr>
          <p:cNvPr id="942" name="Google Shape;942;g3fafe51123f_6_158"/>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g3fafe51123f_6_158"/>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g3fafe51123f_6_158"/>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g3fafe51123f_6_158"/>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g3fafe51123f_6_158"/>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g3fafe51123f_6_158"/>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948" name="Google Shape;948;g3fafe51123f_6_158"/>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949" name="Google Shape;949;g3fafe51123f_6_158"/>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950" name="Google Shape;950;g3fafe51123f_6_158"/>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951" name="Google Shape;951;g3fafe51123f_6_158"/>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952" name="Google Shape;952;g3fafe51123f_6_158"/>
          <p:cNvGrpSpPr/>
          <p:nvPr/>
        </p:nvGrpSpPr>
        <p:grpSpPr>
          <a:xfrm>
            <a:off x="283429" y="3067107"/>
            <a:ext cx="209400" cy="209700"/>
            <a:chOff x="-3275292" y="2173036"/>
            <a:chExt cx="209400" cy="209700"/>
          </a:xfrm>
        </p:grpSpPr>
        <p:sp>
          <p:nvSpPr>
            <p:cNvPr id="953" name="Google Shape;953;g3fafe51123f_6_158"/>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g3fafe51123f_6_158"/>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5" name="Google Shape;955;g3fafe51123f_6_158"/>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g3fafe51123f_6_158"/>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g3fafe51123f_6_158"/>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g3fafe51123f_6_158"/>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g3fafe51123f_6_158"/>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g3fafe51123f_6_158"/>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g3fafe51123f_6_158"/>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3fafe51123f_6_158"/>
          <p:cNvSpPr/>
          <p:nvPr/>
        </p:nvSpPr>
        <p:spPr>
          <a:xfrm>
            <a:off x="2095444" y="646019"/>
            <a:ext cx="95247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0271D"/>
                </a:solidFill>
                <a:latin typeface="Arial"/>
                <a:ea typeface="Arial"/>
                <a:cs typeface="Arial"/>
                <a:sym typeface="Arial"/>
              </a:rPr>
              <a:t>Stage C : 기사 의미에 맞춰 좌표 재정렬</a:t>
            </a:r>
            <a:endParaRPr b="0" i="0" sz="1400" u="none" cap="none" strike="noStrike">
              <a:solidFill>
                <a:srgbClr val="000000"/>
              </a:solidFill>
              <a:latin typeface="Arial"/>
              <a:ea typeface="Arial"/>
              <a:cs typeface="Arial"/>
              <a:sym typeface="Arial"/>
            </a:endParaRPr>
          </a:p>
        </p:txBody>
      </p:sp>
      <p:sp>
        <p:nvSpPr>
          <p:cNvPr id="963" name="Google Shape;963;g3fafe51123f_6_158"/>
          <p:cNvSpPr/>
          <p:nvPr/>
        </p:nvSpPr>
        <p:spPr>
          <a:xfrm>
            <a:off x="2114494" y="1179419"/>
            <a:ext cx="94296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6A7C72"/>
                </a:solidFill>
                <a:latin typeface="Arial"/>
                <a:ea typeface="Arial"/>
                <a:cs typeface="Arial"/>
                <a:sym typeface="Arial"/>
              </a:rPr>
              <a:t>OBJ 완전성·기간·단위·범위를 함께 보고 Top-3와 제한적 fallback을 구분</a:t>
            </a:r>
            <a:endParaRPr b="0" i="0" sz="1400" u="none" cap="none" strike="noStrike">
              <a:solidFill>
                <a:srgbClr val="000000"/>
              </a:solidFill>
              <a:latin typeface="Arial"/>
              <a:ea typeface="Arial"/>
              <a:cs typeface="Arial"/>
              <a:sym typeface="Arial"/>
            </a:endParaRPr>
          </a:p>
        </p:txBody>
      </p:sp>
      <p:sp>
        <p:nvSpPr>
          <p:cNvPr id="964" name="Google Shape;964;g3fafe51123f_6_158"/>
          <p:cNvSpPr/>
          <p:nvPr/>
        </p:nvSpPr>
        <p:spPr>
          <a:xfrm>
            <a:off x="2095444" y="6543675"/>
            <a:ext cx="2857424"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A7C72"/>
                </a:solidFill>
                <a:latin typeface="Arial"/>
                <a:ea typeface="Arial"/>
                <a:cs typeface="Arial"/>
                <a:sym typeface="Arial"/>
              </a:rPr>
              <a:t>KOSIS 뉴스 수치 주장 검증 PoC</a:t>
            </a:r>
            <a:endParaRPr b="0" i="0" sz="1400" u="none" cap="none" strike="noStrike">
              <a:solidFill>
                <a:srgbClr val="000000"/>
              </a:solidFill>
              <a:latin typeface="Arial"/>
              <a:ea typeface="Arial"/>
              <a:cs typeface="Arial"/>
              <a:sym typeface="Arial"/>
            </a:endParaRPr>
          </a:p>
        </p:txBody>
      </p:sp>
      <p:sp>
        <p:nvSpPr>
          <p:cNvPr id="965" name="Google Shape;965;g3fafe51123f_6_158"/>
          <p:cNvSpPr/>
          <p:nvPr/>
        </p:nvSpPr>
        <p:spPr>
          <a:xfrm>
            <a:off x="10953458" y="6534150"/>
            <a:ext cx="666732" cy="1524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675"/>
              <a:buFont typeface="Arial"/>
              <a:buNone/>
            </a:pPr>
            <a:r>
              <a:rPr b="1" i="0" lang="en-US" sz="675" u="none" cap="none" strike="noStrike">
                <a:solidFill>
                  <a:srgbClr val="6A7C72"/>
                </a:solidFill>
                <a:latin typeface="Arial"/>
                <a:ea typeface="Arial"/>
                <a:cs typeface="Arial"/>
                <a:sym typeface="Arial"/>
              </a:rPr>
              <a:t>4 / 4</a:t>
            </a:r>
            <a:endParaRPr b="0" i="0" sz="1400" u="none" cap="none" strike="noStrike">
              <a:solidFill>
                <a:srgbClr val="000000"/>
              </a:solidFill>
              <a:latin typeface="Arial"/>
              <a:ea typeface="Arial"/>
              <a:cs typeface="Arial"/>
              <a:sym typeface="Arial"/>
            </a:endParaRPr>
          </a:p>
        </p:txBody>
      </p:sp>
      <p:sp>
        <p:nvSpPr>
          <p:cNvPr id="966" name="Google Shape;966;g3fafe51123f_6_158"/>
          <p:cNvSpPr/>
          <p:nvPr/>
        </p:nvSpPr>
        <p:spPr>
          <a:xfrm>
            <a:off x="2114494" y="1762619"/>
            <a:ext cx="2667000" cy="304800"/>
          </a:xfrm>
          <a:prstGeom prst="roundRect">
            <a:avLst>
              <a:gd fmla="val 37500" name="adj"/>
            </a:avLst>
          </a:prstGeom>
          <a:solidFill>
            <a:srgbClr val="F7EDE2"/>
          </a:solidFill>
          <a:ln cap="flat" cmpd="sng" w="9525">
            <a:solidFill>
              <a:srgbClr val="F7EDE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g3fafe51123f_6_158"/>
          <p:cNvSpPr/>
          <p:nvPr/>
        </p:nvSpPr>
        <p:spPr>
          <a:xfrm>
            <a:off x="2228791" y="1772144"/>
            <a:ext cx="2438400" cy="276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B36C2E"/>
                </a:solidFill>
                <a:latin typeface="Arial"/>
                <a:ea typeface="Arial"/>
                <a:cs typeface="Arial"/>
                <a:sym typeface="Arial"/>
              </a:rPr>
              <a:t>INPUT · Stage B coordinate beam</a:t>
            </a:r>
            <a:endParaRPr b="0" i="0" sz="1400" u="none" cap="none" strike="noStrike">
              <a:solidFill>
                <a:srgbClr val="000000"/>
              </a:solidFill>
              <a:latin typeface="Arial"/>
              <a:ea typeface="Arial"/>
              <a:cs typeface="Arial"/>
              <a:sym typeface="Arial"/>
            </a:endParaRPr>
          </a:p>
        </p:txBody>
      </p:sp>
      <p:sp>
        <p:nvSpPr>
          <p:cNvPr id="968" name="Google Shape;968;g3fafe51123f_6_158"/>
          <p:cNvSpPr/>
          <p:nvPr/>
        </p:nvSpPr>
        <p:spPr>
          <a:xfrm>
            <a:off x="2114494" y="2334119"/>
            <a:ext cx="1219200" cy="752400"/>
          </a:xfrm>
          <a:prstGeom prst="roundRect">
            <a:avLst>
              <a:gd fmla="val 15190"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g3fafe51123f_6_158"/>
          <p:cNvSpPr/>
          <p:nvPr/>
        </p:nvSpPr>
        <p:spPr>
          <a:xfrm>
            <a:off x="2190692" y="2448419"/>
            <a:ext cx="1066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10271D"/>
                </a:solidFill>
                <a:latin typeface="Arial"/>
                <a:ea typeface="Arial"/>
                <a:cs typeface="Arial"/>
                <a:sym typeface="Arial"/>
              </a:rPr>
              <a:t>ITEM 의미</a:t>
            </a:r>
            <a:endParaRPr b="0" i="0" sz="1400" u="none" cap="none" strike="noStrike">
              <a:solidFill>
                <a:srgbClr val="000000"/>
              </a:solidFill>
              <a:latin typeface="Arial"/>
              <a:ea typeface="Arial"/>
              <a:cs typeface="Arial"/>
              <a:sym typeface="Arial"/>
            </a:endParaRPr>
          </a:p>
        </p:txBody>
      </p:sp>
      <p:sp>
        <p:nvSpPr>
          <p:cNvPr id="970" name="Google Shape;970;g3fafe51123f_6_158"/>
          <p:cNvSpPr/>
          <p:nvPr/>
        </p:nvSpPr>
        <p:spPr>
          <a:xfrm>
            <a:off x="2190692" y="2724644"/>
            <a:ext cx="10668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A7C72"/>
                </a:solidFill>
                <a:latin typeface="Arial"/>
                <a:ea typeface="Arial"/>
                <a:cs typeface="Arial"/>
                <a:sym typeface="Arial"/>
              </a:rPr>
              <a:t>지표·항목</a:t>
            </a:r>
            <a:endParaRPr b="0" i="0" sz="1400" u="none" cap="none" strike="noStrike">
              <a:solidFill>
                <a:srgbClr val="000000"/>
              </a:solidFill>
              <a:latin typeface="Arial"/>
              <a:ea typeface="Arial"/>
              <a:cs typeface="Arial"/>
              <a:sym typeface="Arial"/>
            </a:endParaRPr>
          </a:p>
        </p:txBody>
      </p:sp>
      <p:sp>
        <p:nvSpPr>
          <p:cNvPr id="971" name="Google Shape;971;g3fafe51123f_6_158"/>
          <p:cNvSpPr/>
          <p:nvPr/>
        </p:nvSpPr>
        <p:spPr>
          <a:xfrm>
            <a:off x="3543206" y="2448419"/>
            <a:ext cx="1066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10271D"/>
                </a:solidFill>
                <a:latin typeface="Arial"/>
                <a:ea typeface="Arial"/>
                <a:cs typeface="Arial"/>
                <a:sym typeface="Arial"/>
              </a:rPr>
              <a:t>OBJ 완전성</a:t>
            </a:r>
            <a:endParaRPr b="0" i="0" sz="1400" u="none" cap="none" strike="noStrike">
              <a:solidFill>
                <a:srgbClr val="10271D"/>
              </a:solidFill>
              <a:latin typeface="Arial"/>
              <a:ea typeface="Arial"/>
              <a:cs typeface="Arial"/>
              <a:sym typeface="Arial"/>
            </a:endParaRPr>
          </a:p>
        </p:txBody>
      </p:sp>
      <p:sp>
        <p:nvSpPr>
          <p:cNvPr id="972" name="Google Shape;972;g3fafe51123f_6_158"/>
          <p:cNvSpPr/>
          <p:nvPr/>
        </p:nvSpPr>
        <p:spPr>
          <a:xfrm>
            <a:off x="3543206" y="2724644"/>
            <a:ext cx="10668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A7C72"/>
                </a:solidFill>
                <a:latin typeface="Arial"/>
                <a:ea typeface="Arial"/>
                <a:cs typeface="Arial"/>
                <a:sym typeface="Arial"/>
              </a:rPr>
              <a:t>필수 축 충족</a:t>
            </a:r>
            <a:endParaRPr b="0" i="0" sz="1400" u="none" cap="none" strike="noStrike">
              <a:solidFill>
                <a:srgbClr val="6A7C72"/>
              </a:solidFill>
              <a:latin typeface="Arial"/>
              <a:ea typeface="Arial"/>
              <a:cs typeface="Arial"/>
              <a:sym typeface="Arial"/>
            </a:endParaRPr>
          </a:p>
        </p:txBody>
      </p:sp>
      <p:sp>
        <p:nvSpPr>
          <p:cNvPr id="973" name="Google Shape;973;g3fafe51123f_6_158"/>
          <p:cNvSpPr/>
          <p:nvPr/>
        </p:nvSpPr>
        <p:spPr>
          <a:xfrm>
            <a:off x="4819522" y="2334119"/>
            <a:ext cx="1219200" cy="752400"/>
          </a:xfrm>
          <a:prstGeom prst="roundRect">
            <a:avLst>
              <a:gd fmla="val 15190"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g3fafe51123f_6_158"/>
          <p:cNvSpPr/>
          <p:nvPr/>
        </p:nvSpPr>
        <p:spPr>
          <a:xfrm>
            <a:off x="4895719" y="2448419"/>
            <a:ext cx="1066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10271D"/>
                </a:solidFill>
                <a:latin typeface="Arial"/>
                <a:ea typeface="Arial"/>
                <a:cs typeface="Arial"/>
                <a:sym typeface="Arial"/>
              </a:rPr>
              <a:t>범위</a:t>
            </a:r>
            <a:endParaRPr b="0" i="0" sz="1400" u="none" cap="none" strike="noStrike">
              <a:solidFill>
                <a:srgbClr val="000000"/>
              </a:solidFill>
              <a:latin typeface="Arial"/>
              <a:ea typeface="Arial"/>
              <a:cs typeface="Arial"/>
              <a:sym typeface="Arial"/>
            </a:endParaRPr>
          </a:p>
        </p:txBody>
      </p:sp>
      <p:sp>
        <p:nvSpPr>
          <p:cNvPr id="975" name="Google Shape;975;g3fafe51123f_6_158"/>
          <p:cNvSpPr/>
          <p:nvPr/>
        </p:nvSpPr>
        <p:spPr>
          <a:xfrm>
            <a:off x="4895719" y="2724644"/>
            <a:ext cx="10668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A7C72"/>
                </a:solidFill>
                <a:latin typeface="Arial"/>
                <a:ea typeface="Arial"/>
                <a:cs typeface="Arial"/>
                <a:sym typeface="Arial"/>
              </a:rPr>
              <a:t>전체·세부 수준</a:t>
            </a:r>
            <a:endParaRPr b="0" i="0" sz="1400" u="none" cap="none" strike="noStrike">
              <a:solidFill>
                <a:srgbClr val="000000"/>
              </a:solidFill>
              <a:latin typeface="Arial"/>
              <a:ea typeface="Arial"/>
              <a:cs typeface="Arial"/>
              <a:sym typeface="Arial"/>
            </a:endParaRPr>
          </a:p>
        </p:txBody>
      </p:sp>
      <p:sp>
        <p:nvSpPr>
          <p:cNvPr id="976" name="Google Shape;976;g3fafe51123f_6_158"/>
          <p:cNvSpPr/>
          <p:nvPr/>
        </p:nvSpPr>
        <p:spPr>
          <a:xfrm>
            <a:off x="6172035" y="2334119"/>
            <a:ext cx="1219200" cy="752400"/>
          </a:xfrm>
          <a:prstGeom prst="roundRect">
            <a:avLst>
              <a:gd fmla="val 15190"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g3fafe51123f_6_158"/>
          <p:cNvSpPr/>
          <p:nvPr/>
        </p:nvSpPr>
        <p:spPr>
          <a:xfrm>
            <a:off x="6248233" y="2448419"/>
            <a:ext cx="1066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10271D"/>
                </a:solidFill>
                <a:latin typeface="Arial"/>
                <a:ea typeface="Arial"/>
                <a:cs typeface="Arial"/>
                <a:sym typeface="Arial"/>
              </a:rPr>
              <a:t>기간</a:t>
            </a:r>
            <a:endParaRPr b="0" i="0" sz="1400" u="none" cap="none" strike="noStrike">
              <a:solidFill>
                <a:srgbClr val="000000"/>
              </a:solidFill>
              <a:latin typeface="Arial"/>
              <a:ea typeface="Arial"/>
              <a:cs typeface="Arial"/>
              <a:sym typeface="Arial"/>
            </a:endParaRPr>
          </a:p>
        </p:txBody>
      </p:sp>
      <p:sp>
        <p:nvSpPr>
          <p:cNvPr id="978" name="Google Shape;978;g3fafe51123f_6_158"/>
          <p:cNvSpPr/>
          <p:nvPr/>
        </p:nvSpPr>
        <p:spPr>
          <a:xfrm>
            <a:off x="6248233" y="2724644"/>
            <a:ext cx="10668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A7C72"/>
                </a:solidFill>
                <a:latin typeface="Arial"/>
                <a:ea typeface="Arial"/>
                <a:cs typeface="Arial"/>
                <a:sym typeface="Arial"/>
              </a:rPr>
              <a:t>월·분기·연</a:t>
            </a:r>
            <a:endParaRPr b="0" i="0" sz="1400" u="none" cap="none" strike="noStrike">
              <a:solidFill>
                <a:srgbClr val="000000"/>
              </a:solidFill>
              <a:latin typeface="Arial"/>
              <a:ea typeface="Arial"/>
              <a:cs typeface="Arial"/>
              <a:sym typeface="Arial"/>
            </a:endParaRPr>
          </a:p>
        </p:txBody>
      </p:sp>
      <p:sp>
        <p:nvSpPr>
          <p:cNvPr id="979" name="Google Shape;979;g3fafe51123f_6_158"/>
          <p:cNvSpPr/>
          <p:nvPr/>
        </p:nvSpPr>
        <p:spPr>
          <a:xfrm>
            <a:off x="7524549" y="2334119"/>
            <a:ext cx="1219200" cy="752400"/>
          </a:xfrm>
          <a:prstGeom prst="roundRect">
            <a:avLst>
              <a:gd fmla="val 15190"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g3fafe51123f_6_158"/>
          <p:cNvSpPr/>
          <p:nvPr/>
        </p:nvSpPr>
        <p:spPr>
          <a:xfrm>
            <a:off x="7600747" y="2448419"/>
            <a:ext cx="1066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10271D"/>
                </a:solidFill>
                <a:latin typeface="Arial"/>
                <a:ea typeface="Arial"/>
                <a:cs typeface="Arial"/>
                <a:sym typeface="Arial"/>
              </a:rPr>
              <a:t>단위</a:t>
            </a:r>
            <a:endParaRPr b="0" i="0" sz="1400" u="none" cap="none" strike="noStrike">
              <a:solidFill>
                <a:srgbClr val="000000"/>
              </a:solidFill>
              <a:latin typeface="Arial"/>
              <a:ea typeface="Arial"/>
              <a:cs typeface="Arial"/>
              <a:sym typeface="Arial"/>
            </a:endParaRPr>
          </a:p>
        </p:txBody>
      </p:sp>
      <p:sp>
        <p:nvSpPr>
          <p:cNvPr id="981" name="Google Shape;981;g3fafe51123f_6_158"/>
          <p:cNvSpPr/>
          <p:nvPr/>
        </p:nvSpPr>
        <p:spPr>
          <a:xfrm>
            <a:off x="7600747" y="2724644"/>
            <a:ext cx="10668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A7C72"/>
                </a:solidFill>
                <a:latin typeface="Arial"/>
                <a:ea typeface="Arial"/>
                <a:cs typeface="Arial"/>
                <a:sym typeface="Arial"/>
              </a:rPr>
              <a:t>통화·명·%·지수</a:t>
            </a:r>
            <a:endParaRPr b="0" i="0" sz="1400" u="none" cap="none" strike="noStrike">
              <a:solidFill>
                <a:srgbClr val="000000"/>
              </a:solidFill>
              <a:latin typeface="Arial"/>
              <a:ea typeface="Arial"/>
              <a:cs typeface="Arial"/>
              <a:sym typeface="Arial"/>
            </a:endParaRPr>
          </a:p>
        </p:txBody>
      </p:sp>
      <p:sp>
        <p:nvSpPr>
          <p:cNvPr id="982" name="Google Shape;982;g3fafe51123f_6_158"/>
          <p:cNvSpPr/>
          <p:nvPr/>
        </p:nvSpPr>
        <p:spPr>
          <a:xfrm>
            <a:off x="8877063" y="2334119"/>
            <a:ext cx="1219200" cy="752400"/>
          </a:xfrm>
          <a:prstGeom prst="roundRect">
            <a:avLst>
              <a:gd fmla="val 15190"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g3fafe51123f_6_158"/>
          <p:cNvSpPr/>
          <p:nvPr/>
        </p:nvSpPr>
        <p:spPr>
          <a:xfrm>
            <a:off x="8953261" y="2448419"/>
            <a:ext cx="1066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10271D"/>
                </a:solidFill>
                <a:latin typeface="Arial"/>
                <a:ea typeface="Arial"/>
                <a:cs typeface="Arial"/>
                <a:sym typeface="Arial"/>
              </a:rPr>
              <a:t>표 family</a:t>
            </a:r>
            <a:endParaRPr b="0" i="0" sz="1400" u="none" cap="none" strike="noStrike">
              <a:solidFill>
                <a:srgbClr val="000000"/>
              </a:solidFill>
              <a:latin typeface="Arial"/>
              <a:ea typeface="Arial"/>
              <a:cs typeface="Arial"/>
              <a:sym typeface="Arial"/>
            </a:endParaRPr>
          </a:p>
        </p:txBody>
      </p:sp>
      <p:sp>
        <p:nvSpPr>
          <p:cNvPr id="984" name="Google Shape;984;g3fafe51123f_6_158"/>
          <p:cNvSpPr/>
          <p:nvPr/>
        </p:nvSpPr>
        <p:spPr>
          <a:xfrm>
            <a:off x="8953261" y="2724644"/>
            <a:ext cx="10668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A7C72"/>
                </a:solidFill>
                <a:latin typeface="Arial"/>
                <a:ea typeface="Arial"/>
                <a:cs typeface="Arial"/>
                <a:sym typeface="Arial"/>
              </a:rPr>
              <a:t>다양성</a:t>
            </a:r>
            <a:endParaRPr b="0" i="0" sz="1400" u="none" cap="none" strike="noStrike">
              <a:solidFill>
                <a:srgbClr val="000000"/>
              </a:solidFill>
              <a:latin typeface="Arial"/>
              <a:ea typeface="Arial"/>
              <a:cs typeface="Arial"/>
              <a:sym typeface="Arial"/>
            </a:endParaRPr>
          </a:p>
        </p:txBody>
      </p:sp>
      <p:sp>
        <p:nvSpPr>
          <p:cNvPr id="985" name="Google Shape;985;g3fafe51123f_6_158"/>
          <p:cNvSpPr/>
          <p:nvPr/>
        </p:nvSpPr>
        <p:spPr>
          <a:xfrm>
            <a:off x="10229577" y="2334119"/>
            <a:ext cx="1219200" cy="752400"/>
          </a:xfrm>
          <a:prstGeom prst="roundRect">
            <a:avLst>
              <a:gd fmla="val 15190"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g3fafe51123f_6_158"/>
          <p:cNvSpPr/>
          <p:nvPr/>
        </p:nvSpPr>
        <p:spPr>
          <a:xfrm>
            <a:off x="10305775" y="2448419"/>
            <a:ext cx="1066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10271D"/>
                </a:solidFill>
                <a:latin typeface="Arial"/>
                <a:ea typeface="Arial"/>
                <a:cs typeface="Arial"/>
                <a:sym typeface="Arial"/>
              </a:rPr>
              <a:t>Stage A</a:t>
            </a:r>
            <a:endParaRPr b="0" i="0" sz="1400" u="none" cap="none" strike="noStrike">
              <a:solidFill>
                <a:srgbClr val="000000"/>
              </a:solidFill>
              <a:latin typeface="Arial"/>
              <a:ea typeface="Arial"/>
              <a:cs typeface="Arial"/>
              <a:sym typeface="Arial"/>
            </a:endParaRPr>
          </a:p>
        </p:txBody>
      </p:sp>
      <p:sp>
        <p:nvSpPr>
          <p:cNvPr id="987" name="Google Shape;987;g3fafe51123f_6_158"/>
          <p:cNvSpPr/>
          <p:nvPr/>
        </p:nvSpPr>
        <p:spPr>
          <a:xfrm>
            <a:off x="10305775" y="2724644"/>
            <a:ext cx="10668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A7C72"/>
                </a:solidFill>
                <a:latin typeface="Arial"/>
                <a:ea typeface="Arial"/>
                <a:cs typeface="Arial"/>
                <a:sym typeface="Arial"/>
              </a:rPr>
              <a:t>표 검색 점수</a:t>
            </a:r>
            <a:endParaRPr b="0" i="0" sz="1400" u="none" cap="none" strike="noStrike">
              <a:solidFill>
                <a:srgbClr val="000000"/>
              </a:solidFill>
              <a:latin typeface="Arial"/>
              <a:ea typeface="Arial"/>
              <a:cs typeface="Arial"/>
              <a:sym typeface="Arial"/>
            </a:endParaRPr>
          </a:p>
        </p:txBody>
      </p:sp>
      <p:sp>
        <p:nvSpPr>
          <p:cNvPr id="988" name="Google Shape;988;g3fafe51123f_6_158"/>
          <p:cNvSpPr/>
          <p:nvPr/>
        </p:nvSpPr>
        <p:spPr>
          <a:xfrm>
            <a:off x="6593875" y="3117416"/>
            <a:ext cx="340200" cy="333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3F7A57"/>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89" name="Google Shape;989;g3fafe51123f_6_158"/>
          <p:cNvSpPr/>
          <p:nvPr/>
        </p:nvSpPr>
        <p:spPr>
          <a:xfrm>
            <a:off x="2114494" y="3515219"/>
            <a:ext cx="9486600" cy="895500"/>
          </a:xfrm>
          <a:prstGeom prst="roundRect">
            <a:avLst>
              <a:gd fmla="val 12766" name="adj"/>
            </a:avLst>
          </a:prstGeom>
          <a:solidFill>
            <a:srgbClr val="10271D"/>
          </a:solidFill>
          <a:ln cap="flat" cmpd="sng" w="9525">
            <a:solidFill>
              <a:srgbClr val="1027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g3fafe51123f_6_158"/>
          <p:cNvSpPr/>
          <p:nvPr/>
        </p:nvSpPr>
        <p:spPr>
          <a:xfrm>
            <a:off x="2343088" y="3686669"/>
            <a:ext cx="2000100" cy="276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BBD0C1"/>
                </a:solidFill>
                <a:latin typeface="Arial"/>
                <a:ea typeface="Arial"/>
                <a:cs typeface="Arial"/>
                <a:sym typeface="Arial"/>
              </a:rPr>
              <a:t>최종 로컬 재순위</a:t>
            </a:r>
            <a:endParaRPr b="0" i="0" sz="1400" u="none" cap="none" strike="noStrike">
              <a:solidFill>
                <a:srgbClr val="000000"/>
              </a:solidFill>
              <a:latin typeface="Arial"/>
              <a:ea typeface="Arial"/>
              <a:cs typeface="Arial"/>
              <a:sym typeface="Arial"/>
            </a:endParaRPr>
          </a:p>
        </p:txBody>
      </p:sp>
      <p:sp>
        <p:nvSpPr>
          <p:cNvPr id="991" name="Google Shape;991;g3fafe51123f_6_158"/>
          <p:cNvSpPr/>
          <p:nvPr/>
        </p:nvSpPr>
        <p:spPr>
          <a:xfrm>
            <a:off x="4457581" y="3648569"/>
            <a:ext cx="6762600" cy="36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FFFFFF"/>
                </a:solidFill>
                <a:latin typeface="Arial"/>
                <a:ea typeface="Arial"/>
                <a:cs typeface="Arial"/>
                <a:sym typeface="Arial"/>
              </a:rPr>
              <a:t>불필요한 OBJ는 감점 · 필요한 OBJ 누락은 감점 · 월/연과 단위가 다르면 일치로 보지 않음</a:t>
            </a:r>
            <a:endParaRPr b="0" i="0" sz="1400" u="none" cap="none" strike="noStrike">
              <a:solidFill>
                <a:srgbClr val="000000"/>
              </a:solidFill>
              <a:latin typeface="Arial"/>
              <a:ea typeface="Arial"/>
              <a:cs typeface="Arial"/>
              <a:sym typeface="Arial"/>
            </a:endParaRPr>
          </a:p>
        </p:txBody>
      </p:sp>
      <p:sp>
        <p:nvSpPr>
          <p:cNvPr id="992" name="Google Shape;992;g3fafe51123f_6_158"/>
          <p:cNvSpPr/>
          <p:nvPr/>
        </p:nvSpPr>
        <p:spPr>
          <a:xfrm>
            <a:off x="4457581" y="4029569"/>
            <a:ext cx="6762600" cy="20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C7D7CD"/>
                </a:solidFill>
                <a:latin typeface="Arial"/>
                <a:ea typeface="Arial"/>
                <a:cs typeface="Arial"/>
                <a:sym typeface="Arial"/>
              </a:rPr>
              <a:t>OBJ 완화 검색은 하나씩 시도하고, 완화 좌표는 낮은 신뢰 후보로 표시</a:t>
            </a:r>
            <a:endParaRPr b="0" i="0" sz="1400" u="none" cap="none" strike="noStrike">
              <a:solidFill>
                <a:srgbClr val="000000"/>
              </a:solidFill>
              <a:latin typeface="Arial"/>
              <a:ea typeface="Arial"/>
              <a:cs typeface="Arial"/>
              <a:sym typeface="Arial"/>
            </a:endParaRPr>
          </a:p>
        </p:txBody>
      </p:sp>
      <p:sp>
        <p:nvSpPr>
          <p:cNvPr id="993" name="Google Shape;993;g3fafe51123f_6_158"/>
          <p:cNvSpPr/>
          <p:nvPr/>
        </p:nvSpPr>
        <p:spPr>
          <a:xfrm>
            <a:off x="2114494" y="4791569"/>
            <a:ext cx="5943300" cy="790500"/>
          </a:xfrm>
          <a:prstGeom prst="roundRect">
            <a:avLst>
              <a:gd fmla="val 14458"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g3fafe51123f_6_158"/>
          <p:cNvSpPr/>
          <p:nvPr/>
        </p:nvSpPr>
        <p:spPr>
          <a:xfrm>
            <a:off x="2343088" y="4953494"/>
            <a:ext cx="952500" cy="247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Arial"/>
                <a:ea typeface="Arial"/>
                <a:cs typeface="Arial"/>
                <a:sym typeface="Arial"/>
              </a:rPr>
              <a:t>PRIMARY</a:t>
            </a:r>
            <a:endParaRPr b="0" i="0" sz="1400" u="none" cap="none" strike="noStrike">
              <a:solidFill>
                <a:srgbClr val="000000"/>
              </a:solidFill>
              <a:latin typeface="Arial"/>
              <a:ea typeface="Arial"/>
              <a:cs typeface="Arial"/>
              <a:sym typeface="Arial"/>
            </a:endParaRPr>
          </a:p>
        </p:txBody>
      </p:sp>
      <p:sp>
        <p:nvSpPr>
          <p:cNvPr id="995" name="Google Shape;995;g3fafe51123f_6_158"/>
          <p:cNvSpPr/>
          <p:nvPr/>
        </p:nvSpPr>
        <p:spPr>
          <a:xfrm>
            <a:off x="3362235" y="4886819"/>
            <a:ext cx="1190700" cy="36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50"/>
              <a:buFont typeface="Arial"/>
              <a:buNone/>
            </a:pPr>
            <a:r>
              <a:rPr b="1" i="0" lang="en-US" sz="1950" u="none" cap="none" strike="noStrike">
                <a:solidFill>
                  <a:srgbClr val="3F7A57"/>
                </a:solidFill>
                <a:latin typeface="Arial"/>
                <a:ea typeface="Arial"/>
                <a:cs typeface="Arial"/>
                <a:sym typeface="Arial"/>
              </a:rPr>
              <a:t>Top-3</a:t>
            </a:r>
            <a:endParaRPr b="0" i="0" sz="1400" u="none" cap="none" strike="noStrike">
              <a:solidFill>
                <a:srgbClr val="000000"/>
              </a:solidFill>
              <a:latin typeface="Arial"/>
              <a:ea typeface="Arial"/>
              <a:cs typeface="Arial"/>
              <a:sym typeface="Arial"/>
            </a:endParaRPr>
          </a:p>
        </p:txBody>
      </p:sp>
      <p:sp>
        <p:nvSpPr>
          <p:cNvPr id="996" name="Google Shape;996;g3fafe51123f_6_158"/>
          <p:cNvSpPr/>
          <p:nvPr/>
        </p:nvSpPr>
        <p:spPr>
          <a:xfrm>
            <a:off x="4714749" y="4953494"/>
            <a:ext cx="3048000" cy="257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0271D"/>
                </a:solidFill>
                <a:latin typeface="Arial"/>
                <a:ea typeface="Arial"/>
                <a:cs typeface="Arial"/>
                <a:sym typeface="Arial"/>
              </a:rPr>
              <a:t>기본 로컬 API 후보</a:t>
            </a:r>
            <a:endParaRPr b="0" i="0" sz="1400" u="none" cap="none" strike="noStrike">
              <a:solidFill>
                <a:srgbClr val="000000"/>
              </a:solidFill>
              <a:latin typeface="Arial"/>
              <a:ea typeface="Arial"/>
              <a:cs typeface="Arial"/>
              <a:sym typeface="Arial"/>
            </a:endParaRPr>
          </a:p>
        </p:txBody>
      </p:sp>
      <p:sp>
        <p:nvSpPr>
          <p:cNvPr id="997" name="Google Shape;997;g3fafe51123f_6_158"/>
          <p:cNvSpPr/>
          <p:nvPr/>
        </p:nvSpPr>
        <p:spPr>
          <a:xfrm>
            <a:off x="8248430" y="4791569"/>
            <a:ext cx="3352800" cy="790500"/>
          </a:xfrm>
          <a:prstGeom prst="roundRect">
            <a:avLst>
              <a:gd fmla="val 14458" name="adj"/>
            </a:avLst>
          </a:prstGeom>
          <a:solidFill>
            <a:srgbClr val="F7EDE2"/>
          </a:solidFill>
          <a:ln cap="flat" cmpd="sng" w="9525">
            <a:solidFill>
              <a:srgbClr val="F7EDE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g3fafe51123f_6_158"/>
          <p:cNvSpPr/>
          <p:nvPr/>
        </p:nvSpPr>
        <p:spPr>
          <a:xfrm>
            <a:off x="8457975" y="4953494"/>
            <a:ext cx="952500" cy="247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B36C2E"/>
                </a:solidFill>
                <a:latin typeface="Arial"/>
                <a:ea typeface="Arial"/>
                <a:cs typeface="Arial"/>
                <a:sym typeface="Arial"/>
              </a:rPr>
              <a:t>FALLBACK</a:t>
            </a:r>
            <a:endParaRPr b="0" i="0" sz="1400" u="none" cap="none" strike="noStrike">
              <a:solidFill>
                <a:srgbClr val="000000"/>
              </a:solidFill>
              <a:latin typeface="Arial"/>
              <a:ea typeface="Arial"/>
              <a:cs typeface="Arial"/>
              <a:sym typeface="Arial"/>
            </a:endParaRPr>
          </a:p>
        </p:txBody>
      </p:sp>
      <p:sp>
        <p:nvSpPr>
          <p:cNvPr id="999" name="Google Shape;999;g3fafe51123f_6_158"/>
          <p:cNvSpPr/>
          <p:nvPr/>
        </p:nvSpPr>
        <p:spPr>
          <a:xfrm>
            <a:off x="9391400" y="4886819"/>
            <a:ext cx="1476300" cy="36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725"/>
              <a:buFont typeface="Arial"/>
              <a:buNone/>
            </a:pPr>
            <a:r>
              <a:rPr b="1" i="0" lang="en-US" sz="1725" u="none" cap="none" strike="noStrike">
                <a:solidFill>
                  <a:srgbClr val="B36C2E"/>
                </a:solidFill>
                <a:latin typeface="Arial"/>
                <a:ea typeface="Arial"/>
                <a:cs typeface="Arial"/>
                <a:sym typeface="Arial"/>
              </a:rPr>
              <a:t>rank 4·5</a:t>
            </a:r>
            <a:endParaRPr b="0" i="0" sz="1400" u="none" cap="none" strike="noStrike">
              <a:solidFill>
                <a:srgbClr val="000000"/>
              </a:solidFill>
              <a:latin typeface="Arial"/>
              <a:ea typeface="Arial"/>
              <a:cs typeface="Arial"/>
              <a:sym typeface="Arial"/>
            </a:endParaRPr>
          </a:p>
        </p:txBody>
      </p:sp>
      <p:sp>
        <p:nvSpPr>
          <p:cNvPr id="1000" name="Google Shape;1000;g3fafe51123f_6_158"/>
          <p:cNvSpPr/>
          <p:nvPr/>
        </p:nvSpPr>
        <p:spPr>
          <a:xfrm>
            <a:off x="8457975" y="5258294"/>
            <a:ext cx="2838300" cy="2097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75"/>
              <a:buFont typeface="Arial"/>
              <a:buNone/>
            </a:pPr>
            <a:r>
              <a:rPr b="0" i="0" lang="en-US" sz="975" u="none" cap="none" strike="noStrike">
                <a:solidFill>
                  <a:srgbClr val="6A7C72"/>
                </a:solidFill>
                <a:latin typeface="Arial"/>
                <a:ea typeface="Arial"/>
                <a:cs typeface="Arial"/>
                <a:sym typeface="Arial"/>
              </a:rPr>
              <a:t>preflight 통과 시만</a:t>
            </a:r>
            <a:endParaRPr b="0" i="0" sz="1400" u="none" cap="none" strike="noStrike">
              <a:solidFill>
                <a:srgbClr val="000000"/>
              </a:solidFill>
              <a:latin typeface="Arial"/>
              <a:ea typeface="Arial"/>
              <a:cs typeface="Arial"/>
              <a:sym typeface="Arial"/>
            </a:endParaRPr>
          </a:p>
        </p:txBody>
      </p:sp>
      <p:sp>
        <p:nvSpPr>
          <p:cNvPr id="1001" name="Google Shape;1001;g3fafe51123f_6_158"/>
          <p:cNvSpPr/>
          <p:nvPr/>
        </p:nvSpPr>
        <p:spPr>
          <a:xfrm>
            <a:off x="2324038" y="5744069"/>
            <a:ext cx="9048600" cy="257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A74E49"/>
                </a:solidFill>
                <a:latin typeface="Arial"/>
                <a:ea typeface="Arial"/>
                <a:cs typeface="Arial"/>
                <a:sym typeface="Arial"/>
              </a:rPr>
              <a:t>※ Top-10에 포함됐다는 이유만으로 READY 또는 VALUE_MISMATCH를 허용하지 않습니다.</a:t>
            </a:r>
            <a:endParaRPr b="0" i="0" sz="1400" u="none" cap="none" strike="noStrike">
              <a:solidFill>
                <a:srgbClr val="000000"/>
              </a:solidFill>
              <a:latin typeface="Arial"/>
              <a:ea typeface="Arial"/>
              <a:cs typeface="Arial"/>
              <a:sym typeface="Arial"/>
            </a:endParaRPr>
          </a:p>
        </p:txBody>
      </p:sp>
      <p:sp>
        <p:nvSpPr>
          <p:cNvPr id="1002" name="Google Shape;1002;g3fafe51123f_6_158"/>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g3fafe51123f_6_158"/>
          <p:cNvSpPr/>
          <p:nvPr/>
        </p:nvSpPr>
        <p:spPr>
          <a:xfrm>
            <a:off x="2165788" y="246185"/>
            <a:ext cx="19527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Stage A, B, C</a:t>
            </a:r>
            <a:endParaRPr b="0" i="0" sz="1400" u="none" cap="none" strike="noStrike">
              <a:solidFill>
                <a:srgbClr val="000000"/>
              </a:solidFill>
              <a:latin typeface="Arial"/>
              <a:ea typeface="Arial"/>
              <a:cs typeface="Arial"/>
              <a:sym typeface="Arial"/>
            </a:endParaRPr>
          </a:p>
        </p:txBody>
      </p:sp>
      <p:sp>
        <p:nvSpPr>
          <p:cNvPr id="1004" name="Google Shape;1004;g3fafe51123f_6_158"/>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g3fafe51123f_6_158"/>
          <p:cNvSpPr/>
          <p:nvPr/>
        </p:nvSpPr>
        <p:spPr>
          <a:xfrm>
            <a:off x="2013401" y="169973"/>
            <a:ext cx="21636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검색 및 좌표확정</a:t>
            </a:r>
            <a:endParaRPr b="0" i="0" sz="1400" u="none" cap="none" strike="noStrike">
              <a:solidFill>
                <a:srgbClr val="000000"/>
              </a:solidFill>
              <a:latin typeface="Arial"/>
              <a:ea typeface="Arial"/>
              <a:cs typeface="Arial"/>
              <a:sym typeface="Arial"/>
            </a:endParaRPr>
          </a:p>
        </p:txBody>
      </p:sp>
      <p:sp>
        <p:nvSpPr>
          <p:cNvPr id="1006" name="Google Shape;1006;g3fafe51123f_6_158"/>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07" name="Google Shape;1007;g3fafe51123f_6_158"/>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08" name="Google Shape;1008;g3fafe51123f_6_158"/>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09" name="Google Shape;1009;g3fafe51123f_6_158"/>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1010" name="Google Shape;1010;g3fafe51123f_6_158"/>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11" name="Google Shape;1011;g3fafe51123f_6_158"/>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1012" name="Google Shape;1012;g3fafe51123f_6_158"/>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13" name="Google Shape;1013;g3fafe51123f_6_158"/>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1014" name="Google Shape;1014;g3fafe51123f_6_158"/>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15" name="Google Shape;1015;g3fafe51123f_6_158"/>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1016" name="Google Shape;1016;g3fafe51123f_6_158"/>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1017" name="Google Shape;1017;g3fafe51123f_6_158"/>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1018" name="Google Shape;1018;g3fafe51123f_6_158"/>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1019" name="Google Shape;1019;g3fafe51123f_6_158"/>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1020" name="Google Shape;1020;g3fafe51123f_6_158"/>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21" name="Google Shape;1021;g3fafe51123f_6_158"/>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1022" name="Google Shape;1022;g3fafe51123f_6_158"/>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027" name="Shape 1027"/>
        <p:cNvGrpSpPr/>
        <p:nvPr/>
      </p:nvGrpSpPr>
      <p:grpSpPr>
        <a:xfrm>
          <a:off x="0" y="0"/>
          <a:ext cx="0" cy="0"/>
          <a:chOff x="0" y="0"/>
          <a:chExt cx="0" cy="0"/>
        </a:xfrm>
      </p:grpSpPr>
      <p:sp>
        <p:nvSpPr>
          <p:cNvPr id="1028" name="Google Shape;1028;g3fae3b6faca_1_225"/>
          <p:cNvSpPr/>
          <p:nvPr/>
        </p:nvSpPr>
        <p:spPr>
          <a:xfrm>
            <a:off x="-18950" y="114288"/>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g3fae3b6faca_1_225"/>
          <p:cNvSpPr/>
          <p:nvPr/>
        </p:nvSpPr>
        <p:spPr>
          <a:xfrm>
            <a:off x="0" y="0"/>
            <a:ext cx="12191675"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g3fae3b6faca_1_225"/>
          <p:cNvSpPr/>
          <p:nvPr/>
        </p:nvSpPr>
        <p:spPr>
          <a:xfrm>
            <a:off x="2095444" y="295275"/>
            <a:ext cx="1952573" cy="295275"/>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g3fae3b6faca_1_225"/>
          <p:cNvSpPr/>
          <p:nvPr/>
        </p:nvSpPr>
        <p:spPr>
          <a:xfrm>
            <a:off x="2209741" y="304800"/>
            <a:ext cx="1723979"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08 · 안전 장치</a:t>
            </a:r>
            <a:endParaRPr b="0" i="0" sz="1400" u="none" cap="none" strike="noStrike">
              <a:solidFill>
                <a:srgbClr val="000000"/>
              </a:solidFill>
              <a:latin typeface="Arial"/>
              <a:ea typeface="Arial"/>
              <a:cs typeface="Arial"/>
              <a:sym typeface="Arial"/>
            </a:endParaRPr>
          </a:p>
        </p:txBody>
      </p:sp>
      <p:sp>
        <p:nvSpPr>
          <p:cNvPr id="1032" name="Google Shape;1032;g3fae3b6faca_1_225"/>
          <p:cNvSpPr/>
          <p:nvPr/>
        </p:nvSpPr>
        <p:spPr>
          <a:xfrm>
            <a:off x="2095444" y="714375"/>
            <a:ext cx="95247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10271D"/>
                </a:solidFill>
                <a:latin typeface="Calibri"/>
                <a:ea typeface="Calibri"/>
                <a:cs typeface="Calibri"/>
                <a:sym typeface="Calibri"/>
              </a:rPr>
              <a:t>공식 API 호출 전 *preflight를 통과한 좌표만 비교</a:t>
            </a:r>
            <a:endParaRPr b="0" i="0" sz="1400" u="none" cap="none" strike="noStrike">
              <a:solidFill>
                <a:srgbClr val="000000"/>
              </a:solidFill>
              <a:latin typeface="Arial"/>
              <a:ea typeface="Arial"/>
              <a:cs typeface="Arial"/>
              <a:sym typeface="Arial"/>
            </a:endParaRPr>
          </a:p>
        </p:txBody>
      </p:sp>
      <p:sp>
        <p:nvSpPr>
          <p:cNvPr id="1033" name="Google Shape;1033;g3fae3b6faca_1_225"/>
          <p:cNvSpPr/>
          <p:nvPr/>
        </p:nvSpPr>
        <p:spPr>
          <a:xfrm>
            <a:off x="2114494" y="1228725"/>
            <a:ext cx="9429499" cy="323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97B71"/>
                </a:solidFill>
                <a:latin typeface="Calibri"/>
                <a:ea typeface="Calibri"/>
                <a:cs typeface="Calibri"/>
                <a:sym typeface="Calibri"/>
              </a:rPr>
              <a:t>최종 증거는 생성형 응답이 아닌  KOSIS Open API</a:t>
            </a:r>
            <a:endParaRPr b="0" i="0" sz="1400" u="none" cap="none" strike="noStrike">
              <a:solidFill>
                <a:srgbClr val="000000"/>
              </a:solidFill>
              <a:latin typeface="Arial"/>
              <a:ea typeface="Arial"/>
              <a:cs typeface="Arial"/>
              <a:sym typeface="Arial"/>
            </a:endParaRPr>
          </a:p>
        </p:txBody>
      </p:sp>
      <p:sp>
        <p:nvSpPr>
          <p:cNvPr id="1034" name="Google Shape;1034;g3fae3b6faca_1_225"/>
          <p:cNvSpPr/>
          <p:nvPr/>
        </p:nvSpPr>
        <p:spPr>
          <a:xfrm>
            <a:off x="2095444" y="6543675"/>
            <a:ext cx="2666929" cy="142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97B71"/>
                </a:solidFill>
                <a:latin typeface="Calibri"/>
                <a:ea typeface="Calibri"/>
                <a:cs typeface="Calibri"/>
                <a:sym typeface="Calibri"/>
              </a:rPr>
              <a:t>KOSIS 뉴스 수치 주장 검증 PoC</a:t>
            </a:r>
            <a:endParaRPr b="0" i="0" sz="1400" u="none" cap="none" strike="noStrike">
              <a:solidFill>
                <a:srgbClr val="000000"/>
              </a:solidFill>
              <a:latin typeface="Arial"/>
              <a:ea typeface="Arial"/>
              <a:cs typeface="Arial"/>
              <a:sym typeface="Arial"/>
            </a:endParaRPr>
          </a:p>
        </p:txBody>
      </p:sp>
      <p:sp>
        <p:nvSpPr>
          <p:cNvPr id="1035" name="Google Shape;1035;g3fae3b6faca_1_225"/>
          <p:cNvSpPr/>
          <p:nvPr/>
        </p:nvSpPr>
        <p:spPr>
          <a:xfrm>
            <a:off x="2114494" y="1866900"/>
            <a:ext cx="1723979" cy="1152525"/>
          </a:xfrm>
          <a:prstGeom prst="roundRect">
            <a:avLst>
              <a:gd fmla="val 9917"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g3fae3b6faca_1_225"/>
          <p:cNvSpPr/>
          <p:nvPr/>
        </p:nvSpPr>
        <p:spPr>
          <a:xfrm>
            <a:off x="2257365" y="2009775"/>
            <a:ext cx="304792" cy="304800"/>
          </a:xfrm>
          <a:prstGeom prst="roundRect">
            <a:avLst>
              <a:gd fmla="val 375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g3fae3b6faca_1_225"/>
          <p:cNvSpPr/>
          <p:nvPr/>
        </p:nvSpPr>
        <p:spPr>
          <a:xfrm>
            <a:off x="2257365" y="2009775"/>
            <a:ext cx="304792"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FFFF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038" name="Google Shape;1038;g3fae3b6faca_1_225"/>
          <p:cNvSpPr/>
          <p:nvPr/>
        </p:nvSpPr>
        <p:spPr>
          <a:xfrm>
            <a:off x="2638355" y="2009775"/>
            <a:ext cx="1047722" cy="2762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3F7A57"/>
                </a:solidFill>
                <a:latin typeface="Calibri"/>
                <a:ea typeface="Calibri"/>
                <a:cs typeface="Calibri"/>
                <a:sym typeface="Calibri"/>
              </a:rPr>
              <a:t>표</a:t>
            </a:r>
            <a:endParaRPr b="0" i="0" sz="1400" u="none" cap="none" strike="noStrike">
              <a:solidFill>
                <a:srgbClr val="000000"/>
              </a:solidFill>
              <a:latin typeface="Arial"/>
              <a:ea typeface="Arial"/>
              <a:cs typeface="Arial"/>
              <a:sym typeface="Arial"/>
            </a:endParaRPr>
          </a:p>
        </p:txBody>
      </p:sp>
      <p:sp>
        <p:nvSpPr>
          <p:cNvPr id="1039" name="Google Shape;1039;g3fae3b6faca_1_225"/>
          <p:cNvSpPr/>
          <p:nvPr/>
        </p:nvSpPr>
        <p:spPr>
          <a:xfrm>
            <a:off x="2266890" y="2447925"/>
            <a:ext cx="1419187" cy="400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4251D"/>
                </a:solidFill>
                <a:latin typeface="Calibri"/>
                <a:ea typeface="Calibri"/>
                <a:cs typeface="Calibri"/>
                <a:sym typeface="Calibri"/>
              </a:rPr>
              <a:t>tbl_id 존재</a:t>
            </a:r>
            <a:endParaRPr b="0" i="0" sz="1400" u="none" cap="none" strike="noStrike">
              <a:solidFill>
                <a:srgbClr val="000000"/>
              </a:solidFill>
              <a:latin typeface="Arial"/>
              <a:ea typeface="Arial"/>
              <a:cs typeface="Arial"/>
              <a:sym typeface="Arial"/>
            </a:endParaRPr>
          </a:p>
        </p:txBody>
      </p:sp>
      <p:sp>
        <p:nvSpPr>
          <p:cNvPr id="1040" name="Google Shape;1040;g3fae3b6faca_1_225"/>
          <p:cNvSpPr/>
          <p:nvPr/>
        </p:nvSpPr>
        <p:spPr>
          <a:xfrm>
            <a:off x="4009918" y="1866900"/>
            <a:ext cx="1723979" cy="1152525"/>
          </a:xfrm>
          <a:prstGeom prst="roundRect">
            <a:avLst>
              <a:gd fmla="val 9917"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g3fae3b6faca_1_225"/>
          <p:cNvSpPr/>
          <p:nvPr/>
        </p:nvSpPr>
        <p:spPr>
          <a:xfrm>
            <a:off x="4152789" y="2009775"/>
            <a:ext cx="304792" cy="304800"/>
          </a:xfrm>
          <a:prstGeom prst="roundRect">
            <a:avLst>
              <a:gd fmla="val 375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g3fae3b6faca_1_225"/>
          <p:cNvSpPr/>
          <p:nvPr/>
        </p:nvSpPr>
        <p:spPr>
          <a:xfrm>
            <a:off x="4152789" y="2009775"/>
            <a:ext cx="304792"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FFFF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043" name="Google Shape;1043;g3fae3b6faca_1_225"/>
          <p:cNvSpPr/>
          <p:nvPr/>
        </p:nvSpPr>
        <p:spPr>
          <a:xfrm>
            <a:off x="4533779" y="2009775"/>
            <a:ext cx="1047722" cy="2762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3F7A57"/>
                </a:solidFill>
                <a:latin typeface="Calibri"/>
                <a:ea typeface="Calibri"/>
                <a:cs typeface="Calibri"/>
                <a:sym typeface="Calibri"/>
              </a:rPr>
              <a:t>항목</a:t>
            </a:r>
            <a:endParaRPr b="0" i="0" sz="1400" u="none" cap="none" strike="noStrike">
              <a:solidFill>
                <a:srgbClr val="000000"/>
              </a:solidFill>
              <a:latin typeface="Arial"/>
              <a:ea typeface="Arial"/>
              <a:cs typeface="Arial"/>
              <a:sym typeface="Arial"/>
            </a:endParaRPr>
          </a:p>
        </p:txBody>
      </p:sp>
      <p:sp>
        <p:nvSpPr>
          <p:cNvPr id="1044" name="Google Shape;1044;g3fae3b6faca_1_225"/>
          <p:cNvSpPr/>
          <p:nvPr/>
        </p:nvSpPr>
        <p:spPr>
          <a:xfrm>
            <a:off x="4162314" y="2447925"/>
            <a:ext cx="1419187" cy="400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4251D"/>
                </a:solidFill>
                <a:latin typeface="Calibri"/>
                <a:ea typeface="Calibri"/>
                <a:cs typeface="Calibri"/>
                <a:sym typeface="Calibri"/>
              </a:rPr>
              <a:t>ITEM이 표 소속</a:t>
            </a:r>
            <a:endParaRPr b="0" i="0" sz="1400" u="none" cap="none" strike="noStrike">
              <a:solidFill>
                <a:srgbClr val="000000"/>
              </a:solidFill>
              <a:latin typeface="Arial"/>
              <a:ea typeface="Arial"/>
              <a:cs typeface="Arial"/>
              <a:sym typeface="Arial"/>
            </a:endParaRPr>
          </a:p>
        </p:txBody>
      </p:sp>
      <p:sp>
        <p:nvSpPr>
          <p:cNvPr id="1045" name="Google Shape;1045;g3fae3b6faca_1_225"/>
          <p:cNvSpPr/>
          <p:nvPr/>
        </p:nvSpPr>
        <p:spPr>
          <a:xfrm>
            <a:off x="5905343" y="1866900"/>
            <a:ext cx="1723979" cy="1152525"/>
          </a:xfrm>
          <a:prstGeom prst="roundRect">
            <a:avLst>
              <a:gd fmla="val 9917"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g3fae3b6faca_1_225"/>
          <p:cNvSpPr/>
          <p:nvPr/>
        </p:nvSpPr>
        <p:spPr>
          <a:xfrm>
            <a:off x="6048214" y="2009775"/>
            <a:ext cx="304792" cy="304800"/>
          </a:xfrm>
          <a:prstGeom prst="roundRect">
            <a:avLst>
              <a:gd fmla="val 375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g3fae3b6faca_1_225"/>
          <p:cNvSpPr/>
          <p:nvPr/>
        </p:nvSpPr>
        <p:spPr>
          <a:xfrm>
            <a:off x="6048214" y="2009775"/>
            <a:ext cx="304792"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FFFF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048" name="Google Shape;1048;g3fae3b6faca_1_225"/>
          <p:cNvSpPr/>
          <p:nvPr/>
        </p:nvSpPr>
        <p:spPr>
          <a:xfrm>
            <a:off x="6429204" y="2009775"/>
            <a:ext cx="1047722" cy="2762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3F7A57"/>
                </a:solidFill>
                <a:latin typeface="Calibri"/>
                <a:ea typeface="Calibri"/>
                <a:cs typeface="Calibri"/>
                <a:sym typeface="Calibri"/>
              </a:rPr>
              <a:t>분류</a:t>
            </a:r>
            <a:endParaRPr b="0" i="0" sz="1400" u="none" cap="none" strike="noStrike">
              <a:solidFill>
                <a:srgbClr val="000000"/>
              </a:solidFill>
              <a:latin typeface="Arial"/>
              <a:ea typeface="Arial"/>
              <a:cs typeface="Arial"/>
              <a:sym typeface="Arial"/>
            </a:endParaRPr>
          </a:p>
        </p:txBody>
      </p:sp>
      <p:sp>
        <p:nvSpPr>
          <p:cNvPr id="1049" name="Google Shape;1049;g3fae3b6faca_1_225"/>
          <p:cNvSpPr/>
          <p:nvPr/>
        </p:nvSpPr>
        <p:spPr>
          <a:xfrm>
            <a:off x="6057739" y="2447925"/>
            <a:ext cx="1419187" cy="400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4251D"/>
                </a:solidFill>
                <a:latin typeface="Calibri"/>
                <a:ea typeface="Calibri"/>
                <a:cs typeface="Calibri"/>
                <a:sym typeface="Calibri"/>
              </a:rPr>
              <a:t>모든 OBJ 코드 존재</a:t>
            </a:r>
            <a:endParaRPr b="0" i="0" sz="1400" u="none" cap="none" strike="noStrike">
              <a:solidFill>
                <a:srgbClr val="000000"/>
              </a:solidFill>
              <a:latin typeface="Arial"/>
              <a:ea typeface="Arial"/>
              <a:cs typeface="Arial"/>
              <a:sym typeface="Arial"/>
            </a:endParaRPr>
          </a:p>
        </p:txBody>
      </p:sp>
      <p:sp>
        <p:nvSpPr>
          <p:cNvPr id="1050" name="Google Shape;1050;g3fae3b6faca_1_225"/>
          <p:cNvSpPr/>
          <p:nvPr/>
        </p:nvSpPr>
        <p:spPr>
          <a:xfrm>
            <a:off x="7800767" y="1866900"/>
            <a:ext cx="1723979" cy="1152525"/>
          </a:xfrm>
          <a:prstGeom prst="roundRect">
            <a:avLst>
              <a:gd fmla="val 9917"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g3fae3b6faca_1_225"/>
          <p:cNvSpPr/>
          <p:nvPr/>
        </p:nvSpPr>
        <p:spPr>
          <a:xfrm>
            <a:off x="7943638" y="2009775"/>
            <a:ext cx="304792" cy="304800"/>
          </a:xfrm>
          <a:prstGeom prst="roundRect">
            <a:avLst>
              <a:gd fmla="val 375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g3fae3b6faca_1_225"/>
          <p:cNvSpPr/>
          <p:nvPr/>
        </p:nvSpPr>
        <p:spPr>
          <a:xfrm>
            <a:off x="7943638" y="2009775"/>
            <a:ext cx="304792"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FFFF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053" name="Google Shape;1053;g3fae3b6faca_1_225"/>
          <p:cNvSpPr/>
          <p:nvPr/>
        </p:nvSpPr>
        <p:spPr>
          <a:xfrm>
            <a:off x="8324628" y="2009775"/>
            <a:ext cx="1047722" cy="2762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3F7A57"/>
                </a:solidFill>
                <a:latin typeface="Calibri"/>
                <a:ea typeface="Calibri"/>
                <a:cs typeface="Calibri"/>
                <a:sym typeface="Calibri"/>
              </a:rPr>
              <a:t>기간</a:t>
            </a:r>
            <a:endParaRPr b="0" i="0" sz="1400" u="none" cap="none" strike="noStrike">
              <a:solidFill>
                <a:srgbClr val="000000"/>
              </a:solidFill>
              <a:latin typeface="Arial"/>
              <a:ea typeface="Arial"/>
              <a:cs typeface="Arial"/>
              <a:sym typeface="Arial"/>
            </a:endParaRPr>
          </a:p>
        </p:txBody>
      </p:sp>
      <p:sp>
        <p:nvSpPr>
          <p:cNvPr id="1054" name="Google Shape;1054;g3fae3b6faca_1_225"/>
          <p:cNvSpPr/>
          <p:nvPr/>
        </p:nvSpPr>
        <p:spPr>
          <a:xfrm>
            <a:off x="7953163" y="2447925"/>
            <a:ext cx="1419187" cy="400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4251D"/>
                </a:solidFill>
                <a:latin typeface="Calibri"/>
                <a:ea typeface="Calibri"/>
                <a:cs typeface="Calibri"/>
                <a:sym typeface="Calibri"/>
              </a:rPr>
              <a:t>조회 주기 지원</a:t>
            </a:r>
            <a:endParaRPr b="0" i="0" sz="1400" u="none" cap="none" strike="noStrike">
              <a:solidFill>
                <a:srgbClr val="000000"/>
              </a:solidFill>
              <a:latin typeface="Arial"/>
              <a:ea typeface="Arial"/>
              <a:cs typeface="Arial"/>
              <a:sym typeface="Arial"/>
            </a:endParaRPr>
          </a:p>
        </p:txBody>
      </p:sp>
      <p:sp>
        <p:nvSpPr>
          <p:cNvPr id="1055" name="Google Shape;1055;g3fae3b6faca_1_225"/>
          <p:cNvSpPr/>
          <p:nvPr/>
        </p:nvSpPr>
        <p:spPr>
          <a:xfrm>
            <a:off x="9696192" y="1866900"/>
            <a:ext cx="1723979" cy="1152525"/>
          </a:xfrm>
          <a:prstGeom prst="roundRect">
            <a:avLst>
              <a:gd fmla="val 9917" name="adj"/>
            </a:avLst>
          </a:prstGeom>
          <a:solidFill>
            <a:srgbClr val="FFFFFF"/>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3fae3b6faca_1_225"/>
          <p:cNvSpPr/>
          <p:nvPr/>
        </p:nvSpPr>
        <p:spPr>
          <a:xfrm>
            <a:off x="9839063" y="2009775"/>
            <a:ext cx="304792" cy="304800"/>
          </a:xfrm>
          <a:prstGeom prst="roundRect">
            <a:avLst>
              <a:gd fmla="val 375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g3fae3b6faca_1_225"/>
          <p:cNvSpPr/>
          <p:nvPr/>
        </p:nvSpPr>
        <p:spPr>
          <a:xfrm>
            <a:off x="9839063" y="2009775"/>
            <a:ext cx="304792" cy="30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FFFFFF"/>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1058" name="Google Shape;1058;g3fae3b6faca_1_225"/>
          <p:cNvSpPr/>
          <p:nvPr/>
        </p:nvSpPr>
        <p:spPr>
          <a:xfrm>
            <a:off x="10220053" y="2009775"/>
            <a:ext cx="1047722" cy="2762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3F7A57"/>
                </a:solidFill>
                <a:latin typeface="Calibri"/>
                <a:ea typeface="Calibri"/>
                <a:cs typeface="Calibri"/>
                <a:sym typeface="Calibri"/>
              </a:rPr>
              <a:t>단위</a:t>
            </a:r>
            <a:endParaRPr b="0" i="0" sz="1400" u="none" cap="none" strike="noStrike">
              <a:solidFill>
                <a:srgbClr val="000000"/>
              </a:solidFill>
              <a:latin typeface="Arial"/>
              <a:ea typeface="Arial"/>
              <a:cs typeface="Arial"/>
              <a:sym typeface="Arial"/>
            </a:endParaRPr>
          </a:p>
        </p:txBody>
      </p:sp>
      <p:sp>
        <p:nvSpPr>
          <p:cNvPr id="1059" name="Google Shape;1059;g3fae3b6faca_1_225"/>
          <p:cNvSpPr/>
          <p:nvPr/>
        </p:nvSpPr>
        <p:spPr>
          <a:xfrm>
            <a:off x="9848587" y="2447925"/>
            <a:ext cx="1419187" cy="4000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4251D"/>
                </a:solidFill>
                <a:latin typeface="Calibri"/>
                <a:ea typeface="Calibri"/>
                <a:cs typeface="Calibri"/>
                <a:sym typeface="Calibri"/>
              </a:rPr>
              <a:t>주장값과 비교 가능</a:t>
            </a:r>
            <a:endParaRPr b="0" i="0" sz="1400" u="none" cap="none" strike="noStrike">
              <a:solidFill>
                <a:srgbClr val="000000"/>
              </a:solidFill>
              <a:latin typeface="Arial"/>
              <a:ea typeface="Arial"/>
              <a:cs typeface="Arial"/>
              <a:sym typeface="Arial"/>
            </a:endParaRPr>
          </a:p>
        </p:txBody>
      </p:sp>
      <p:sp>
        <p:nvSpPr>
          <p:cNvPr id="1060" name="Google Shape;1060;g3fae3b6faca_1_225"/>
          <p:cNvSpPr/>
          <p:nvPr/>
        </p:nvSpPr>
        <p:spPr>
          <a:xfrm>
            <a:off x="2114494" y="3381375"/>
            <a:ext cx="9486647" cy="619125"/>
          </a:xfrm>
          <a:prstGeom prst="roundRect">
            <a:avLst>
              <a:gd fmla="val 18462"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g3fae3b6faca_1_225"/>
          <p:cNvSpPr/>
          <p:nvPr/>
        </p:nvSpPr>
        <p:spPr>
          <a:xfrm>
            <a:off x="2333563" y="3514725"/>
            <a:ext cx="1428712" cy="352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모두 PASS</a:t>
            </a:r>
            <a:endParaRPr b="0" i="0" sz="1400" u="none" cap="none" strike="noStrike">
              <a:solidFill>
                <a:srgbClr val="000000"/>
              </a:solidFill>
              <a:latin typeface="Arial"/>
              <a:ea typeface="Arial"/>
              <a:cs typeface="Arial"/>
              <a:sym typeface="Arial"/>
            </a:endParaRPr>
          </a:p>
        </p:txBody>
      </p:sp>
      <p:sp>
        <p:nvSpPr>
          <p:cNvPr id="1062" name="Google Shape;1062;g3fae3b6faca_1_225"/>
          <p:cNvSpPr/>
          <p:nvPr/>
        </p:nvSpPr>
        <p:spPr>
          <a:xfrm>
            <a:off x="3867047" y="3514725"/>
            <a:ext cx="7429302" cy="352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10271D"/>
                </a:solidFill>
                <a:latin typeface="Calibri"/>
                <a:ea typeface="Calibri"/>
                <a:cs typeface="Calibri"/>
                <a:sym typeface="Calibri"/>
              </a:rPr>
              <a:t>검증된 좌표를 KOSIS Open API 요청으로 변환 → 공식값·출처 확보</a:t>
            </a:r>
            <a:endParaRPr b="0" i="0" sz="1400" u="none" cap="none" strike="noStrike">
              <a:solidFill>
                <a:srgbClr val="000000"/>
              </a:solidFill>
              <a:latin typeface="Arial"/>
              <a:ea typeface="Arial"/>
              <a:cs typeface="Arial"/>
              <a:sym typeface="Arial"/>
            </a:endParaRPr>
          </a:p>
        </p:txBody>
      </p:sp>
      <p:sp>
        <p:nvSpPr>
          <p:cNvPr id="1063" name="Google Shape;1063;g3fae3b6faca_1_225"/>
          <p:cNvSpPr/>
          <p:nvPr/>
        </p:nvSpPr>
        <p:spPr>
          <a:xfrm>
            <a:off x="2114494" y="4295775"/>
            <a:ext cx="9486647" cy="1000125"/>
          </a:xfrm>
          <a:prstGeom prst="roundRect">
            <a:avLst>
              <a:gd fmla="val 11429" name="adj"/>
            </a:avLst>
          </a:prstGeom>
          <a:solidFill>
            <a:srgbClr val="10271D"/>
          </a:solidFill>
          <a:ln cap="flat" cmpd="sng" w="9525">
            <a:solidFill>
              <a:srgbClr val="1027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g3fae3b6faca_1_225"/>
          <p:cNvSpPr/>
          <p:nvPr/>
        </p:nvSpPr>
        <p:spPr>
          <a:xfrm>
            <a:off x="2333563" y="4438650"/>
            <a:ext cx="1143000" cy="238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BD0C1"/>
                </a:solidFill>
                <a:latin typeface="Calibri"/>
                <a:ea typeface="Calibri"/>
                <a:cs typeface="Calibri"/>
                <a:sym typeface="Calibri"/>
              </a:rPr>
              <a:t>판정 정책</a:t>
            </a:r>
            <a:endParaRPr b="0" i="0" sz="1400" u="none" cap="none" strike="noStrike">
              <a:solidFill>
                <a:srgbClr val="000000"/>
              </a:solidFill>
              <a:latin typeface="Arial"/>
              <a:ea typeface="Arial"/>
              <a:cs typeface="Arial"/>
              <a:sym typeface="Arial"/>
            </a:endParaRPr>
          </a:p>
        </p:txBody>
      </p:sp>
      <p:sp>
        <p:nvSpPr>
          <p:cNvPr id="1065" name="Google Shape;1065;g3fae3b6faca_1_225"/>
          <p:cNvSpPr/>
          <p:nvPr/>
        </p:nvSpPr>
        <p:spPr>
          <a:xfrm>
            <a:off x="2333563" y="4705350"/>
            <a:ext cx="88581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Calibri"/>
                <a:ea typeface="Calibri"/>
                <a:cs typeface="Calibri"/>
                <a:sym typeface="Calibri"/>
              </a:rPr>
              <a:t>일치하면 MATCH · 차이가 나면 REVIEW_REQUIRED · 근거가 부족하면 UNRESOLVED</a:t>
            </a:r>
            <a:endParaRPr b="0" i="0" sz="1400" u="none" cap="none" strike="noStrike">
              <a:solidFill>
                <a:srgbClr val="000000"/>
              </a:solidFill>
              <a:latin typeface="Arial"/>
              <a:ea typeface="Arial"/>
              <a:cs typeface="Arial"/>
              <a:sym typeface="Arial"/>
            </a:endParaRPr>
          </a:p>
        </p:txBody>
      </p:sp>
      <p:sp>
        <p:nvSpPr>
          <p:cNvPr id="1066" name="Google Shape;1066;g3fae3b6faca_1_225"/>
          <p:cNvSpPr/>
          <p:nvPr/>
        </p:nvSpPr>
        <p:spPr>
          <a:xfrm>
            <a:off x="2333563" y="5057775"/>
            <a:ext cx="8858014" cy="1714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C7D7CD"/>
                </a:solidFill>
                <a:latin typeface="Calibri"/>
                <a:ea typeface="Calibri"/>
                <a:cs typeface="Calibri"/>
                <a:sym typeface="Calibri"/>
              </a:rPr>
              <a:t>“근거 없음”과 “틀림”을 구분합니다.</a:t>
            </a:r>
            <a:endParaRPr b="0" i="0" sz="1400" u="none" cap="none" strike="noStrike">
              <a:solidFill>
                <a:srgbClr val="000000"/>
              </a:solidFill>
              <a:latin typeface="Arial"/>
              <a:ea typeface="Arial"/>
              <a:cs typeface="Arial"/>
              <a:sym typeface="Arial"/>
            </a:endParaRPr>
          </a:p>
        </p:txBody>
      </p:sp>
      <p:sp>
        <p:nvSpPr>
          <p:cNvPr id="1067" name="Google Shape;1067;g3fae3b6faca_1_225"/>
          <p:cNvSpPr txBox="1"/>
          <p:nvPr/>
        </p:nvSpPr>
        <p:spPr>
          <a:xfrm>
            <a:off x="2209750" y="5365229"/>
            <a:ext cx="50865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527487"/>
                </a:solidFill>
                <a:latin typeface="Noto Sans KR"/>
                <a:ea typeface="Noto Sans KR"/>
                <a:cs typeface="Noto Sans KR"/>
                <a:sym typeface="Noto Sans KR"/>
              </a:rPr>
              <a:t>* 공식 API 호출 전에 좌표가 PostgreSQL 메타데이터에 존재하는지 확인하는 검사.</a:t>
            </a:r>
            <a:endParaRPr b="0" i="0" sz="1200" u="none" cap="none" strike="noStrike">
              <a:solidFill>
                <a:srgbClr val="527487"/>
              </a:solidFill>
              <a:latin typeface="Arial"/>
              <a:ea typeface="Arial"/>
              <a:cs typeface="Arial"/>
              <a:sym typeface="Arial"/>
            </a:endParaRPr>
          </a:p>
        </p:txBody>
      </p:sp>
      <p:sp>
        <p:nvSpPr>
          <p:cNvPr id="1068" name="Google Shape;1068;g3fae3b6faca_1_225"/>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g3fae3b6faca_1_225"/>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판정</a:t>
            </a:r>
            <a:r>
              <a:rPr b="1" i="0" lang="en-US" sz="975" u="none" cap="none" strike="noStrike">
                <a:solidFill>
                  <a:srgbClr val="3F7A57"/>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70" name="Google Shape;1070;g3fae3b6faca_1_225"/>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g3fae3b6faca_1_225"/>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g3fae3b6faca_1_225"/>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g3fae3b6faca_1_225"/>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g3fae3b6faca_1_225"/>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g3fae3b6faca_1_225"/>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076" name="Google Shape;1076;g3fae3b6faca_1_225"/>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077" name="Google Shape;1077;g3fae3b6faca_1_225"/>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1078" name="Google Shape;1078;g3fae3b6faca_1_225"/>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1079" name="Google Shape;1079;g3fae3b6faca_1_225"/>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080" name="Google Shape;1080;g3fae3b6faca_1_225"/>
          <p:cNvGrpSpPr/>
          <p:nvPr/>
        </p:nvGrpSpPr>
        <p:grpSpPr>
          <a:xfrm>
            <a:off x="283429" y="3067107"/>
            <a:ext cx="209400" cy="209700"/>
            <a:chOff x="-3275292" y="2173036"/>
            <a:chExt cx="209400" cy="209700"/>
          </a:xfrm>
        </p:grpSpPr>
        <p:sp>
          <p:nvSpPr>
            <p:cNvPr id="1081" name="Google Shape;1081;g3fae3b6faca_1_225"/>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g3fae3b6faca_1_225"/>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83" name="Google Shape;1083;g3fae3b6faca_1_225"/>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g3fae3b6faca_1_225"/>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g3fae3b6faca_1_225"/>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g3fae3b6faca_1_225"/>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g3fae3b6faca_1_225"/>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g3fae3b6faca_1_225"/>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g3fae3b6faca_1_225"/>
          <p:cNvSpPr/>
          <p:nvPr/>
        </p:nvSpPr>
        <p:spPr>
          <a:xfrm rot="-5400000">
            <a:off x="7444258" y="-2639930"/>
            <a:ext cx="28800" cy="6156300"/>
          </a:xfrm>
          <a:prstGeom prst="rect">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90" name="Google Shape;1090;g3fae3b6faca_1_225"/>
          <p:cNvSpPr/>
          <p:nvPr/>
        </p:nvSpPr>
        <p:spPr>
          <a:xfrm rot="-5400000">
            <a:off x="11189336" y="-177380"/>
            <a:ext cx="28800" cy="1231200"/>
          </a:xfrm>
          <a:prstGeom prst="rect">
            <a:avLst/>
          </a:prstGeom>
          <a:solidFill>
            <a:srgbClr val="D6E0D7"/>
          </a:solidFill>
          <a:ln cap="flat" cmpd="sng" w="14500">
            <a:solidFill>
              <a:srgbClr val="D6E0D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91" name="Google Shape;1091;g3fae3b6faca_1_225"/>
          <p:cNvSpPr/>
          <p:nvPr/>
        </p:nvSpPr>
        <p:spPr>
          <a:xfrm rot="-5400000">
            <a:off x="4386987"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92" name="Google Shape;1092;g3fae3b6faca_1_225"/>
          <p:cNvSpPr/>
          <p:nvPr/>
        </p:nvSpPr>
        <p:spPr>
          <a:xfrm flipH="1">
            <a:off x="4151238"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기사 입력</a:t>
            </a:r>
            <a:endParaRPr b="0" i="0" sz="1532" u="none" cap="none" strike="noStrike">
              <a:solidFill>
                <a:srgbClr val="000000"/>
              </a:solidFill>
              <a:latin typeface="Arial"/>
              <a:ea typeface="Arial"/>
              <a:cs typeface="Arial"/>
              <a:sym typeface="Arial"/>
            </a:endParaRPr>
          </a:p>
        </p:txBody>
      </p:sp>
      <p:sp>
        <p:nvSpPr>
          <p:cNvPr id="1093" name="Google Shape;1093;g3fae3b6faca_1_225"/>
          <p:cNvSpPr/>
          <p:nvPr/>
        </p:nvSpPr>
        <p:spPr>
          <a:xfrm rot="-5400000">
            <a:off x="557663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94" name="Google Shape;1094;g3fae3b6faca_1_225"/>
          <p:cNvSpPr/>
          <p:nvPr/>
        </p:nvSpPr>
        <p:spPr>
          <a:xfrm flipH="1">
            <a:off x="538740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전처리</a:t>
            </a:r>
            <a:endParaRPr b="0" i="0" sz="1532" u="none" cap="none" strike="noStrike">
              <a:solidFill>
                <a:srgbClr val="000000"/>
              </a:solidFill>
              <a:latin typeface="Arial"/>
              <a:ea typeface="Arial"/>
              <a:cs typeface="Arial"/>
              <a:sym typeface="Arial"/>
            </a:endParaRPr>
          </a:p>
        </p:txBody>
      </p:sp>
      <p:sp>
        <p:nvSpPr>
          <p:cNvPr id="1095" name="Google Shape;1095;g3fae3b6faca_1_225"/>
          <p:cNvSpPr/>
          <p:nvPr/>
        </p:nvSpPr>
        <p:spPr>
          <a:xfrm rot="-5400000">
            <a:off x="6790100"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96" name="Google Shape;1096;g3fae3b6faca_1_225"/>
          <p:cNvSpPr/>
          <p:nvPr/>
        </p:nvSpPr>
        <p:spPr>
          <a:xfrm flipH="1">
            <a:off x="654479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HCX-007</a:t>
            </a:r>
            <a:endParaRPr b="0" i="0" sz="1532" u="none" cap="none" strike="noStrike">
              <a:solidFill>
                <a:srgbClr val="000000"/>
              </a:solidFill>
              <a:latin typeface="Arial"/>
              <a:ea typeface="Arial"/>
              <a:cs typeface="Arial"/>
              <a:sym typeface="Arial"/>
            </a:endParaRPr>
          </a:p>
        </p:txBody>
      </p:sp>
      <p:sp>
        <p:nvSpPr>
          <p:cNvPr id="1097" name="Google Shape;1097;g3fae3b6faca_1_225"/>
          <p:cNvSpPr/>
          <p:nvPr/>
        </p:nvSpPr>
        <p:spPr>
          <a:xfrm rot="-5400000">
            <a:off x="8097961" y="373580"/>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098" name="Google Shape;1098;g3fae3b6faca_1_225"/>
          <p:cNvSpPr/>
          <p:nvPr/>
        </p:nvSpPr>
        <p:spPr>
          <a:xfrm flipH="1">
            <a:off x="7858929"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lang="en-US" sz="600">
                <a:solidFill>
                  <a:srgbClr val="66786E"/>
                </a:solidFill>
              </a:rPr>
              <a:t>ready</a:t>
            </a:r>
            <a:r>
              <a:rPr b="0" i="0" lang="en-US" sz="600" u="none" cap="none" strike="noStrike">
                <a:solidFill>
                  <a:srgbClr val="66786E"/>
                </a:solidFill>
                <a:latin typeface="Arial"/>
                <a:ea typeface="Arial"/>
                <a:cs typeface="Arial"/>
                <a:sym typeface="Arial"/>
              </a:rPr>
              <a:t> gate</a:t>
            </a:r>
            <a:endParaRPr b="0" i="0" sz="1532" u="none" cap="none" strike="noStrike">
              <a:solidFill>
                <a:srgbClr val="000000"/>
              </a:solidFill>
              <a:latin typeface="Arial"/>
              <a:ea typeface="Arial"/>
              <a:cs typeface="Arial"/>
              <a:sym typeface="Arial"/>
            </a:endParaRPr>
          </a:p>
        </p:txBody>
      </p:sp>
      <p:sp>
        <p:nvSpPr>
          <p:cNvPr id="1099" name="Google Shape;1099;g3fae3b6faca_1_225"/>
          <p:cNvSpPr/>
          <p:nvPr/>
        </p:nvSpPr>
        <p:spPr>
          <a:xfrm flipH="1">
            <a:off x="909304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BGE-M3</a:t>
            </a:r>
            <a:endParaRPr i="0" sz="542" u="none" cap="none" strike="noStrike">
              <a:solidFill>
                <a:srgbClr val="66786E"/>
              </a:solidFill>
            </a:endParaRPr>
          </a:p>
        </p:txBody>
      </p:sp>
      <p:sp>
        <p:nvSpPr>
          <p:cNvPr id="1100" name="Google Shape;1100;g3fae3b6faca_1_225"/>
          <p:cNvSpPr/>
          <p:nvPr/>
        </p:nvSpPr>
        <p:spPr>
          <a:xfrm rot="-5400000">
            <a:off x="10460797" y="344375"/>
            <a:ext cx="171600" cy="190500"/>
          </a:xfrm>
          <a:prstGeom prst="ellipse">
            <a:avLst/>
          </a:prstGeom>
          <a:solidFill>
            <a:srgbClr val="EAF1EB"/>
          </a:solidFill>
          <a:ln cap="flat" cmpd="sng" w="117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1101" name="Google Shape;1101;g3fae3b6faca_1_225"/>
          <p:cNvSpPr/>
          <p:nvPr/>
        </p:nvSpPr>
        <p:spPr>
          <a:xfrm rot="-5400000">
            <a:off x="10492366" y="379030"/>
            <a:ext cx="108900" cy="121500"/>
          </a:xfrm>
          <a:prstGeom prst="ellipse">
            <a:avLst/>
          </a:prstGeom>
          <a:solidFill>
            <a:srgbClr val="3F7A57"/>
          </a:solidFill>
          <a:ln cap="flat" cmpd="sng" w="7800">
            <a:solidFill>
              <a:srgbClr val="3F7A57"/>
            </a:solidFill>
            <a:prstDash val="solid"/>
            <a:round/>
            <a:headEnd len="sm" w="sm" type="none"/>
            <a:tailEnd len="sm" w="sm" type="none"/>
          </a:ln>
        </p:spPr>
        <p:txBody>
          <a:bodyPr anchorCtr="0" anchor="ctr" bIns="74850" lIns="74850" spcFirstLastPara="1" rIns="74850" wrap="square" tIns="74850">
            <a:noAutofit/>
          </a:bodyPr>
          <a:lstStyle/>
          <a:p>
            <a:pPr indent="0" lvl="0" marL="0" marR="0" rtl="0" algn="l">
              <a:lnSpc>
                <a:spcPct val="100000"/>
              </a:lnSpc>
              <a:spcBef>
                <a:spcPts val="0"/>
              </a:spcBef>
              <a:spcAft>
                <a:spcPts val="0"/>
              </a:spcAft>
              <a:buClr>
                <a:srgbClr val="000000"/>
              </a:buClr>
              <a:buSzPts val="1146"/>
              <a:buFont typeface="Arial"/>
              <a:buNone/>
            </a:pPr>
            <a:r>
              <a:t/>
            </a:r>
            <a:endParaRPr b="0" i="0" sz="1146" u="none" cap="none" strike="noStrike">
              <a:solidFill>
                <a:srgbClr val="000000"/>
              </a:solidFill>
              <a:latin typeface="Arial"/>
              <a:ea typeface="Arial"/>
              <a:cs typeface="Arial"/>
              <a:sym typeface="Arial"/>
            </a:endParaRPr>
          </a:p>
        </p:txBody>
      </p:sp>
      <p:sp>
        <p:nvSpPr>
          <p:cNvPr id="1102" name="Google Shape;1102;g3fae3b6faca_1_225"/>
          <p:cNvSpPr/>
          <p:nvPr/>
        </p:nvSpPr>
        <p:spPr>
          <a:xfrm flipH="1">
            <a:off x="10195441"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314"/>
              <a:buFont typeface="Arial"/>
              <a:buNone/>
            </a:pPr>
            <a:r>
              <a:rPr i="0" lang="en-US" sz="542" u="none" cap="none" strike="noStrike">
                <a:solidFill>
                  <a:srgbClr val="66786E"/>
                </a:solidFill>
              </a:rPr>
              <a:t>PostgreSQL</a:t>
            </a:r>
            <a:endParaRPr i="0" sz="542" u="none" cap="none" strike="noStrike">
              <a:solidFill>
                <a:srgbClr val="66786E"/>
              </a:solidFill>
            </a:endParaRPr>
          </a:p>
        </p:txBody>
      </p:sp>
      <p:sp>
        <p:nvSpPr>
          <p:cNvPr id="1103" name="Google Shape;1103;g3fae3b6faca_1_225"/>
          <p:cNvSpPr/>
          <p:nvPr/>
        </p:nvSpPr>
        <p:spPr>
          <a:xfrm rot="-5400000">
            <a:off x="11700511" y="373580"/>
            <a:ext cx="116100" cy="129000"/>
          </a:xfrm>
          <a:prstGeom prst="ellipse">
            <a:avLst/>
          </a:prstGeom>
          <a:solidFill>
            <a:srgbClr val="FFFFFF"/>
          </a:solidFill>
          <a:ln cap="flat" cmpd="sng" w="17400">
            <a:solidFill>
              <a:srgbClr val="9AA9A0"/>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
        <p:nvSpPr>
          <p:cNvPr id="1104" name="Google Shape;1104;g3fae3b6faca_1_225"/>
          <p:cNvSpPr/>
          <p:nvPr/>
        </p:nvSpPr>
        <p:spPr>
          <a:xfrm flipH="1">
            <a:off x="11395074" y="101525"/>
            <a:ext cx="1485300" cy="358200"/>
          </a:xfrm>
          <a:prstGeom prst="rect">
            <a:avLst/>
          </a:prstGeom>
          <a:noFill/>
          <a:ln>
            <a:noFill/>
          </a:ln>
        </p:spPr>
        <p:txBody>
          <a:bodyPr anchorCtr="0" anchor="ctr" bIns="69600" lIns="139250" spcFirstLastPara="1" rIns="139250" wrap="square" tIns="69600">
            <a:noAutofit/>
          </a:bodyPr>
          <a:lstStyle/>
          <a:p>
            <a:pPr indent="0" lvl="0" marL="0" marR="0" rtl="0" algn="l">
              <a:lnSpc>
                <a:spcPct val="100000"/>
              </a:lnSpc>
              <a:spcBef>
                <a:spcPts val="0"/>
              </a:spcBef>
              <a:spcAft>
                <a:spcPts val="0"/>
              </a:spcAft>
              <a:buClr>
                <a:srgbClr val="000000"/>
              </a:buClr>
              <a:buSzPts val="1200"/>
              <a:buFont typeface="Arial"/>
              <a:buNone/>
            </a:pPr>
            <a:r>
              <a:rPr b="0" i="0" lang="en-US" sz="600" u="none" cap="none" strike="noStrike">
                <a:solidFill>
                  <a:srgbClr val="66786E"/>
                </a:solidFill>
                <a:latin typeface="Arial"/>
                <a:ea typeface="Arial"/>
                <a:cs typeface="Arial"/>
                <a:sym typeface="Arial"/>
              </a:rPr>
              <a:t>공식값 대조</a:t>
            </a:r>
            <a:endParaRPr b="0" i="0" sz="1532" u="none" cap="none" strike="noStrike">
              <a:solidFill>
                <a:srgbClr val="66786E"/>
              </a:solidFill>
              <a:latin typeface="Arial"/>
              <a:ea typeface="Arial"/>
              <a:cs typeface="Arial"/>
              <a:sym typeface="Arial"/>
            </a:endParaRPr>
          </a:p>
        </p:txBody>
      </p:sp>
      <p:sp>
        <p:nvSpPr>
          <p:cNvPr id="1105" name="Google Shape;1105;g3fae3b6faca_1_225"/>
          <p:cNvSpPr/>
          <p:nvPr/>
        </p:nvSpPr>
        <p:spPr>
          <a:xfrm rot="-5400000">
            <a:off x="9325065" y="366753"/>
            <a:ext cx="116100" cy="129000"/>
          </a:xfrm>
          <a:prstGeom prst="ellipse">
            <a:avLst/>
          </a:prstGeom>
          <a:solidFill>
            <a:srgbClr val="3F7A57"/>
          </a:solidFill>
          <a:ln cap="flat" cmpd="sng" w="14500">
            <a:solidFill>
              <a:srgbClr val="3F7A57"/>
            </a:solidFill>
            <a:prstDash val="solid"/>
            <a:round/>
            <a:headEnd len="sm" w="sm" type="none"/>
            <a:tailEnd len="sm" w="sm" type="none"/>
          </a:ln>
        </p:spPr>
        <p:txBody>
          <a:bodyPr anchorCtr="0" anchor="ctr" bIns="139250" lIns="139250" spcFirstLastPara="1" rIns="139250" wrap="square" tIns="139250">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110" name="Shape 1110"/>
        <p:cNvGrpSpPr/>
        <p:nvPr/>
      </p:nvGrpSpPr>
      <p:grpSpPr>
        <a:xfrm>
          <a:off x="0" y="0"/>
          <a:ext cx="0" cy="0"/>
          <a:chOff x="0" y="0"/>
          <a:chExt cx="0" cy="0"/>
        </a:xfrm>
      </p:grpSpPr>
      <p:sp>
        <p:nvSpPr>
          <p:cNvPr id="1111" name="Google Shape;1111;g3faefd80bea_2_35"/>
          <p:cNvSpPr/>
          <p:nvPr/>
        </p:nvSpPr>
        <p:spPr>
          <a:xfrm>
            <a:off x="-6347"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12" name="Google Shape;1112;g3faefd80bea_2_35"/>
          <p:cNvCxnSpPr/>
          <p:nvPr/>
        </p:nvCxnSpPr>
        <p:spPr>
          <a:xfrm>
            <a:off x="182880" y="5742432"/>
            <a:ext cx="1353312" cy="0"/>
          </a:xfrm>
          <a:prstGeom prst="straightConnector1">
            <a:avLst/>
          </a:prstGeom>
          <a:noFill/>
          <a:ln cap="flat" cmpd="sng" w="11425">
            <a:solidFill>
              <a:srgbClr val="D7E3DA"/>
            </a:solidFill>
            <a:prstDash val="solid"/>
            <a:round/>
            <a:headEnd len="sm" w="sm" type="none"/>
            <a:tailEnd len="sm" w="sm" type="none"/>
          </a:ln>
        </p:spPr>
      </p:cxnSp>
      <p:sp>
        <p:nvSpPr>
          <p:cNvPr id="1113" name="Google Shape;1113;g3faefd80bea_2_35"/>
          <p:cNvSpPr/>
          <p:nvPr/>
        </p:nvSpPr>
        <p:spPr>
          <a:xfrm>
            <a:off x="246888" y="5989320"/>
            <a:ext cx="73152" cy="73152"/>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3faefd80bea_2_35"/>
          <p:cNvSpPr/>
          <p:nvPr/>
        </p:nvSpPr>
        <p:spPr>
          <a:xfrm>
            <a:off x="393192" y="5925312"/>
            <a:ext cx="1097280" cy="13716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KOSIS 공식 통계 연결</a:t>
            </a:r>
            <a:endParaRPr b="0" i="0" sz="730" u="none" cap="none" strike="noStrike">
              <a:solidFill>
                <a:schemeClr val="dk1"/>
              </a:solidFill>
              <a:latin typeface="Malgun Gothic"/>
              <a:ea typeface="Malgun Gothic"/>
              <a:cs typeface="Malgun Gothic"/>
              <a:sym typeface="Malgun Gothic"/>
            </a:endParaRPr>
          </a:p>
        </p:txBody>
      </p:sp>
      <p:sp>
        <p:nvSpPr>
          <p:cNvPr id="1115" name="Google Shape;1115;g3faefd80bea_2_35"/>
          <p:cNvSpPr/>
          <p:nvPr/>
        </p:nvSpPr>
        <p:spPr>
          <a:xfrm>
            <a:off x="256032" y="6199632"/>
            <a:ext cx="1234440" cy="146304"/>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620" u="none" cap="none" strike="noStrike">
                <a:solidFill>
                  <a:srgbClr val="8A9B92"/>
                </a:solidFill>
                <a:latin typeface="Malgun Gothic"/>
                <a:ea typeface="Malgun Gothic"/>
                <a:cs typeface="Malgun Gothic"/>
                <a:sym typeface="Malgun Gothic"/>
              </a:rPr>
              <a:t>HCX 주장 추출 · KOSIS 좌표 대조</a:t>
            </a:r>
            <a:endParaRPr b="0" i="0" sz="620" u="none" cap="none" strike="noStrike">
              <a:solidFill>
                <a:schemeClr val="dk1"/>
              </a:solidFill>
              <a:latin typeface="Malgun Gothic"/>
              <a:ea typeface="Malgun Gothic"/>
              <a:cs typeface="Malgun Gothic"/>
              <a:sym typeface="Malgun Gothic"/>
            </a:endParaRPr>
          </a:p>
        </p:txBody>
      </p:sp>
      <p:sp>
        <p:nvSpPr>
          <p:cNvPr id="1116" name="Google Shape;1116;g3faefd80bea_2_35"/>
          <p:cNvSpPr/>
          <p:nvPr/>
        </p:nvSpPr>
        <p:spPr>
          <a:xfrm>
            <a:off x="0" y="0"/>
            <a:ext cx="12191695" cy="100584"/>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g3faefd80bea_2_35"/>
          <p:cNvSpPr/>
          <p:nvPr/>
        </p:nvSpPr>
        <p:spPr>
          <a:xfrm>
            <a:off x="2057400" y="329184"/>
            <a:ext cx="1965960" cy="292608"/>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g3faefd80bea_2_35"/>
          <p:cNvSpPr/>
          <p:nvPr/>
        </p:nvSpPr>
        <p:spPr>
          <a:xfrm>
            <a:off x="2103120" y="329184"/>
            <a:ext cx="1874520" cy="292608"/>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04 · 검색 전략</a:t>
            </a:r>
            <a:endParaRPr b="0" i="0" sz="850" u="none" cap="none" strike="noStrike">
              <a:solidFill>
                <a:schemeClr val="dk1"/>
              </a:solidFill>
              <a:latin typeface="Malgun Gothic"/>
              <a:ea typeface="Malgun Gothic"/>
              <a:cs typeface="Malgun Gothic"/>
              <a:sym typeface="Malgun Gothic"/>
            </a:endParaRPr>
          </a:p>
        </p:txBody>
      </p:sp>
      <p:sp>
        <p:nvSpPr>
          <p:cNvPr id="1119" name="Google Shape;1119;g3faefd80bea_2_35"/>
          <p:cNvSpPr/>
          <p:nvPr/>
        </p:nvSpPr>
        <p:spPr>
          <a:xfrm>
            <a:off x="2057400" y="768096"/>
            <a:ext cx="9738360" cy="47548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Lexical + BGE-M3 + reranker  VS  lexical  VS  MCP</a:t>
            </a:r>
            <a:endParaRPr b="0" i="0" sz="2600" u="none" cap="none" strike="noStrike">
              <a:solidFill>
                <a:schemeClr val="dk1"/>
              </a:solidFill>
              <a:latin typeface="Malgun Gothic"/>
              <a:ea typeface="Malgun Gothic"/>
              <a:cs typeface="Malgun Gothic"/>
              <a:sym typeface="Malgun Gothic"/>
            </a:endParaRPr>
          </a:p>
        </p:txBody>
      </p:sp>
      <p:sp>
        <p:nvSpPr>
          <p:cNvPr id="1120" name="Google Shape;1120;g3faefd80bea_2_35"/>
          <p:cNvSpPr/>
          <p:nvPr/>
        </p:nvSpPr>
        <p:spPr>
          <a:xfrm>
            <a:off x="2057400" y="1261872"/>
            <a:ext cx="9738360" cy="256032"/>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F7E76"/>
              </a:buClr>
              <a:buSzPts val="1150"/>
              <a:buFont typeface="Malgun Gothic"/>
              <a:buNone/>
            </a:pPr>
            <a:r>
              <a:rPr b="0" i="0" lang="en-US" sz="1150" u="none" cap="none" strike="noStrike">
                <a:solidFill>
                  <a:srgbClr val="6F7E76"/>
                </a:solidFill>
                <a:latin typeface="Malgun Gothic"/>
                <a:ea typeface="Malgun Gothic"/>
                <a:cs typeface="Malgun Gothic"/>
                <a:sym typeface="Malgun Gothic"/>
              </a:rPr>
              <a:t>각 방식의 장단점을 비교하고 최종 역할을 제한</a:t>
            </a:r>
            <a:endParaRPr b="0" i="0" sz="1150" u="none" cap="none" strike="noStrike">
              <a:solidFill>
                <a:schemeClr val="dk1"/>
              </a:solidFill>
              <a:latin typeface="Malgun Gothic"/>
              <a:ea typeface="Malgun Gothic"/>
              <a:cs typeface="Malgun Gothic"/>
              <a:sym typeface="Malgun Gothic"/>
            </a:endParaRPr>
          </a:p>
        </p:txBody>
      </p:sp>
      <p:sp>
        <p:nvSpPr>
          <p:cNvPr id="1121" name="Google Shape;1121;g3faefd80bea_2_35"/>
          <p:cNvSpPr/>
          <p:nvPr/>
        </p:nvSpPr>
        <p:spPr>
          <a:xfrm>
            <a:off x="2057400" y="6510528"/>
            <a:ext cx="2560320" cy="13716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graphicFrame>
        <p:nvGraphicFramePr>
          <p:cNvPr id="1122" name="Google Shape;1122;g3faefd80bea_2_35"/>
          <p:cNvGraphicFramePr/>
          <p:nvPr/>
        </p:nvGraphicFramePr>
        <p:xfrm>
          <a:off x="2227489" y="1865204"/>
          <a:ext cx="3000000" cy="3000000"/>
        </p:xfrm>
        <a:graphic>
          <a:graphicData uri="http://schemas.openxmlformats.org/drawingml/2006/table">
            <a:tbl>
              <a:tblPr>
                <a:noFill/>
                <a:tableStyleId>{45964FCD-4E89-4973-9509-FDA47E31D4AA}</a:tableStyleId>
              </a:tblPr>
              <a:tblGrid>
                <a:gridCol w="1463050"/>
                <a:gridCol w="2560325"/>
                <a:gridCol w="2743200"/>
                <a:gridCol w="2468875"/>
              </a:tblGrid>
              <a:tr h="685800">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350" u="none" cap="none" strike="noStrike">
                          <a:solidFill>
                            <a:srgbClr val="22372E"/>
                          </a:solidFill>
                          <a:latin typeface="Malgun Gothic"/>
                          <a:ea typeface="Malgun Gothic"/>
                          <a:cs typeface="Malgun Gothic"/>
                          <a:sym typeface="Malgun Gothic"/>
                        </a:rPr>
                        <a:t>방식</a:t>
                      </a:r>
                      <a:endParaRPr sz="13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350" u="none" cap="none" strike="noStrike">
                          <a:solidFill>
                            <a:srgbClr val="22372E"/>
                          </a:solidFill>
                          <a:latin typeface="Malgun Gothic"/>
                          <a:ea typeface="Malgun Gothic"/>
                          <a:cs typeface="Malgun Gothic"/>
                          <a:sym typeface="Malgun Gothic"/>
                        </a:rPr>
                        <a:t>강점</a:t>
                      </a:r>
                      <a:endParaRPr sz="13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350" u="none" cap="none" strike="noStrike">
                          <a:solidFill>
                            <a:srgbClr val="22372E"/>
                          </a:solidFill>
                          <a:latin typeface="Malgun Gothic"/>
                          <a:ea typeface="Malgun Gothic"/>
                          <a:cs typeface="Malgun Gothic"/>
                          <a:sym typeface="Malgun Gothic"/>
                        </a:rPr>
                        <a:t>한계</a:t>
                      </a:r>
                      <a:endParaRPr sz="13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350" u="none" cap="none" strike="noStrike">
                          <a:solidFill>
                            <a:srgbClr val="22372E"/>
                          </a:solidFill>
                          <a:latin typeface="Malgun Gothic"/>
                          <a:ea typeface="Malgun Gothic"/>
                          <a:cs typeface="Malgun Gothic"/>
                          <a:sym typeface="Malgun Gothic"/>
                        </a:rPr>
                        <a:t>최종 활용</a:t>
                      </a:r>
                      <a:endParaRPr sz="13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r>
              <a:tr h="6858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lexical</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반복 지표, 키워드 일치에 강함</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새 표현/표명 차이에 취약</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보조 · 폴백</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6858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BGE-M3 </a:t>
                      </a:r>
                      <a:endParaRPr b="1" sz="1270" u="none" cap="none" strike="noStrike">
                        <a:solidFill>
                          <a:srgbClr val="22372E"/>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a:t>
                      </a:r>
                      <a:endParaRPr b="1" sz="1270" u="none" cap="none" strike="noStrike">
                        <a:solidFill>
                          <a:srgbClr val="22372E"/>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 reranker</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표현 차이를 보완하고 후보를 넓힘</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좌표 승인에는 부적합</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후보 표 Top-k</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6858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270" u="none" cap="none" strike="noStrike">
                          <a:solidFill>
                            <a:srgbClr val="22372E"/>
                          </a:solidFill>
                          <a:latin typeface="Malgun Gothic"/>
                          <a:ea typeface="Malgun Gothic"/>
                          <a:cs typeface="Malgun Gothic"/>
                          <a:sym typeface="Malgun Gothic"/>
                        </a:rPr>
                        <a:t>MCP/LLM</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초기 탐색과 설명이 빠름</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재현성·감사 가능성 약함</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270" u="none" cap="none" strike="noStrike">
                          <a:solidFill>
                            <a:srgbClr val="22372E"/>
                          </a:solidFill>
                          <a:latin typeface="Malgun Gothic"/>
                          <a:ea typeface="Malgun Gothic"/>
                          <a:cs typeface="Malgun Gothic"/>
                          <a:sym typeface="Malgun Gothic"/>
                        </a:rPr>
                        <a:t>보조 검토</a:t>
                      </a:r>
                      <a:endParaRPr sz="12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bl>
          </a:graphicData>
        </a:graphic>
      </p:graphicFrame>
      <p:sp>
        <p:nvSpPr>
          <p:cNvPr id="1123" name="Google Shape;1123;g3faefd80bea_2_35"/>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g3faefd80bea_2_35"/>
          <p:cNvSpPr/>
          <p:nvPr/>
        </p:nvSpPr>
        <p:spPr>
          <a:xfrm>
            <a:off x="2190700" y="304800"/>
            <a:ext cx="18096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트러블슈팅</a:t>
            </a:r>
            <a:endParaRPr b="0" i="0" sz="1400" u="none" cap="none" strike="noStrike">
              <a:solidFill>
                <a:srgbClr val="000000"/>
              </a:solidFill>
              <a:latin typeface="Arial"/>
              <a:ea typeface="Arial"/>
              <a:cs typeface="Arial"/>
              <a:sym typeface="Arial"/>
            </a:endParaRPr>
          </a:p>
        </p:txBody>
      </p:sp>
      <p:sp>
        <p:nvSpPr>
          <p:cNvPr id="1125" name="Google Shape;1125;g3faefd80bea_2_35"/>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g3faefd80bea_2_35"/>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g3faefd80bea_2_35"/>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g3faefd80bea_2_35"/>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g3faefd80bea_2_35"/>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g3faefd80bea_2_35"/>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131" name="Google Shape;1131;g3faefd80bea_2_35"/>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132" name="Google Shape;1132;g3faefd80bea_2_35"/>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1133" name="Google Shape;1133;g3faefd80bea_2_35"/>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1134" name="Google Shape;1134;g3faefd80bea_2_35"/>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135" name="Google Shape;1135;g3faefd80bea_2_35"/>
          <p:cNvGrpSpPr/>
          <p:nvPr/>
        </p:nvGrpSpPr>
        <p:grpSpPr>
          <a:xfrm>
            <a:off x="283429" y="3067107"/>
            <a:ext cx="209400" cy="209700"/>
            <a:chOff x="-3275292" y="2173036"/>
            <a:chExt cx="209400" cy="209700"/>
          </a:xfrm>
        </p:grpSpPr>
        <p:sp>
          <p:nvSpPr>
            <p:cNvPr id="1136" name="Google Shape;1136;g3faefd80bea_2_35"/>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g3faefd80bea_2_35"/>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8" name="Google Shape;1138;g3faefd80bea_2_35"/>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g3faefd80bea_2_35"/>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g3faefd80bea_2_35"/>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g3faefd80bea_2_35"/>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g3faefd80bea_2_35"/>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g3faefd80bea_2_35"/>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148" name="Shape 1148"/>
        <p:cNvGrpSpPr/>
        <p:nvPr/>
      </p:nvGrpSpPr>
      <p:grpSpPr>
        <a:xfrm>
          <a:off x="0" y="0"/>
          <a:ext cx="0" cy="0"/>
          <a:chOff x="0" y="0"/>
          <a:chExt cx="0" cy="0"/>
        </a:xfrm>
      </p:grpSpPr>
      <p:sp>
        <p:nvSpPr>
          <p:cNvPr id="1149" name="Google Shape;1149;g3fafe51123f_1_253"/>
          <p:cNvSpPr/>
          <p:nvPr/>
        </p:nvSpPr>
        <p:spPr>
          <a:xfrm>
            <a:off x="0"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g3fafe51123f_1_253"/>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51" name="Google Shape;1151;g3fafe51123f_1_253"/>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1152" name="Google Shape;1152;g3fafe51123f_1_253"/>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g3fafe51123f_1_253"/>
          <p:cNvSpPr/>
          <p:nvPr/>
        </p:nvSpPr>
        <p:spPr>
          <a:xfrm>
            <a:off x="393067" y="5957346"/>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2026.09.02</a:t>
            </a:r>
            <a:endParaRPr b="0" i="0" sz="730" u="none" cap="none" strike="noStrike">
              <a:solidFill>
                <a:schemeClr val="dk1"/>
              </a:solidFill>
              <a:latin typeface="Malgun Gothic"/>
              <a:ea typeface="Malgun Gothic"/>
              <a:cs typeface="Malgun Gothic"/>
              <a:sym typeface="Malgun Gothic"/>
            </a:endParaRPr>
          </a:p>
        </p:txBody>
      </p:sp>
      <p:sp>
        <p:nvSpPr>
          <p:cNvPr id="1154" name="Google Shape;1154;g3fafe51123f_1_253"/>
          <p:cNvSpPr/>
          <p:nvPr/>
        </p:nvSpPr>
        <p:spPr>
          <a:xfrm>
            <a:off x="256032" y="6199632"/>
            <a:ext cx="1234500" cy="1464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920" u="none" cap="none" strike="noStrike">
                <a:solidFill>
                  <a:srgbClr val="8A9B92"/>
                </a:solidFill>
                <a:latin typeface="Malgun Gothic"/>
                <a:ea typeface="Malgun Gothic"/>
                <a:cs typeface="Malgun Gothic"/>
                <a:sym typeface="Malgun Gothic"/>
              </a:rPr>
              <a:t>최종 프로젝트</a:t>
            </a:r>
            <a:endParaRPr b="0" i="0" sz="920" u="none" cap="none" strike="noStrike">
              <a:solidFill>
                <a:schemeClr val="dk1"/>
              </a:solidFill>
              <a:latin typeface="Malgun Gothic"/>
              <a:ea typeface="Malgun Gothic"/>
              <a:cs typeface="Malgun Gothic"/>
              <a:sym typeface="Malgun Gothic"/>
            </a:endParaRPr>
          </a:p>
        </p:txBody>
      </p:sp>
      <p:sp>
        <p:nvSpPr>
          <p:cNvPr id="1155" name="Google Shape;1155;g3fafe51123f_1_253"/>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g3fafe51123f_1_253"/>
          <p:cNvSpPr/>
          <p:nvPr/>
        </p:nvSpPr>
        <p:spPr>
          <a:xfrm>
            <a:off x="2057400" y="6510528"/>
            <a:ext cx="25602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Arial"/>
                <a:ea typeface="Arial"/>
                <a:cs typeface="Arial"/>
                <a:sym typeface="Arial"/>
              </a:rPr>
              <a:t>KOSIS 뉴스 수치 주장 검증 PoC</a:t>
            </a:r>
            <a:endParaRPr b="0" i="0" sz="650" u="none" cap="none" strike="noStrike">
              <a:solidFill>
                <a:schemeClr val="dk1"/>
              </a:solidFill>
              <a:latin typeface="Arial"/>
              <a:ea typeface="Arial"/>
              <a:cs typeface="Arial"/>
              <a:sym typeface="Arial"/>
            </a:endParaRPr>
          </a:p>
        </p:txBody>
      </p:sp>
      <p:sp>
        <p:nvSpPr>
          <p:cNvPr id="1157" name="Google Shape;1157;g3fafe51123f_1_253"/>
          <p:cNvSpPr txBox="1"/>
          <p:nvPr/>
        </p:nvSpPr>
        <p:spPr>
          <a:xfrm>
            <a:off x="1949050" y="948518"/>
            <a:ext cx="10099500" cy="74910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173F2F"/>
              </a:buClr>
              <a:buSzPts val="2600"/>
              <a:buFont typeface="Malgun Gothic"/>
              <a:buNone/>
            </a:pPr>
            <a:r>
              <a:rPr b="1" lang="en-US" sz="2600">
                <a:solidFill>
                  <a:srgbClr val="173F2F"/>
                </a:solidFill>
                <a:latin typeface="Malgun Gothic"/>
                <a:ea typeface="Malgun Gothic"/>
                <a:cs typeface="Malgun Gothic"/>
                <a:sym typeface="Malgun Gothic"/>
              </a:rPr>
              <a:t>Chroma DB + SQLite → PostgreSQL</a:t>
            </a:r>
            <a:endParaRPr sz="2600">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1F2421"/>
              </a:buClr>
              <a:buSzPts val="2458"/>
              <a:buFont typeface="Malgun Gothic"/>
              <a:buNone/>
            </a:pPr>
            <a:r>
              <a:t/>
            </a:r>
            <a:endParaRPr b="1" sz="2458">
              <a:solidFill>
                <a:srgbClr val="1F2421"/>
              </a:solidFill>
              <a:latin typeface="Malgun Gothic"/>
              <a:ea typeface="Malgun Gothic"/>
              <a:cs typeface="Malgun Gothic"/>
              <a:sym typeface="Malgun Gothic"/>
            </a:endParaRPr>
          </a:p>
        </p:txBody>
      </p:sp>
      <p:sp>
        <p:nvSpPr>
          <p:cNvPr id="1158" name="Google Shape;1158;g3fafe51123f_1_253"/>
          <p:cNvSpPr txBox="1"/>
          <p:nvPr/>
        </p:nvSpPr>
        <p:spPr>
          <a:xfrm>
            <a:off x="1949050" y="1697710"/>
            <a:ext cx="10099500" cy="2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1183"/>
              <a:buFont typeface="Malgun Gothic"/>
              <a:buNone/>
            </a:pPr>
            <a:r>
              <a:rPr lang="en-US" sz="1150">
                <a:solidFill>
                  <a:srgbClr val="5F6B63"/>
                </a:solidFill>
              </a:rPr>
              <a:t>의미가 비슷한 좌표와 실제 공식 좌표는 달랐습니다</a:t>
            </a:r>
            <a:endParaRPr sz="1150">
              <a:solidFill>
                <a:srgbClr val="5F6B63"/>
              </a:solidFill>
            </a:endParaRPr>
          </a:p>
        </p:txBody>
      </p:sp>
      <p:sp>
        <p:nvSpPr>
          <p:cNvPr id="1159" name="Google Shape;1159;g3fafe51123f_1_253"/>
          <p:cNvSpPr/>
          <p:nvPr/>
        </p:nvSpPr>
        <p:spPr>
          <a:xfrm>
            <a:off x="1949050" y="2012595"/>
            <a:ext cx="4869900" cy="2664000"/>
          </a:xfrm>
          <a:prstGeom prst="roundRect">
            <a:avLst>
              <a:gd fmla="val 2500" name="adj"/>
            </a:avLst>
          </a:prstGeom>
          <a:solidFill>
            <a:srgbClr val="FAEEE8"/>
          </a:solidFill>
          <a:ln cap="flat" cmpd="sng" w="11550">
            <a:solidFill>
              <a:srgbClr val="EBD2C5"/>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g3fafe51123f_1_253"/>
          <p:cNvSpPr txBox="1"/>
          <p:nvPr/>
        </p:nvSpPr>
        <p:spPr>
          <a:xfrm>
            <a:off x="2232071" y="2229028"/>
            <a:ext cx="4328700" cy="26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1275"/>
              <a:buFont typeface="Malgun Gothic"/>
              <a:buNone/>
            </a:pPr>
            <a:r>
              <a:rPr b="1" i="0" lang="en-US" sz="1275" u="none" cap="none" strike="noStrike">
                <a:solidFill>
                  <a:srgbClr val="B4552F"/>
                </a:solidFill>
                <a:latin typeface="Malgun Gothic"/>
                <a:ea typeface="Malgun Gothic"/>
                <a:cs typeface="Malgun Gothic"/>
                <a:sym typeface="Malgun Gothic"/>
              </a:rPr>
              <a:t>기존 접근에서 발생한 문제</a:t>
            </a:r>
            <a:endParaRPr b="0" i="0" sz="1275" u="none" cap="none" strike="noStrike">
              <a:solidFill>
                <a:schemeClr val="dk1"/>
              </a:solidFill>
              <a:latin typeface="Calibri"/>
              <a:ea typeface="Calibri"/>
              <a:cs typeface="Calibri"/>
              <a:sym typeface="Calibri"/>
            </a:endParaRPr>
          </a:p>
        </p:txBody>
      </p:sp>
      <p:sp>
        <p:nvSpPr>
          <p:cNvPr id="1161" name="Google Shape;1161;g3fafe51123f_1_253"/>
          <p:cNvSpPr txBox="1"/>
          <p:nvPr/>
        </p:nvSpPr>
        <p:spPr>
          <a:xfrm>
            <a:off x="2232071" y="2661895"/>
            <a:ext cx="2496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1001"/>
              <a:buFont typeface="Malgun Gothic"/>
              <a:buNone/>
            </a:pPr>
            <a:r>
              <a:rPr b="1" i="0" lang="en-US" sz="1001" u="none" cap="none" strike="noStrike">
                <a:solidFill>
                  <a:srgbClr val="B4552F"/>
                </a:solidFill>
                <a:latin typeface="Malgun Gothic"/>
                <a:ea typeface="Malgun Gothic"/>
                <a:cs typeface="Malgun Gothic"/>
                <a:sym typeface="Malgun Gothic"/>
              </a:rPr>
              <a:t>✕</a:t>
            </a:r>
            <a:endParaRPr b="0" i="0" sz="1001" u="none" cap="none" strike="noStrike">
              <a:solidFill>
                <a:schemeClr val="dk1"/>
              </a:solidFill>
              <a:latin typeface="Calibri"/>
              <a:ea typeface="Calibri"/>
              <a:cs typeface="Calibri"/>
              <a:sym typeface="Calibri"/>
            </a:endParaRPr>
          </a:p>
        </p:txBody>
      </p:sp>
      <p:sp>
        <p:nvSpPr>
          <p:cNvPr id="1162" name="Google Shape;1162;g3fafe51123f_1_253"/>
          <p:cNvSpPr txBox="1"/>
          <p:nvPr/>
        </p:nvSpPr>
        <p:spPr>
          <a:xfrm>
            <a:off x="2515093" y="2661895"/>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아시아 vs 동남아시아</a:t>
            </a:r>
            <a:endParaRPr b="0" i="0" sz="1092" u="none" cap="none" strike="noStrike">
              <a:solidFill>
                <a:schemeClr val="dk1"/>
              </a:solidFill>
              <a:latin typeface="Calibri"/>
              <a:ea typeface="Calibri"/>
              <a:cs typeface="Calibri"/>
              <a:sym typeface="Calibri"/>
            </a:endParaRPr>
          </a:p>
        </p:txBody>
      </p:sp>
      <p:sp>
        <p:nvSpPr>
          <p:cNvPr id="1163" name="Google Shape;1163;g3fafe51123f_1_253"/>
          <p:cNvSpPr txBox="1"/>
          <p:nvPr/>
        </p:nvSpPr>
        <p:spPr>
          <a:xfrm>
            <a:off x="2515093" y="2878328"/>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지역 축이 유사 후보로 함께 노출</a:t>
            </a:r>
            <a:endParaRPr b="0" i="0" sz="956" u="none" cap="none" strike="noStrike">
              <a:solidFill>
                <a:schemeClr val="dk1"/>
              </a:solidFill>
              <a:latin typeface="Calibri"/>
              <a:ea typeface="Calibri"/>
              <a:cs typeface="Calibri"/>
              <a:sym typeface="Calibri"/>
            </a:endParaRPr>
          </a:p>
        </p:txBody>
      </p:sp>
      <p:sp>
        <p:nvSpPr>
          <p:cNvPr id="1164" name="Google Shape;1164;g3fafe51123f_1_253"/>
          <p:cNvSpPr txBox="1"/>
          <p:nvPr/>
        </p:nvSpPr>
        <p:spPr>
          <a:xfrm>
            <a:off x="2232071" y="3178005"/>
            <a:ext cx="2496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1001"/>
              <a:buFont typeface="Malgun Gothic"/>
              <a:buNone/>
            </a:pPr>
            <a:r>
              <a:rPr b="1" i="0" lang="en-US" sz="1001" u="none" cap="none" strike="noStrike">
                <a:solidFill>
                  <a:srgbClr val="B4552F"/>
                </a:solidFill>
                <a:latin typeface="Malgun Gothic"/>
                <a:ea typeface="Malgun Gothic"/>
                <a:cs typeface="Malgun Gothic"/>
                <a:sym typeface="Malgun Gothic"/>
              </a:rPr>
              <a:t>✕</a:t>
            </a:r>
            <a:endParaRPr b="0" i="0" sz="1001" u="none" cap="none" strike="noStrike">
              <a:solidFill>
                <a:schemeClr val="dk1"/>
              </a:solidFill>
              <a:latin typeface="Calibri"/>
              <a:ea typeface="Calibri"/>
              <a:cs typeface="Calibri"/>
              <a:sym typeface="Calibri"/>
            </a:endParaRPr>
          </a:p>
        </p:txBody>
      </p:sp>
      <p:sp>
        <p:nvSpPr>
          <p:cNvPr id="1165" name="Google Shape;1165;g3fafe51123f_1_253"/>
          <p:cNvSpPr txBox="1"/>
          <p:nvPr/>
        </p:nvSpPr>
        <p:spPr>
          <a:xfrm>
            <a:off x="2515093" y="3178005"/>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수출액 vs 수출 증감률</a:t>
            </a:r>
            <a:endParaRPr b="0" i="0" sz="1092" u="none" cap="none" strike="noStrike">
              <a:solidFill>
                <a:schemeClr val="dk1"/>
              </a:solidFill>
              <a:latin typeface="Calibri"/>
              <a:ea typeface="Calibri"/>
              <a:cs typeface="Calibri"/>
              <a:sym typeface="Calibri"/>
            </a:endParaRPr>
          </a:p>
        </p:txBody>
      </p:sp>
      <p:sp>
        <p:nvSpPr>
          <p:cNvPr id="1166" name="Google Shape;1166;g3fafe51123f_1_253"/>
          <p:cNvSpPr txBox="1"/>
          <p:nvPr/>
        </p:nvSpPr>
        <p:spPr>
          <a:xfrm>
            <a:off x="2515093" y="3394438"/>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단위가 다른 항목이 가까운 후보로 검색</a:t>
            </a:r>
            <a:endParaRPr b="0" i="0" sz="956" u="none" cap="none" strike="noStrike">
              <a:solidFill>
                <a:schemeClr val="dk1"/>
              </a:solidFill>
              <a:latin typeface="Calibri"/>
              <a:ea typeface="Calibri"/>
              <a:cs typeface="Calibri"/>
              <a:sym typeface="Calibri"/>
            </a:endParaRPr>
          </a:p>
        </p:txBody>
      </p:sp>
      <p:sp>
        <p:nvSpPr>
          <p:cNvPr id="1167" name="Google Shape;1167;g3fafe51123f_1_253"/>
          <p:cNvSpPr txBox="1"/>
          <p:nvPr/>
        </p:nvSpPr>
        <p:spPr>
          <a:xfrm>
            <a:off x="2232071" y="3694115"/>
            <a:ext cx="2496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1001"/>
              <a:buFont typeface="Malgun Gothic"/>
              <a:buNone/>
            </a:pPr>
            <a:r>
              <a:rPr b="1" i="0" lang="en-US" sz="1001" u="none" cap="none" strike="noStrike">
                <a:solidFill>
                  <a:srgbClr val="B4552F"/>
                </a:solidFill>
                <a:latin typeface="Malgun Gothic"/>
                <a:ea typeface="Malgun Gothic"/>
                <a:cs typeface="Malgun Gothic"/>
                <a:sym typeface="Malgun Gothic"/>
              </a:rPr>
              <a:t>✕</a:t>
            </a:r>
            <a:endParaRPr b="0" i="0" sz="1001" u="none" cap="none" strike="noStrike">
              <a:solidFill>
                <a:schemeClr val="dk1"/>
              </a:solidFill>
              <a:latin typeface="Calibri"/>
              <a:ea typeface="Calibri"/>
              <a:cs typeface="Calibri"/>
              <a:sym typeface="Calibri"/>
            </a:endParaRPr>
          </a:p>
        </p:txBody>
      </p:sp>
      <p:sp>
        <p:nvSpPr>
          <p:cNvPr id="1168" name="Google Shape;1168;g3fafe51123f_1_253"/>
          <p:cNvSpPr txBox="1"/>
          <p:nvPr/>
        </p:nvSpPr>
        <p:spPr>
          <a:xfrm>
            <a:off x="2515093" y="3694115"/>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존재하지 않는 조합</a:t>
            </a:r>
            <a:endParaRPr b="0" i="0" sz="1092" u="none" cap="none" strike="noStrike">
              <a:solidFill>
                <a:schemeClr val="dk1"/>
              </a:solidFill>
              <a:latin typeface="Calibri"/>
              <a:ea typeface="Calibri"/>
              <a:cs typeface="Calibri"/>
              <a:sym typeface="Calibri"/>
            </a:endParaRPr>
          </a:p>
        </p:txBody>
      </p:sp>
      <p:sp>
        <p:nvSpPr>
          <p:cNvPr id="1169" name="Google Shape;1169;g3fafe51123f_1_253"/>
          <p:cNvSpPr txBox="1"/>
          <p:nvPr/>
        </p:nvSpPr>
        <p:spPr>
          <a:xfrm>
            <a:off x="2515093" y="3910548"/>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실재하지 않는 ITEM·OBJ도 의미상 유사 후보</a:t>
            </a:r>
            <a:endParaRPr b="0" i="0" sz="956" u="none" cap="none" strike="noStrike">
              <a:solidFill>
                <a:schemeClr val="dk1"/>
              </a:solidFill>
              <a:latin typeface="Calibri"/>
              <a:ea typeface="Calibri"/>
              <a:cs typeface="Calibri"/>
              <a:sym typeface="Calibri"/>
            </a:endParaRPr>
          </a:p>
        </p:txBody>
      </p:sp>
      <p:sp>
        <p:nvSpPr>
          <p:cNvPr id="1170" name="Google Shape;1170;g3fafe51123f_1_253"/>
          <p:cNvSpPr txBox="1"/>
          <p:nvPr/>
        </p:nvSpPr>
        <p:spPr>
          <a:xfrm>
            <a:off x="2232071" y="4210225"/>
            <a:ext cx="2496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1001"/>
              <a:buFont typeface="Malgun Gothic"/>
              <a:buNone/>
            </a:pPr>
            <a:r>
              <a:rPr b="1" i="0" lang="en-US" sz="1001" u="none" cap="none" strike="noStrike">
                <a:solidFill>
                  <a:srgbClr val="B4552F"/>
                </a:solidFill>
                <a:latin typeface="Malgun Gothic"/>
                <a:ea typeface="Malgun Gothic"/>
                <a:cs typeface="Malgun Gothic"/>
                <a:sym typeface="Malgun Gothic"/>
              </a:rPr>
              <a:t>✕</a:t>
            </a:r>
            <a:endParaRPr b="0" i="0" sz="1001" u="none" cap="none" strike="noStrike">
              <a:solidFill>
                <a:schemeClr val="dk1"/>
              </a:solidFill>
              <a:latin typeface="Calibri"/>
              <a:ea typeface="Calibri"/>
              <a:cs typeface="Calibri"/>
              <a:sym typeface="Calibri"/>
            </a:endParaRPr>
          </a:p>
        </p:txBody>
      </p:sp>
      <p:sp>
        <p:nvSpPr>
          <p:cNvPr id="1171" name="Google Shape;1171;g3fafe51123f_1_253"/>
          <p:cNvSpPr txBox="1"/>
          <p:nvPr/>
        </p:nvSpPr>
        <p:spPr>
          <a:xfrm>
            <a:off x="2515093" y="4210225"/>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인덱스 구축 비용</a:t>
            </a:r>
            <a:endParaRPr b="0" i="0" sz="1092" u="none" cap="none" strike="noStrike">
              <a:solidFill>
                <a:schemeClr val="dk1"/>
              </a:solidFill>
              <a:latin typeface="Calibri"/>
              <a:ea typeface="Calibri"/>
              <a:cs typeface="Calibri"/>
              <a:sym typeface="Calibri"/>
            </a:endParaRPr>
          </a:p>
        </p:txBody>
      </p:sp>
      <p:sp>
        <p:nvSpPr>
          <p:cNvPr id="1172" name="Google Shape;1172;g3fafe51123f_1_253"/>
          <p:cNvSpPr txBox="1"/>
          <p:nvPr/>
        </p:nvSpPr>
        <p:spPr>
          <a:xfrm>
            <a:off x="2515093" y="4426658"/>
            <a:ext cx="4078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좌표 84만 건 전체 인덱싱 시간 과다</a:t>
            </a:r>
            <a:endParaRPr b="0" i="0" sz="956" u="none" cap="none" strike="noStrike">
              <a:solidFill>
                <a:schemeClr val="dk1"/>
              </a:solidFill>
              <a:latin typeface="Calibri"/>
              <a:ea typeface="Calibri"/>
              <a:cs typeface="Calibri"/>
              <a:sym typeface="Calibri"/>
            </a:endParaRPr>
          </a:p>
        </p:txBody>
      </p:sp>
      <p:sp>
        <p:nvSpPr>
          <p:cNvPr id="1173" name="Google Shape;1173;g3fafe51123f_1_253"/>
          <p:cNvSpPr/>
          <p:nvPr/>
        </p:nvSpPr>
        <p:spPr>
          <a:xfrm>
            <a:off x="7176622" y="2012595"/>
            <a:ext cx="4869900" cy="2664000"/>
          </a:xfrm>
          <a:prstGeom prst="roundRect">
            <a:avLst>
              <a:gd fmla="val 2500" name="adj"/>
            </a:avLst>
          </a:prstGeom>
          <a:solidFill>
            <a:srgbClr val="E9F2EC"/>
          </a:solidFill>
          <a:ln cap="flat" cmpd="sng" w="11550">
            <a:solidFill>
              <a:srgbClr val="C6DCCD"/>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g3fafe51123f_1_253"/>
          <p:cNvSpPr txBox="1"/>
          <p:nvPr/>
        </p:nvSpPr>
        <p:spPr>
          <a:xfrm>
            <a:off x="7459643" y="2229028"/>
            <a:ext cx="4328700" cy="26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275"/>
              <a:buFont typeface="Malgun Gothic"/>
              <a:buNone/>
            </a:pPr>
            <a:r>
              <a:rPr b="1" i="0" lang="en-US" sz="1275" u="none" cap="none" strike="noStrike">
                <a:solidFill>
                  <a:srgbClr val="1F7A4C"/>
                </a:solidFill>
                <a:latin typeface="Malgun Gothic"/>
                <a:ea typeface="Malgun Gothic"/>
                <a:cs typeface="Malgun Gothic"/>
                <a:sym typeface="Malgun Gothic"/>
              </a:rPr>
              <a:t>변경한 구조</a:t>
            </a:r>
            <a:endParaRPr b="0" i="0" sz="1275" u="none" cap="none" strike="noStrike">
              <a:solidFill>
                <a:schemeClr val="dk1"/>
              </a:solidFill>
              <a:latin typeface="Calibri"/>
              <a:ea typeface="Calibri"/>
              <a:cs typeface="Calibri"/>
              <a:sym typeface="Calibri"/>
            </a:endParaRPr>
          </a:p>
        </p:txBody>
      </p:sp>
      <p:sp>
        <p:nvSpPr>
          <p:cNvPr id="1175" name="Google Shape;1175;g3fafe51123f_1_253"/>
          <p:cNvSpPr/>
          <p:nvPr/>
        </p:nvSpPr>
        <p:spPr>
          <a:xfrm>
            <a:off x="7459643" y="2720165"/>
            <a:ext cx="282900" cy="282900"/>
          </a:xfrm>
          <a:prstGeom prst="roundRect">
            <a:avLst>
              <a:gd fmla="val 50000" name="adj"/>
            </a:avLst>
          </a:prstGeom>
          <a:solidFill>
            <a:srgbClr val="1F7A4C"/>
          </a:solidFill>
          <a:ln cap="flat" cmpd="sng" w="11550">
            <a:solidFill>
              <a:srgbClr val="1F7A4C"/>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g3fafe51123f_1_253"/>
          <p:cNvSpPr txBox="1"/>
          <p:nvPr/>
        </p:nvSpPr>
        <p:spPr>
          <a:xfrm>
            <a:off x="7459643" y="2745138"/>
            <a:ext cx="2829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10"/>
              <a:buFont typeface="Malgun Gothic"/>
              <a:buNone/>
            </a:pPr>
            <a:r>
              <a:rPr b="1" i="0" lang="en-US" sz="910" u="none" cap="none" strike="noStrike">
                <a:solidFill>
                  <a:srgbClr val="FFFFFF"/>
                </a:solidFill>
                <a:latin typeface="Malgun Gothic"/>
                <a:ea typeface="Malgun Gothic"/>
                <a:cs typeface="Malgun Gothic"/>
                <a:sym typeface="Malgun Gothic"/>
              </a:rPr>
              <a:t>1</a:t>
            </a:r>
            <a:endParaRPr b="0" i="0" sz="910" u="none" cap="none" strike="noStrike">
              <a:solidFill>
                <a:schemeClr val="dk1"/>
              </a:solidFill>
              <a:latin typeface="Calibri"/>
              <a:ea typeface="Calibri"/>
              <a:cs typeface="Calibri"/>
              <a:sym typeface="Calibri"/>
            </a:endParaRPr>
          </a:p>
        </p:txBody>
      </p:sp>
      <p:sp>
        <p:nvSpPr>
          <p:cNvPr id="1177" name="Google Shape;1177;g3fafe51123f_1_253"/>
          <p:cNvSpPr txBox="1"/>
          <p:nvPr/>
        </p:nvSpPr>
        <p:spPr>
          <a:xfrm>
            <a:off x="7825906" y="2728489"/>
            <a:ext cx="39126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BGE-M3</a:t>
            </a:r>
            <a:endParaRPr b="0" i="0" sz="1092" u="none" cap="none" strike="noStrike">
              <a:solidFill>
                <a:schemeClr val="dk1"/>
              </a:solidFill>
              <a:latin typeface="Calibri"/>
              <a:ea typeface="Calibri"/>
              <a:cs typeface="Calibri"/>
              <a:sym typeface="Calibri"/>
            </a:endParaRPr>
          </a:p>
        </p:txBody>
      </p:sp>
      <p:sp>
        <p:nvSpPr>
          <p:cNvPr id="1178" name="Google Shape;1178;g3fafe51123f_1_253"/>
          <p:cNvSpPr txBox="1"/>
          <p:nvPr/>
        </p:nvSpPr>
        <p:spPr>
          <a:xfrm>
            <a:off x="7825906" y="2961572"/>
            <a:ext cx="39126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관련 통계표 후보 검색까지만 사용</a:t>
            </a:r>
            <a:endParaRPr b="0" i="0" sz="956" u="none" cap="none" strike="noStrike">
              <a:solidFill>
                <a:schemeClr val="dk1"/>
              </a:solidFill>
              <a:latin typeface="Calibri"/>
              <a:ea typeface="Calibri"/>
              <a:cs typeface="Calibri"/>
              <a:sym typeface="Calibri"/>
            </a:endParaRPr>
          </a:p>
        </p:txBody>
      </p:sp>
      <p:sp>
        <p:nvSpPr>
          <p:cNvPr id="1179" name="Google Shape;1179;g3fafe51123f_1_253"/>
          <p:cNvSpPr/>
          <p:nvPr/>
        </p:nvSpPr>
        <p:spPr>
          <a:xfrm>
            <a:off x="7459643" y="3427736"/>
            <a:ext cx="282900" cy="282900"/>
          </a:xfrm>
          <a:prstGeom prst="roundRect">
            <a:avLst>
              <a:gd fmla="val 50000" name="adj"/>
            </a:avLst>
          </a:prstGeom>
          <a:solidFill>
            <a:srgbClr val="1F7A4C"/>
          </a:solidFill>
          <a:ln cap="flat" cmpd="sng" w="11550">
            <a:solidFill>
              <a:srgbClr val="1F7A4C"/>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g3fafe51123f_1_253"/>
          <p:cNvSpPr txBox="1"/>
          <p:nvPr/>
        </p:nvSpPr>
        <p:spPr>
          <a:xfrm>
            <a:off x="7459643" y="3452709"/>
            <a:ext cx="2829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10"/>
              <a:buFont typeface="Malgun Gothic"/>
              <a:buNone/>
            </a:pPr>
            <a:r>
              <a:rPr b="1" i="0" lang="en-US" sz="910" u="none" cap="none" strike="noStrike">
                <a:solidFill>
                  <a:srgbClr val="FFFFFF"/>
                </a:solidFill>
                <a:latin typeface="Malgun Gothic"/>
                <a:ea typeface="Malgun Gothic"/>
                <a:cs typeface="Malgun Gothic"/>
                <a:sym typeface="Malgun Gothic"/>
              </a:rPr>
              <a:t>2</a:t>
            </a:r>
            <a:endParaRPr b="0" i="0" sz="910" u="none" cap="none" strike="noStrike">
              <a:solidFill>
                <a:schemeClr val="dk1"/>
              </a:solidFill>
              <a:latin typeface="Calibri"/>
              <a:ea typeface="Calibri"/>
              <a:cs typeface="Calibri"/>
              <a:sym typeface="Calibri"/>
            </a:endParaRPr>
          </a:p>
        </p:txBody>
      </p:sp>
      <p:sp>
        <p:nvSpPr>
          <p:cNvPr id="1181" name="Google Shape;1181;g3fafe51123f_1_253"/>
          <p:cNvSpPr txBox="1"/>
          <p:nvPr/>
        </p:nvSpPr>
        <p:spPr>
          <a:xfrm>
            <a:off x="7825906" y="3436060"/>
            <a:ext cx="39126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PostgreSQL</a:t>
            </a:r>
            <a:endParaRPr b="0" i="0" sz="1092" u="none" cap="none" strike="noStrike">
              <a:solidFill>
                <a:schemeClr val="dk1"/>
              </a:solidFill>
              <a:latin typeface="Calibri"/>
              <a:ea typeface="Calibri"/>
              <a:cs typeface="Calibri"/>
              <a:sym typeface="Calibri"/>
            </a:endParaRPr>
          </a:p>
        </p:txBody>
      </p:sp>
      <p:sp>
        <p:nvSpPr>
          <p:cNvPr id="1182" name="Google Shape;1182;g3fafe51123f_1_253"/>
          <p:cNvSpPr txBox="1"/>
          <p:nvPr/>
        </p:nvSpPr>
        <p:spPr>
          <a:xfrm>
            <a:off x="7825906" y="3669142"/>
            <a:ext cx="39126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실제 존재하는 ITEM·OBJ·기간 조합만 생성</a:t>
            </a:r>
            <a:endParaRPr b="0" i="0" sz="956" u="none" cap="none" strike="noStrike">
              <a:solidFill>
                <a:schemeClr val="dk1"/>
              </a:solidFill>
              <a:latin typeface="Calibri"/>
              <a:ea typeface="Calibri"/>
              <a:cs typeface="Calibri"/>
              <a:sym typeface="Calibri"/>
            </a:endParaRPr>
          </a:p>
        </p:txBody>
      </p:sp>
      <p:sp>
        <p:nvSpPr>
          <p:cNvPr id="1183" name="Google Shape;1183;g3fafe51123f_1_253"/>
          <p:cNvSpPr/>
          <p:nvPr/>
        </p:nvSpPr>
        <p:spPr>
          <a:xfrm>
            <a:off x="7459643" y="4135306"/>
            <a:ext cx="282900" cy="282900"/>
          </a:xfrm>
          <a:prstGeom prst="roundRect">
            <a:avLst>
              <a:gd fmla="val 50000" name="adj"/>
            </a:avLst>
          </a:prstGeom>
          <a:solidFill>
            <a:srgbClr val="1F7A4C"/>
          </a:solidFill>
          <a:ln cap="flat" cmpd="sng" w="11550">
            <a:solidFill>
              <a:srgbClr val="1F7A4C"/>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g3fafe51123f_1_253"/>
          <p:cNvSpPr txBox="1"/>
          <p:nvPr/>
        </p:nvSpPr>
        <p:spPr>
          <a:xfrm>
            <a:off x="7459643" y="4160279"/>
            <a:ext cx="282900" cy="23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10"/>
              <a:buFont typeface="Malgun Gothic"/>
              <a:buNone/>
            </a:pPr>
            <a:r>
              <a:rPr b="1" i="0" lang="en-US" sz="910" u="none" cap="none" strike="noStrike">
                <a:solidFill>
                  <a:srgbClr val="FFFFFF"/>
                </a:solidFill>
                <a:latin typeface="Malgun Gothic"/>
                <a:ea typeface="Malgun Gothic"/>
                <a:cs typeface="Malgun Gothic"/>
                <a:sym typeface="Malgun Gothic"/>
              </a:rPr>
              <a:t>3</a:t>
            </a:r>
            <a:endParaRPr b="0" i="0" sz="910" u="none" cap="none" strike="noStrike">
              <a:solidFill>
                <a:schemeClr val="dk1"/>
              </a:solidFill>
              <a:latin typeface="Calibri"/>
              <a:ea typeface="Calibri"/>
              <a:cs typeface="Calibri"/>
              <a:sym typeface="Calibri"/>
            </a:endParaRPr>
          </a:p>
        </p:txBody>
      </p:sp>
      <p:sp>
        <p:nvSpPr>
          <p:cNvPr id="1185" name="Google Shape;1185;g3fafe51123f_1_253"/>
          <p:cNvSpPr txBox="1"/>
          <p:nvPr/>
        </p:nvSpPr>
        <p:spPr>
          <a:xfrm>
            <a:off x="7825906" y="4143630"/>
            <a:ext cx="39126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preflight</a:t>
            </a:r>
            <a:endParaRPr b="0" i="0" sz="1092" u="none" cap="none" strike="noStrike">
              <a:solidFill>
                <a:schemeClr val="dk1"/>
              </a:solidFill>
              <a:latin typeface="Calibri"/>
              <a:ea typeface="Calibri"/>
              <a:cs typeface="Calibri"/>
              <a:sym typeface="Calibri"/>
            </a:endParaRPr>
          </a:p>
        </p:txBody>
      </p:sp>
      <p:sp>
        <p:nvSpPr>
          <p:cNvPr id="1186" name="Google Shape;1186;g3fafe51123f_1_253"/>
          <p:cNvSpPr txBox="1"/>
          <p:nvPr/>
        </p:nvSpPr>
        <p:spPr>
          <a:xfrm>
            <a:off x="7825906" y="4376712"/>
            <a:ext cx="39126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5종 검사를 통과한 좌표만 공식값 조회</a:t>
            </a:r>
            <a:endParaRPr b="0" i="0" sz="956" u="none" cap="none" strike="noStrike">
              <a:solidFill>
                <a:schemeClr val="dk1"/>
              </a:solidFill>
              <a:latin typeface="Calibri"/>
              <a:ea typeface="Calibri"/>
              <a:cs typeface="Calibri"/>
              <a:sym typeface="Calibri"/>
            </a:endParaRPr>
          </a:p>
        </p:txBody>
      </p:sp>
      <p:sp>
        <p:nvSpPr>
          <p:cNvPr id="1187" name="Google Shape;1187;g3fafe51123f_1_253"/>
          <p:cNvSpPr/>
          <p:nvPr/>
        </p:nvSpPr>
        <p:spPr>
          <a:xfrm>
            <a:off x="1949050" y="4817903"/>
            <a:ext cx="3196500" cy="649200"/>
          </a:xfrm>
          <a:prstGeom prst="roundRect">
            <a:avLst>
              <a:gd fmla="val 10256" name="adj"/>
            </a:avLst>
          </a:prstGeom>
          <a:solidFill>
            <a:srgbClr val="FFFFFF"/>
          </a:solidFill>
          <a:ln cap="flat" cmpd="sng" w="11550">
            <a:solidFill>
              <a:srgbClr val="D6DED8"/>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g3fafe51123f_1_253"/>
          <p:cNvSpPr txBox="1"/>
          <p:nvPr/>
        </p:nvSpPr>
        <p:spPr>
          <a:xfrm>
            <a:off x="2182126" y="4917796"/>
            <a:ext cx="27468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047"/>
              <a:buFont typeface="Malgun Gothic"/>
              <a:buNone/>
            </a:pPr>
            <a:r>
              <a:rPr b="1" i="0" lang="en-US" sz="1047" u="none" cap="none" strike="noStrike">
                <a:solidFill>
                  <a:srgbClr val="1F7A4C"/>
                </a:solidFill>
                <a:latin typeface="Malgun Gothic"/>
                <a:ea typeface="Malgun Gothic"/>
                <a:cs typeface="Malgun Gothic"/>
                <a:sym typeface="Malgun Gothic"/>
              </a:rPr>
              <a:t>오류 차단</a:t>
            </a:r>
            <a:endParaRPr b="0" i="0" sz="1047" u="none" cap="none" strike="noStrike">
              <a:solidFill>
                <a:schemeClr val="dk1"/>
              </a:solidFill>
              <a:latin typeface="Calibri"/>
              <a:ea typeface="Calibri"/>
              <a:cs typeface="Calibri"/>
              <a:sym typeface="Calibri"/>
            </a:endParaRPr>
          </a:p>
        </p:txBody>
      </p:sp>
      <p:sp>
        <p:nvSpPr>
          <p:cNvPr id="1189" name="Google Shape;1189;g3fafe51123f_1_253"/>
          <p:cNvSpPr txBox="1"/>
          <p:nvPr/>
        </p:nvSpPr>
        <p:spPr>
          <a:xfrm>
            <a:off x="2182126" y="5150878"/>
            <a:ext cx="2746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10"/>
              <a:buFont typeface="Malgun Gothic"/>
              <a:buNone/>
            </a:pPr>
            <a:r>
              <a:rPr b="0" i="0" lang="en-US" sz="910" u="none" cap="none" strike="noStrike">
                <a:solidFill>
                  <a:srgbClr val="5F6B63"/>
                </a:solidFill>
                <a:latin typeface="Malgun Gothic"/>
                <a:ea typeface="Malgun Gothic"/>
                <a:cs typeface="Malgun Gothic"/>
                <a:sym typeface="Malgun Gothic"/>
              </a:rPr>
              <a:t>비슷한 좌표를 정답으로 채택하지 않음</a:t>
            </a:r>
            <a:endParaRPr b="0" i="0" sz="910" u="none" cap="none" strike="noStrike">
              <a:solidFill>
                <a:schemeClr val="dk1"/>
              </a:solidFill>
              <a:latin typeface="Calibri"/>
              <a:ea typeface="Calibri"/>
              <a:cs typeface="Calibri"/>
              <a:sym typeface="Calibri"/>
            </a:endParaRPr>
          </a:p>
        </p:txBody>
      </p:sp>
      <p:sp>
        <p:nvSpPr>
          <p:cNvPr id="1190" name="Google Shape;1190;g3fafe51123f_1_253"/>
          <p:cNvSpPr/>
          <p:nvPr/>
        </p:nvSpPr>
        <p:spPr>
          <a:xfrm>
            <a:off x="5378604" y="4817903"/>
            <a:ext cx="3196500" cy="649200"/>
          </a:xfrm>
          <a:prstGeom prst="roundRect">
            <a:avLst>
              <a:gd fmla="val 10256" name="adj"/>
            </a:avLst>
          </a:prstGeom>
          <a:solidFill>
            <a:srgbClr val="FFFFFF"/>
          </a:solidFill>
          <a:ln cap="flat" cmpd="sng" w="11550">
            <a:solidFill>
              <a:srgbClr val="D6DED8"/>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g3fafe51123f_1_253"/>
          <p:cNvSpPr txBox="1"/>
          <p:nvPr/>
        </p:nvSpPr>
        <p:spPr>
          <a:xfrm>
            <a:off x="5611680" y="4917796"/>
            <a:ext cx="27468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047"/>
              <a:buFont typeface="Malgun Gothic"/>
              <a:buNone/>
            </a:pPr>
            <a:r>
              <a:rPr b="1" i="0" lang="en-US" sz="1047" u="none" cap="none" strike="noStrike">
                <a:solidFill>
                  <a:srgbClr val="1F7A4C"/>
                </a:solidFill>
                <a:latin typeface="Malgun Gothic"/>
                <a:ea typeface="Malgun Gothic"/>
                <a:cs typeface="Malgun Gothic"/>
                <a:sym typeface="Malgun Gothic"/>
              </a:rPr>
              <a:t>호출 감소</a:t>
            </a:r>
            <a:endParaRPr b="0" i="0" sz="1047" u="none" cap="none" strike="noStrike">
              <a:solidFill>
                <a:schemeClr val="dk1"/>
              </a:solidFill>
              <a:latin typeface="Calibri"/>
              <a:ea typeface="Calibri"/>
              <a:cs typeface="Calibri"/>
              <a:sym typeface="Calibri"/>
            </a:endParaRPr>
          </a:p>
        </p:txBody>
      </p:sp>
      <p:sp>
        <p:nvSpPr>
          <p:cNvPr id="1192" name="Google Shape;1192;g3fafe51123f_1_253"/>
          <p:cNvSpPr txBox="1"/>
          <p:nvPr/>
        </p:nvSpPr>
        <p:spPr>
          <a:xfrm>
            <a:off x="5611680" y="5150878"/>
            <a:ext cx="2746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10"/>
              <a:buFont typeface="Malgun Gothic"/>
              <a:buNone/>
            </a:pPr>
            <a:r>
              <a:rPr b="0" i="0" lang="en-US" sz="910" u="none" cap="none" strike="noStrike">
                <a:solidFill>
                  <a:srgbClr val="5F6B63"/>
                </a:solidFill>
                <a:latin typeface="Malgun Gothic"/>
                <a:ea typeface="Malgun Gothic"/>
                <a:cs typeface="Malgun Gothic"/>
                <a:sym typeface="Malgun Gothic"/>
              </a:rPr>
              <a:t>존재하지 않는 조합의 API 호출 제거</a:t>
            </a:r>
            <a:endParaRPr b="0" i="0" sz="910" u="none" cap="none" strike="noStrike">
              <a:solidFill>
                <a:schemeClr val="dk1"/>
              </a:solidFill>
              <a:latin typeface="Calibri"/>
              <a:ea typeface="Calibri"/>
              <a:cs typeface="Calibri"/>
              <a:sym typeface="Calibri"/>
            </a:endParaRPr>
          </a:p>
        </p:txBody>
      </p:sp>
      <p:sp>
        <p:nvSpPr>
          <p:cNvPr id="1193" name="Google Shape;1193;g3fafe51123f_1_253"/>
          <p:cNvSpPr/>
          <p:nvPr/>
        </p:nvSpPr>
        <p:spPr>
          <a:xfrm>
            <a:off x="8808157" y="4817903"/>
            <a:ext cx="3196500" cy="649200"/>
          </a:xfrm>
          <a:prstGeom prst="roundRect">
            <a:avLst>
              <a:gd fmla="val 10256" name="adj"/>
            </a:avLst>
          </a:prstGeom>
          <a:solidFill>
            <a:srgbClr val="FFFFFF"/>
          </a:solidFill>
          <a:ln cap="flat" cmpd="sng" w="11550">
            <a:solidFill>
              <a:srgbClr val="D6DED8"/>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g3fafe51123f_1_253"/>
          <p:cNvSpPr txBox="1"/>
          <p:nvPr/>
        </p:nvSpPr>
        <p:spPr>
          <a:xfrm>
            <a:off x="9041233" y="4917796"/>
            <a:ext cx="2746800" cy="23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047"/>
              <a:buFont typeface="Malgun Gothic"/>
              <a:buNone/>
            </a:pPr>
            <a:r>
              <a:rPr b="1" i="0" lang="en-US" sz="1047" u="none" cap="none" strike="noStrike">
                <a:solidFill>
                  <a:srgbClr val="1F7A4C"/>
                </a:solidFill>
                <a:latin typeface="Malgun Gothic"/>
                <a:ea typeface="Malgun Gothic"/>
                <a:cs typeface="Malgun Gothic"/>
                <a:sym typeface="Malgun Gothic"/>
              </a:rPr>
              <a:t>추적 가능</a:t>
            </a:r>
            <a:endParaRPr b="0" i="0" sz="1047" u="none" cap="none" strike="noStrike">
              <a:solidFill>
                <a:schemeClr val="dk1"/>
              </a:solidFill>
              <a:latin typeface="Calibri"/>
              <a:ea typeface="Calibri"/>
              <a:cs typeface="Calibri"/>
              <a:sym typeface="Calibri"/>
            </a:endParaRPr>
          </a:p>
        </p:txBody>
      </p:sp>
      <p:sp>
        <p:nvSpPr>
          <p:cNvPr id="1195" name="Google Shape;1195;g3fafe51123f_1_253"/>
          <p:cNvSpPr txBox="1"/>
          <p:nvPr/>
        </p:nvSpPr>
        <p:spPr>
          <a:xfrm>
            <a:off x="9041233" y="5150878"/>
            <a:ext cx="2746800" cy="2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10"/>
              <a:buFont typeface="Malgun Gothic"/>
              <a:buNone/>
            </a:pPr>
            <a:r>
              <a:rPr b="0" i="0" lang="en-US" sz="910" u="none" cap="none" strike="noStrike">
                <a:solidFill>
                  <a:srgbClr val="5F6B63"/>
                </a:solidFill>
                <a:latin typeface="Malgun Gothic"/>
                <a:ea typeface="Malgun Gothic"/>
                <a:cs typeface="Malgun Gothic"/>
                <a:sym typeface="Malgun Gothic"/>
              </a:rPr>
              <a:t>재현성과 오류 원인 추적이 쉬워짐</a:t>
            </a:r>
            <a:endParaRPr b="0" i="0" sz="910" u="none" cap="none" strike="noStrike">
              <a:solidFill>
                <a:schemeClr val="dk1"/>
              </a:solidFill>
              <a:latin typeface="Calibri"/>
              <a:ea typeface="Calibri"/>
              <a:cs typeface="Calibri"/>
              <a:sym typeface="Calibri"/>
            </a:endParaRPr>
          </a:p>
        </p:txBody>
      </p:sp>
      <p:sp>
        <p:nvSpPr>
          <p:cNvPr id="1196" name="Google Shape;1196;g3fafe51123f_1_253"/>
          <p:cNvSpPr txBox="1"/>
          <p:nvPr/>
        </p:nvSpPr>
        <p:spPr>
          <a:xfrm>
            <a:off x="1949050" y="5592068"/>
            <a:ext cx="10099500" cy="2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183"/>
              <a:buFont typeface="Malgun Gothic"/>
              <a:buNone/>
            </a:pPr>
            <a:r>
              <a:rPr b="1" i="0" lang="en-US" sz="1183" u="none" cap="none" strike="noStrike">
                <a:solidFill>
                  <a:srgbClr val="1F7A4C"/>
                </a:solidFill>
                <a:latin typeface="Malgun Gothic"/>
                <a:ea typeface="Malgun Gothic"/>
                <a:cs typeface="Malgun Gothic"/>
                <a:sym typeface="Malgun Gothic"/>
              </a:rPr>
              <a:t>공식 통계에서는 비슷한 좌표가 아니라 정확한 좌표만 정답입니다.</a:t>
            </a:r>
            <a:endParaRPr b="0" i="0" sz="1183" u="none" cap="none" strike="noStrike">
              <a:solidFill>
                <a:schemeClr val="dk1"/>
              </a:solidFill>
              <a:latin typeface="Calibri"/>
              <a:ea typeface="Calibri"/>
              <a:cs typeface="Calibri"/>
              <a:sym typeface="Calibri"/>
            </a:endParaRPr>
          </a:p>
        </p:txBody>
      </p:sp>
      <p:sp>
        <p:nvSpPr>
          <p:cNvPr id="1197" name="Google Shape;1197;g3fafe51123f_1_253"/>
          <p:cNvSpPr/>
          <p:nvPr/>
        </p:nvSpPr>
        <p:spPr>
          <a:xfrm>
            <a:off x="2057400" y="329184"/>
            <a:ext cx="1965900" cy="292500"/>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g3fafe51123f_1_253"/>
          <p:cNvSpPr/>
          <p:nvPr/>
        </p:nvSpPr>
        <p:spPr>
          <a:xfrm>
            <a:off x="2103120" y="329184"/>
            <a:ext cx="1874400" cy="292500"/>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04 · 검색 전략</a:t>
            </a:r>
            <a:endParaRPr b="0" i="0" sz="850" u="none" cap="none" strike="noStrike">
              <a:solidFill>
                <a:schemeClr val="dk1"/>
              </a:solidFill>
              <a:latin typeface="Malgun Gothic"/>
              <a:ea typeface="Malgun Gothic"/>
              <a:cs typeface="Malgun Gothic"/>
              <a:sym typeface="Malgun Gothic"/>
            </a:endParaRPr>
          </a:p>
        </p:txBody>
      </p:sp>
      <p:sp>
        <p:nvSpPr>
          <p:cNvPr id="1199" name="Google Shape;1199;g3fafe51123f_1_253"/>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g3fafe51123f_1_253"/>
          <p:cNvSpPr/>
          <p:nvPr/>
        </p:nvSpPr>
        <p:spPr>
          <a:xfrm>
            <a:off x="2190700" y="304800"/>
            <a:ext cx="18096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트러블슈팅</a:t>
            </a:r>
            <a:endParaRPr b="0" i="0" sz="1400" u="none" cap="none" strike="noStrike">
              <a:solidFill>
                <a:srgbClr val="000000"/>
              </a:solidFill>
              <a:latin typeface="Arial"/>
              <a:ea typeface="Arial"/>
              <a:cs typeface="Arial"/>
              <a:sym typeface="Arial"/>
            </a:endParaRPr>
          </a:p>
        </p:txBody>
      </p:sp>
      <p:sp>
        <p:nvSpPr>
          <p:cNvPr id="1201" name="Google Shape;1201;g3fafe51123f_1_253"/>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g3fafe51123f_1_253"/>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g3fafe51123f_1_253"/>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g3fafe51123f_1_253"/>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g3fafe51123f_1_253"/>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g3fafe51123f_1_253"/>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207" name="Google Shape;1207;g3fafe51123f_1_253"/>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208" name="Google Shape;1208;g3fafe51123f_1_253"/>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1209" name="Google Shape;1209;g3fafe51123f_1_253"/>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1210" name="Google Shape;1210;g3fafe51123f_1_253"/>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211" name="Google Shape;1211;g3fafe51123f_1_253"/>
          <p:cNvGrpSpPr/>
          <p:nvPr/>
        </p:nvGrpSpPr>
        <p:grpSpPr>
          <a:xfrm>
            <a:off x="283429" y="3067107"/>
            <a:ext cx="209400" cy="209700"/>
            <a:chOff x="-3275292" y="2173036"/>
            <a:chExt cx="209400" cy="209700"/>
          </a:xfrm>
        </p:grpSpPr>
        <p:sp>
          <p:nvSpPr>
            <p:cNvPr id="1212" name="Google Shape;1212;g3fafe51123f_1_253"/>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g3fafe51123f_1_253"/>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4" name="Google Shape;1214;g3fafe51123f_1_253"/>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g3fafe51123f_1_253"/>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g3fafe51123f_1_253"/>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g3fafe51123f_1_253"/>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g3fafe51123f_1_253"/>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g3fafe51123f_1_253"/>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224" name="Shape 1224"/>
        <p:cNvGrpSpPr/>
        <p:nvPr/>
      </p:nvGrpSpPr>
      <p:grpSpPr>
        <a:xfrm>
          <a:off x="0" y="0"/>
          <a:ext cx="0" cy="0"/>
          <a:chOff x="0" y="0"/>
          <a:chExt cx="0" cy="0"/>
        </a:xfrm>
      </p:grpSpPr>
      <p:sp>
        <p:nvSpPr>
          <p:cNvPr id="1225" name="Google Shape;1225;g3fafe51123f_1_384"/>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26" name="Google Shape;1226;g3fafe51123f_1_384"/>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1227" name="Google Shape;1227;g3fafe51123f_1_384"/>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g3fafe51123f_1_384"/>
          <p:cNvSpPr/>
          <p:nvPr/>
        </p:nvSpPr>
        <p:spPr>
          <a:xfrm>
            <a:off x="393067" y="5957346"/>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2026.09.02</a:t>
            </a:r>
            <a:endParaRPr b="0" i="0" sz="730" u="none" cap="none" strike="noStrike">
              <a:solidFill>
                <a:schemeClr val="dk1"/>
              </a:solidFill>
              <a:latin typeface="Malgun Gothic"/>
              <a:ea typeface="Malgun Gothic"/>
              <a:cs typeface="Malgun Gothic"/>
              <a:sym typeface="Malgun Gothic"/>
            </a:endParaRPr>
          </a:p>
        </p:txBody>
      </p:sp>
      <p:sp>
        <p:nvSpPr>
          <p:cNvPr id="1229" name="Google Shape;1229;g3fafe51123f_1_384"/>
          <p:cNvSpPr/>
          <p:nvPr/>
        </p:nvSpPr>
        <p:spPr>
          <a:xfrm>
            <a:off x="256032" y="6199632"/>
            <a:ext cx="1234500" cy="1464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920" u="none" cap="none" strike="noStrike">
                <a:solidFill>
                  <a:srgbClr val="8A9B92"/>
                </a:solidFill>
                <a:latin typeface="Malgun Gothic"/>
                <a:ea typeface="Malgun Gothic"/>
                <a:cs typeface="Malgun Gothic"/>
                <a:sym typeface="Malgun Gothic"/>
              </a:rPr>
              <a:t>최종 프로젝트</a:t>
            </a:r>
            <a:endParaRPr b="0" i="0" sz="920" u="none" cap="none" strike="noStrike">
              <a:solidFill>
                <a:schemeClr val="dk1"/>
              </a:solidFill>
              <a:latin typeface="Malgun Gothic"/>
              <a:ea typeface="Malgun Gothic"/>
              <a:cs typeface="Malgun Gothic"/>
              <a:sym typeface="Malgun Gothic"/>
            </a:endParaRPr>
          </a:p>
        </p:txBody>
      </p:sp>
      <p:sp>
        <p:nvSpPr>
          <p:cNvPr id="1230" name="Google Shape;1230;g3fafe51123f_1_384"/>
          <p:cNvSpPr/>
          <p:nvPr/>
        </p:nvSpPr>
        <p:spPr>
          <a:xfrm>
            <a:off x="2057400" y="6510528"/>
            <a:ext cx="25602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Arial"/>
                <a:ea typeface="Arial"/>
                <a:cs typeface="Arial"/>
                <a:sym typeface="Arial"/>
              </a:rPr>
              <a:t>KOSIS 뉴스 수치 주장 검증 PoC</a:t>
            </a:r>
            <a:endParaRPr b="0" i="0" sz="650" u="none" cap="none" strike="noStrike">
              <a:solidFill>
                <a:schemeClr val="dk1"/>
              </a:solidFill>
              <a:latin typeface="Arial"/>
              <a:ea typeface="Arial"/>
              <a:cs typeface="Arial"/>
              <a:sym typeface="Arial"/>
            </a:endParaRPr>
          </a:p>
        </p:txBody>
      </p:sp>
      <p:sp>
        <p:nvSpPr>
          <p:cNvPr id="1231" name="Google Shape;1231;g3fafe51123f_1_384"/>
          <p:cNvSpPr txBox="1"/>
          <p:nvPr/>
        </p:nvSpPr>
        <p:spPr>
          <a:xfrm>
            <a:off x="1929750" y="941225"/>
            <a:ext cx="10099500" cy="74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21"/>
              </a:buClr>
              <a:buSzPts val="2458"/>
              <a:buFont typeface="Malgun Gothic"/>
              <a:buNone/>
            </a:pPr>
            <a:r>
              <a:rPr b="1" lang="en-US" sz="2458">
                <a:solidFill>
                  <a:srgbClr val="1F2421"/>
                </a:solidFill>
                <a:latin typeface="Malgun Gothic"/>
                <a:ea typeface="Malgun Gothic"/>
                <a:cs typeface="Malgun Gothic"/>
                <a:sym typeface="Malgun Gothic"/>
              </a:rPr>
              <a:t>같은 통계표라도 연도에 따라 달라지는 통계표명</a:t>
            </a:r>
            <a:endParaRPr b="0" i="0" sz="2458" u="none" cap="none" strike="noStrike">
              <a:solidFill>
                <a:schemeClr val="dk1"/>
              </a:solidFill>
              <a:latin typeface="Calibri"/>
              <a:ea typeface="Calibri"/>
              <a:cs typeface="Calibri"/>
              <a:sym typeface="Calibri"/>
            </a:endParaRPr>
          </a:p>
        </p:txBody>
      </p:sp>
      <p:sp>
        <p:nvSpPr>
          <p:cNvPr id="1232" name="Google Shape;1232;g3fafe51123f_1_384"/>
          <p:cNvSpPr txBox="1"/>
          <p:nvPr/>
        </p:nvSpPr>
        <p:spPr>
          <a:xfrm>
            <a:off x="1929750" y="1522642"/>
            <a:ext cx="10099500" cy="2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1183"/>
              <a:buFont typeface="Malgun Gothic"/>
              <a:buNone/>
            </a:pPr>
            <a:r>
              <a:rPr b="0" i="0" lang="en-US" sz="1183" u="none" cap="none" strike="noStrike">
                <a:solidFill>
                  <a:srgbClr val="5F6B63"/>
                </a:solidFill>
                <a:latin typeface="Malgun Gothic"/>
                <a:ea typeface="Malgun Gothic"/>
                <a:cs typeface="Malgun Gothic"/>
                <a:sym typeface="Malgun Gothic"/>
              </a:rPr>
              <a:t>표 하나만 찾아서는 시계열 전체를 덮을 수 없습니다.</a:t>
            </a:r>
            <a:endParaRPr b="0" i="0" sz="1183" u="none" cap="none" strike="noStrike">
              <a:solidFill>
                <a:schemeClr val="dk1"/>
              </a:solidFill>
              <a:latin typeface="Calibri"/>
              <a:ea typeface="Calibri"/>
              <a:cs typeface="Calibri"/>
              <a:sym typeface="Calibri"/>
            </a:endParaRPr>
          </a:p>
        </p:txBody>
      </p:sp>
      <p:sp>
        <p:nvSpPr>
          <p:cNvPr id="1233" name="Google Shape;1233;g3fafe51123f_1_384"/>
          <p:cNvSpPr/>
          <p:nvPr/>
        </p:nvSpPr>
        <p:spPr>
          <a:xfrm>
            <a:off x="1929750" y="1990676"/>
            <a:ext cx="3163200" cy="1248600"/>
          </a:xfrm>
          <a:prstGeom prst="roundRect">
            <a:avLst>
              <a:gd fmla="val 5333" name="adj"/>
            </a:avLst>
          </a:prstGeom>
          <a:solidFill>
            <a:srgbClr val="FFFFFF"/>
          </a:solidFill>
          <a:ln cap="flat" cmpd="sng" w="11550">
            <a:solidFill>
              <a:srgbClr val="D6DED8"/>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g3fafe51123f_1_384"/>
          <p:cNvSpPr txBox="1"/>
          <p:nvPr/>
        </p:nvSpPr>
        <p:spPr>
          <a:xfrm>
            <a:off x="2179475" y="2190460"/>
            <a:ext cx="2664000" cy="2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366"/>
              <a:buFont typeface="Malgun Gothic"/>
              <a:buNone/>
            </a:pPr>
            <a:r>
              <a:rPr b="1" i="0" lang="en-US" sz="1366" u="none" cap="none" strike="noStrike">
                <a:solidFill>
                  <a:srgbClr val="1F7A4C"/>
                </a:solidFill>
                <a:latin typeface="Malgun Gothic"/>
                <a:ea typeface="Malgun Gothic"/>
                <a:cs typeface="Malgun Gothic"/>
                <a:sym typeface="Malgun Gothic"/>
              </a:rPr>
              <a:t>2007 – 2012</a:t>
            </a:r>
            <a:endParaRPr b="0" i="0" sz="1366" u="none" cap="none" strike="noStrike">
              <a:solidFill>
                <a:schemeClr val="dk1"/>
              </a:solidFill>
              <a:latin typeface="Calibri"/>
              <a:ea typeface="Calibri"/>
              <a:cs typeface="Calibri"/>
              <a:sym typeface="Calibri"/>
            </a:endParaRPr>
          </a:p>
        </p:txBody>
      </p:sp>
      <p:sp>
        <p:nvSpPr>
          <p:cNvPr id="1235" name="Google Shape;1235;g3fafe51123f_1_384"/>
          <p:cNvSpPr txBox="1"/>
          <p:nvPr/>
        </p:nvSpPr>
        <p:spPr>
          <a:xfrm>
            <a:off x="2179475" y="2540083"/>
            <a:ext cx="2664000" cy="5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47"/>
              <a:buFont typeface="Malgun Gothic"/>
              <a:buNone/>
            </a:pPr>
            <a:r>
              <a:rPr b="0" i="0" lang="en-US" sz="1047" u="none" cap="none" strike="noStrike">
                <a:solidFill>
                  <a:srgbClr val="1F2421"/>
                </a:solidFill>
                <a:latin typeface="Malgun Gothic"/>
                <a:ea typeface="Malgun Gothic"/>
                <a:cs typeface="Malgun Gothic"/>
                <a:sym typeface="Malgun Gothic"/>
              </a:rPr>
              <a:t>로봇 단품 및 부품 수입현황</a:t>
            </a:r>
            <a:endParaRPr b="0" i="0" sz="1047" u="none" cap="none" strike="noStrike">
              <a:solidFill>
                <a:schemeClr val="dk1"/>
              </a:solidFill>
              <a:latin typeface="Calibri"/>
              <a:ea typeface="Calibri"/>
              <a:cs typeface="Calibri"/>
              <a:sym typeface="Calibri"/>
            </a:endParaRPr>
          </a:p>
        </p:txBody>
      </p:sp>
      <p:sp>
        <p:nvSpPr>
          <p:cNvPr id="1236" name="Google Shape;1236;g3fafe51123f_1_384"/>
          <p:cNvSpPr txBox="1"/>
          <p:nvPr/>
        </p:nvSpPr>
        <p:spPr>
          <a:xfrm>
            <a:off x="5092930" y="2406894"/>
            <a:ext cx="266400" cy="33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3"/>
              </a:buClr>
              <a:buSzPts val="1366"/>
              <a:buFont typeface="Malgun Gothic"/>
              <a:buNone/>
            </a:pPr>
            <a:r>
              <a:rPr b="0" i="0" lang="en-US" sz="1366" u="none" cap="none" strike="noStrike">
                <a:solidFill>
                  <a:srgbClr val="5F6B63"/>
                </a:solidFill>
                <a:latin typeface="Malgun Gothic"/>
                <a:ea typeface="Malgun Gothic"/>
                <a:cs typeface="Malgun Gothic"/>
                <a:sym typeface="Malgun Gothic"/>
              </a:rPr>
              <a:t>→</a:t>
            </a:r>
            <a:endParaRPr b="0" i="0" sz="1366" u="none" cap="none" strike="noStrike">
              <a:solidFill>
                <a:schemeClr val="dk1"/>
              </a:solidFill>
              <a:latin typeface="Calibri"/>
              <a:ea typeface="Calibri"/>
              <a:cs typeface="Calibri"/>
              <a:sym typeface="Calibri"/>
            </a:endParaRPr>
          </a:p>
        </p:txBody>
      </p:sp>
      <p:sp>
        <p:nvSpPr>
          <p:cNvPr id="1237" name="Google Shape;1237;g3fafe51123f_1_384"/>
          <p:cNvSpPr/>
          <p:nvPr/>
        </p:nvSpPr>
        <p:spPr>
          <a:xfrm>
            <a:off x="5359304" y="1990676"/>
            <a:ext cx="3163200" cy="1248600"/>
          </a:xfrm>
          <a:prstGeom prst="roundRect">
            <a:avLst>
              <a:gd fmla="val 5333" name="adj"/>
            </a:avLst>
          </a:prstGeom>
          <a:solidFill>
            <a:srgbClr val="FFFFFF"/>
          </a:solidFill>
          <a:ln cap="flat" cmpd="sng" w="11550">
            <a:solidFill>
              <a:srgbClr val="D6DED8"/>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g3fafe51123f_1_384"/>
          <p:cNvSpPr txBox="1"/>
          <p:nvPr/>
        </p:nvSpPr>
        <p:spPr>
          <a:xfrm>
            <a:off x="5609028" y="2190460"/>
            <a:ext cx="2664000" cy="2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366"/>
              <a:buFont typeface="Malgun Gothic"/>
              <a:buNone/>
            </a:pPr>
            <a:r>
              <a:rPr b="1" i="0" lang="en-US" sz="1366" u="none" cap="none" strike="noStrike">
                <a:solidFill>
                  <a:srgbClr val="1F7A4C"/>
                </a:solidFill>
                <a:latin typeface="Malgun Gothic"/>
                <a:ea typeface="Malgun Gothic"/>
                <a:cs typeface="Malgun Gothic"/>
                <a:sym typeface="Malgun Gothic"/>
              </a:rPr>
              <a:t>2013 – 2018</a:t>
            </a:r>
            <a:endParaRPr b="0" i="0" sz="1366" u="none" cap="none" strike="noStrike">
              <a:solidFill>
                <a:schemeClr val="dk1"/>
              </a:solidFill>
              <a:latin typeface="Calibri"/>
              <a:ea typeface="Calibri"/>
              <a:cs typeface="Calibri"/>
              <a:sym typeface="Calibri"/>
            </a:endParaRPr>
          </a:p>
        </p:txBody>
      </p:sp>
      <p:sp>
        <p:nvSpPr>
          <p:cNvPr id="1239" name="Google Shape;1239;g3fafe51123f_1_384"/>
          <p:cNvSpPr txBox="1"/>
          <p:nvPr/>
        </p:nvSpPr>
        <p:spPr>
          <a:xfrm>
            <a:off x="5609028" y="2540083"/>
            <a:ext cx="2664000" cy="5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47"/>
              <a:buFont typeface="Malgun Gothic"/>
              <a:buNone/>
            </a:pPr>
            <a:r>
              <a:rPr b="0" i="0" lang="en-US" sz="1047" u="none" cap="none" strike="noStrike">
                <a:solidFill>
                  <a:srgbClr val="1F2421"/>
                </a:solidFill>
                <a:latin typeface="Malgun Gothic"/>
                <a:ea typeface="Malgun Gothic"/>
                <a:cs typeface="Malgun Gothic"/>
                <a:sym typeface="Malgun Gothic"/>
              </a:rPr>
              <a:t>로봇 단품 및 부품 국가별 수입현황</a:t>
            </a:r>
            <a:endParaRPr b="0" i="0" sz="1047" u="none" cap="none" strike="noStrike">
              <a:solidFill>
                <a:schemeClr val="dk1"/>
              </a:solidFill>
              <a:latin typeface="Calibri"/>
              <a:ea typeface="Calibri"/>
              <a:cs typeface="Calibri"/>
              <a:sym typeface="Calibri"/>
            </a:endParaRPr>
          </a:p>
        </p:txBody>
      </p:sp>
      <p:sp>
        <p:nvSpPr>
          <p:cNvPr id="1240" name="Google Shape;1240;g3fafe51123f_1_384"/>
          <p:cNvSpPr txBox="1"/>
          <p:nvPr/>
        </p:nvSpPr>
        <p:spPr>
          <a:xfrm>
            <a:off x="8522484" y="2406894"/>
            <a:ext cx="266400" cy="33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3"/>
              </a:buClr>
              <a:buSzPts val="1366"/>
              <a:buFont typeface="Malgun Gothic"/>
              <a:buNone/>
            </a:pPr>
            <a:r>
              <a:rPr b="0" i="0" lang="en-US" sz="1366" u="none" cap="none" strike="noStrike">
                <a:solidFill>
                  <a:srgbClr val="5F6B63"/>
                </a:solidFill>
                <a:latin typeface="Malgun Gothic"/>
                <a:ea typeface="Malgun Gothic"/>
                <a:cs typeface="Malgun Gothic"/>
                <a:sym typeface="Malgun Gothic"/>
              </a:rPr>
              <a:t>→</a:t>
            </a:r>
            <a:endParaRPr b="0" i="0" sz="1366" u="none" cap="none" strike="noStrike">
              <a:solidFill>
                <a:schemeClr val="dk1"/>
              </a:solidFill>
              <a:latin typeface="Calibri"/>
              <a:ea typeface="Calibri"/>
              <a:cs typeface="Calibri"/>
              <a:sym typeface="Calibri"/>
            </a:endParaRPr>
          </a:p>
        </p:txBody>
      </p:sp>
      <p:sp>
        <p:nvSpPr>
          <p:cNvPr id="1241" name="Google Shape;1241;g3fafe51123f_1_384"/>
          <p:cNvSpPr/>
          <p:nvPr/>
        </p:nvSpPr>
        <p:spPr>
          <a:xfrm>
            <a:off x="8788857" y="1990676"/>
            <a:ext cx="3163200" cy="1248600"/>
          </a:xfrm>
          <a:prstGeom prst="roundRect">
            <a:avLst>
              <a:gd fmla="val 5333" name="adj"/>
            </a:avLst>
          </a:prstGeom>
          <a:solidFill>
            <a:srgbClr val="FFFFFF"/>
          </a:solidFill>
          <a:ln cap="flat" cmpd="sng" w="11550">
            <a:solidFill>
              <a:srgbClr val="D6DED8"/>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g3fafe51123f_1_384"/>
          <p:cNvSpPr txBox="1"/>
          <p:nvPr/>
        </p:nvSpPr>
        <p:spPr>
          <a:xfrm>
            <a:off x="9038582" y="2190460"/>
            <a:ext cx="2664000" cy="2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366"/>
              <a:buFont typeface="Malgun Gothic"/>
              <a:buNone/>
            </a:pPr>
            <a:r>
              <a:rPr b="1" i="0" lang="en-US" sz="1366" u="none" cap="none" strike="noStrike">
                <a:solidFill>
                  <a:srgbClr val="1F7A4C"/>
                </a:solidFill>
                <a:latin typeface="Malgun Gothic"/>
                <a:ea typeface="Malgun Gothic"/>
                <a:cs typeface="Malgun Gothic"/>
                <a:sym typeface="Malgun Gothic"/>
              </a:rPr>
              <a:t>2019 – 2024</a:t>
            </a:r>
            <a:endParaRPr b="0" i="0" sz="1366" u="none" cap="none" strike="noStrike">
              <a:solidFill>
                <a:schemeClr val="dk1"/>
              </a:solidFill>
              <a:latin typeface="Calibri"/>
              <a:ea typeface="Calibri"/>
              <a:cs typeface="Calibri"/>
              <a:sym typeface="Calibri"/>
            </a:endParaRPr>
          </a:p>
        </p:txBody>
      </p:sp>
      <p:sp>
        <p:nvSpPr>
          <p:cNvPr id="1243" name="Google Shape;1243;g3fafe51123f_1_384"/>
          <p:cNvSpPr txBox="1"/>
          <p:nvPr/>
        </p:nvSpPr>
        <p:spPr>
          <a:xfrm>
            <a:off x="9038582" y="2540083"/>
            <a:ext cx="2664000" cy="516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47"/>
              <a:buFont typeface="Malgun Gothic"/>
              <a:buNone/>
            </a:pPr>
            <a:r>
              <a:rPr b="0" i="0" lang="en-US" sz="1047" u="none" cap="none" strike="noStrike">
                <a:solidFill>
                  <a:srgbClr val="1F2421"/>
                </a:solidFill>
                <a:latin typeface="Malgun Gothic"/>
                <a:ea typeface="Malgun Gothic"/>
                <a:cs typeface="Malgun Gothic"/>
                <a:sym typeface="Malgun Gothic"/>
              </a:rPr>
              <a:t>로봇산업 수입현황</a:t>
            </a:r>
            <a:endParaRPr b="0" i="0" sz="1047" u="none" cap="none" strike="noStrike">
              <a:solidFill>
                <a:schemeClr val="dk1"/>
              </a:solidFill>
              <a:latin typeface="Calibri"/>
              <a:ea typeface="Calibri"/>
              <a:cs typeface="Calibri"/>
              <a:sym typeface="Calibri"/>
            </a:endParaRPr>
          </a:p>
        </p:txBody>
      </p:sp>
      <p:sp>
        <p:nvSpPr>
          <p:cNvPr id="1244" name="Google Shape;1244;g3fafe51123f_1_384"/>
          <p:cNvSpPr txBox="1"/>
          <p:nvPr/>
        </p:nvSpPr>
        <p:spPr>
          <a:xfrm>
            <a:off x="1929750" y="3364195"/>
            <a:ext cx="10099500" cy="24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1047"/>
              <a:buFont typeface="Malgun Gothic"/>
              <a:buNone/>
            </a:pPr>
            <a:r>
              <a:rPr b="0" i="0" lang="en-US" sz="1047" u="none" cap="none" strike="noStrike">
                <a:solidFill>
                  <a:srgbClr val="5F6B63"/>
                </a:solidFill>
                <a:latin typeface="Malgun Gothic"/>
                <a:ea typeface="Malgun Gothic"/>
                <a:cs typeface="Malgun Gothic"/>
                <a:sym typeface="Malgun Gothic"/>
              </a:rPr>
              <a:t>같은 '로봇 수입' 지표인데 표 ID와 표명이 세 번 바뀝니다.</a:t>
            </a:r>
            <a:endParaRPr b="0" i="0" sz="1047" u="none" cap="none" strike="noStrike">
              <a:solidFill>
                <a:schemeClr val="dk1"/>
              </a:solidFill>
              <a:latin typeface="Calibri"/>
              <a:ea typeface="Calibri"/>
              <a:cs typeface="Calibri"/>
              <a:sym typeface="Calibri"/>
            </a:endParaRPr>
          </a:p>
        </p:txBody>
      </p:sp>
      <p:sp>
        <p:nvSpPr>
          <p:cNvPr id="1245" name="Google Shape;1245;g3fafe51123f_1_384"/>
          <p:cNvSpPr/>
          <p:nvPr/>
        </p:nvSpPr>
        <p:spPr>
          <a:xfrm>
            <a:off x="1929750" y="3822034"/>
            <a:ext cx="10099500" cy="1456800"/>
          </a:xfrm>
          <a:prstGeom prst="roundRect">
            <a:avLst>
              <a:gd fmla="val 4571" name="adj"/>
            </a:avLst>
          </a:prstGeom>
          <a:solidFill>
            <a:srgbClr val="E9F2EC"/>
          </a:solidFill>
          <a:ln cap="flat" cmpd="sng" w="11550">
            <a:solidFill>
              <a:srgbClr val="C6DCCD"/>
            </a:solidFill>
            <a:prstDash val="solid"/>
            <a:round/>
            <a:headEnd len="sm" w="sm" type="none"/>
            <a:tailEnd len="sm" w="sm" type="none"/>
          </a:ln>
        </p:spPr>
        <p:txBody>
          <a:bodyPr anchorCtr="0" anchor="ctr" bIns="83225" lIns="83225" spcFirstLastPara="1" rIns="83225" wrap="square" tIns="83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g3fafe51123f_1_384"/>
          <p:cNvSpPr txBox="1"/>
          <p:nvPr/>
        </p:nvSpPr>
        <p:spPr>
          <a:xfrm>
            <a:off x="2229420" y="4021819"/>
            <a:ext cx="2497200" cy="24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275"/>
              <a:buFont typeface="Malgun Gothic"/>
              <a:buNone/>
            </a:pPr>
            <a:r>
              <a:rPr b="1" i="0" lang="en-US" sz="1275" u="none" cap="none" strike="noStrike">
                <a:solidFill>
                  <a:srgbClr val="1F7A4C"/>
                </a:solidFill>
                <a:latin typeface="Malgun Gothic"/>
                <a:ea typeface="Malgun Gothic"/>
                <a:cs typeface="Malgun Gothic"/>
                <a:sym typeface="Malgun Gothic"/>
              </a:rPr>
              <a:t>대응</a:t>
            </a:r>
            <a:endParaRPr b="0" i="0" sz="1275" u="none" cap="none" strike="noStrike">
              <a:solidFill>
                <a:schemeClr val="dk1"/>
              </a:solidFill>
              <a:latin typeface="Calibri"/>
              <a:ea typeface="Calibri"/>
              <a:cs typeface="Calibri"/>
              <a:sym typeface="Calibri"/>
            </a:endParaRPr>
          </a:p>
        </p:txBody>
      </p:sp>
      <p:sp>
        <p:nvSpPr>
          <p:cNvPr id="1247" name="Google Shape;1247;g3fafe51123f_1_384"/>
          <p:cNvSpPr txBox="1"/>
          <p:nvPr/>
        </p:nvSpPr>
        <p:spPr>
          <a:xfrm>
            <a:off x="2229420" y="4388091"/>
            <a:ext cx="2996700" cy="24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table_family</a:t>
            </a:r>
            <a:endParaRPr b="0" i="0" sz="1092" u="none" cap="none" strike="noStrike">
              <a:solidFill>
                <a:schemeClr val="dk1"/>
              </a:solidFill>
              <a:latin typeface="Calibri"/>
              <a:ea typeface="Calibri"/>
              <a:cs typeface="Calibri"/>
              <a:sym typeface="Calibri"/>
            </a:endParaRPr>
          </a:p>
        </p:txBody>
      </p:sp>
      <p:sp>
        <p:nvSpPr>
          <p:cNvPr id="1248" name="Google Shape;1248;g3fafe51123f_1_384"/>
          <p:cNvSpPr txBox="1"/>
          <p:nvPr/>
        </p:nvSpPr>
        <p:spPr>
          <a:xfrm>
            <a:off x="2229420" y="4654470"/>
            <a:ext cx="2996700" cy="457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이름이 달라도 같은 계열로 묶어 함께 후보에 올림</a:t>
            </a:r>
            <a:endParaRPr b="0" i="0" sz="956" u="none" cap="none" strike="noStrike">
              <a:solidFill>
                <a:schemeClr val="dk1"/>
              </a:solidFill>
              <a:latin typeface="Calibri"/>
              <a:ea typeface="Calibri"/>
              <a:cs typeface="Calibri"/>
              <a:sym typeface="Calibri"/>
            </a:endParaRPr>
          </a:p>
        </p:txBody>
      </p:sp>
      <p:sp>
        <p:nvSpPr>
          <p:cNvPr id="1249" name="Google Shape;1249;g3fafe51123f_1_384"/>
          <p:cNvSpPr txBox="1"/>
          <p:nvPr/>
        </p:nvSpPr>
        <p:spPr>
          <a:xfrm>
            <a:off x="5475842" y="4388091"/>
            <a:ext cx="2996700" cy="24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valid_from / valid_to</a:t>
            </a:r>
            <a:endParaRPr b="0" i="0" sz="1092" u="none" cap="none" strike="noStrike">
              <a:solidFill>
                <a:schemeClr val="dk1"/>
              </a:solidFill>
              <a:latin typeface="Calibri"/>
              <a:ea typeface="Calibri"/>
              <a:cs typeface="Calibri"/>
              <a:sym typeface="Calibri"/>
            </a:endParaRPr>
          </a:p>
        </p:txBody>
      </p:sp>
      <p:sp>
        <p:nvSpPr>
          <p:cNvPr id="1250" name="Google Shape;1250;g3fafe51123f_1_384"/>
          <p:cNvSpPr txBox="1"/>
          <p:nvPr/>
        </p:nvSpPr>
        <p:spPr>
          <a:xfrm>
            <a:off x="5475842" y="4654470"/>
            <a:ext cx="2996700" cy="457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표마다 유효 기간을 두어 기사 기간과 대조</a:t>
            </a:r>
            <a:endParaRPr b="0" i="0" sz="956" u="none" cap="none" strike="noStrike">
              <a:solidFill>
                <a:schemeClr val="dk1"/>
              </a:solidFill>
              <a:latin typeface="Calibri"/>
              <a:ea typeface="Calibri"/>
              <a:cs typeface="Calibri"/>
              <a:sym typeface="Calibri"/>
            </a:endParaRPr>
          </a:p>
        </p:txBody>
      </p:sp>
      <p:sp>
        <p:nvSpPr>
          <p:cNvPr id="1251" name="Google Shape;1251;g3fafe51123f_1_384"/>
          <p:cNvSpPr txBox="1"/>
          <p:nvPr/>
        </p:nvSpPr>
        <p:spPr>
          <a:xfrm>
            <a:off x="8722264" y="4388091"/>
            <a:ext cx="2996700" cy="24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92"/>
              <a:buFont typeface="Malgun Gothic"/>
              <a:buNone/>
            </a:pPr>
            <a:r>
              <a:rPr b="1" i="0" lang="en-US" sz="1092" u="none" cap="none" strike="noStrike">
                <a:solidFill>
                  <a:srgbClr val="1F2421"/>
                </a:solidFill>
                <a:latin typeface="Malgun Gothic"/>
                <a:ea typeface="Malgun Gothic"/>
                <a:cs typeface="Malgun Gothic"/>
                <a:sym typeface="Malgun Gothic"/>
              </a:rPr>
              <a:t>선행 · 후속 관계</a:t>
            </a:r>
            <a:endParaRPr b="0" i="0" sz="1092" u="none" cap="none" strike="noStrike">
              <a:solidFill>
                <a:schemeClr val="dk1"/>
              </a:solidFill>
              <a:latin typeface="Calibri"/>
              <a:ea typeface="Calibri"/>
              <a:cs typeface="Calibri"/>
              <a:sym typeface="Calibri"/>
            </a:endParaRPr>
          </a:p>
        </p:txBody>
      </p:sp>
      <p:sp>
        <p:nvSpPr>
          <p:cNvPr id="1252" name="Google Shape;1252;g3fafe51123f_1_384"/>
          <p:cNvSpPr txBox="1"/>
          <p:nvPr/>
        </p:nvSpPr>
        <p:spPr>
          <a:xfrm>
            <a:off x="8722264" y="4654470"/>
            <a:ext cx="2996700" cy="457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56"/>
              <a:buFont typeface="Malgun Gothic"/>
              <a:buNone/>
            </a:pPr>
            <a:r>
              <a:rPr b="0" i="0" lang="en-US" sz="956" u="none" cap="none" strike="noStrike">
                <a:solidFill>
                  <a:srgbClr val="5F6B63"/>
                </a:solidFill>
                <a:latin typeface="Malgun Gothic"/>
                <a:ea typeface="Malgun Gothic"/>
                <a:cs typeface="Malgun Gothic"/>
                <a:sym typeface="Malgun Gothic"/>
              </a:rPr>
              <a:t>끊긴 구간은 이어지는 표로 연결해 탐색</a:t>
            </a:r>
            <a:endParaRPr b="0" i="0" sz="956" u="none" cap="none" strike="noStrike">
              <a:solidFill>
                <a:schemeClr val="dk1"/>
              </a:solidFill>
              <a:latin typeface="Calibri"/>
              <a:ea typeface="Calibri"/>
              <a:cs typeface="Calibri"/>
              <a:sym typeface="Calibri"/>
            </a:endParaRPr>
          </a:p>
        </p:txBody>
      </p:sp>
      <p:sp>
        <p:nvSpPr>
          <p:cNvPr id="1253" name="Google Shape;1253;g3fafe51123f_1_384"/>
          <p:cNvSpPr txBox="1"/>
          <p:nvPr/>
        </p:nvSpPr>
        <p:spPr>
          <a:xfrm>
            <a:off x="1929750" y="5486906"/>
            <a:ext cx="10099500" cy="28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183"/>
              <a:buFont typeface="Malgun Gothic"/>
              <a:buNone/>
            </a:pPr>
            <a:r>
              <a:rPr b="1" i="0" lang="en-US" sz="1183" u="none" cap="none" strike="noStrike">
                <a:solidFill>
                  <a:srgbClr val="1F7A4C"/>
                </a:solidFill>
                <a:latin typeface="Malgun Gothic"/>
                <a:ea typeface="Malgun Gothic"/>
                <a:cs typeface="Malgun Gothic"/>
                <a:sym typeface="Malgun Gothic"/>
              </a:rPr>
              <a:t>Stage A가 표 계열 단위로 후보를 배분하는 이유입니다.</a:t>
            </a:r>
            <a:endParaRPr b="0" i="0" sz="1183" u="none" cap="none" strike="noStrike">
              <a:solidFill>
                <a:schemeClr val="dk1"/>
              </a:solidFill>
              <a:latin typeface="Calibri"/>
              <a:ea typeface="Calibri"/>
              <a:cs typeface="Calibri"/>
              <a:sym typeface="Calibri"/>
            </a:endParaRPr>
          </a:p>
        </p:txBody>
      </p:sp>
      <p:sp>
        <p:nvSpPr>
          <p:cNvPr id="1254" name="Google Shape;1254;g3fafe51123f_1_384"/>
          <p:cNvSpPr/>
          <p:nvPr/>
        </p:nvSpPr>
        <p:spPr>
          <a:xfrm>
            <a:off x="2057400" y="329184"/>
            <a:ext cx="1965900" cy="292500"/>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g3fafe51123f_1_384"/>
          <p:cNvSpPr/>
          <p:nvPr/>
        </p:nvSpPr>
        <p:spPr>
          <a:xfrm>
            <a:off x="2103120" y="329184"/>
            <a:ext cx="1874400" cy="292500"/>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04 · 검색 전략</a:t>
            </a:r>
            <a:endParaRPr b="0" i="0" sz="850" u="none" cap="none" strike="noStrike">
              <a:solidFill>
                <a:schemeClr val="dk1"/>
              </a:solidFill>
              <a:latin typeface="Malgun Gothic"/>
              <a:ea typeface="Malgun Gothic"/>
              <a:cs typeface="Malgun Gothic"/>
              <a:sym typeface="Malgun Gothic"/>
            </a:endParaRPr>
          </a:p>
        </p:txBody>
      </p:sp>
      <p:sp>
        <p:nvSpPr>
          <p:cNvPr id="1256" name="Google Shape;1256;g3fafe51123f_1_384"/>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g3fafe51123f_1_384"/>
          <p:cNvSpPr/>
          <p:nvPr/>
        </p:nvSpPr>
        <p:spPr>
          <a:xfrm>
            <a:off x="2190700" y="304800"/>
            <a:ext cx="18096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트러블슈팅</a:t>
            </a:r>
            <a:endParaRPr b="0" i="0" sz="1400" u="none" cap="none" strike="noStrike">
              <a:solidFill>
                <a:srgbClr val="000000"/>
              </a:solidFill>
              <a:latin typeface="Arial"/>
              <a:ea typeface="Arial"/>
              <a:cs typeface="Arial"/>
              <a:sym typeface="Arial"/>
            </a:endParaRPr>
          </a:p>
        </p:txBody>
      </p:sp>
      <p:sp>
        <p:nvSpPr>
          <p:cNvPr id="1258" name="Google Shape;1258;g3fafe51123f_1_384"/>
          <p:cNvSpPr/>
          <p:nvPr/>
        </p:nvSpPr>
        <p:spPr>
          <a:xfrm>
            <a:off x="0"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g3fafe51123f_1_384"/>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g3fafe51123f_1_384"/>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3fafe51123f_1_384"/>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g3fafe51123f_1_384"/>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g3fafe51123f_1_384"/>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g3fafe51123f_1_384"/>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265" name="Google Shape;1265;g3fafe51123f_1_384"/>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266" name="Google Shape;1266;g3fafe51123f_1_384"/>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1267" name="Google Shape;1267;g3fafe51123f_1_384"/>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1268" name="Google Shape;1268;g3fafe51123f_1_384"/>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269" name="Google Shape;1269;g3fafe51123f_1_384"/>
          <p:cNvGrpSpPr/>
          <p:nvPr/>
        </p:nvGrpSpPr>
        <p:grpSpPr>
          <a:xfrm>
            <a:off x="283429" y="3067107"/>
            <a:ext cx="209400" cy="209700"/>
            <a:chOff x="-3275292" y="2173036"/>
            <a:chExt cx="209400" cy="209700"/>
          </a:xfrm>
        </p:grpSpPr>
        <p:sp>
          <p:nvSpPr>
            <p:cNvPr id="1270" name="Google Shape;1270;g3fafe51123f_1_384"/>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g3fafe51123f_1_384"/>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72" name="Google Shape;1272;g3fafe51123f_1_384"/>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g3fafe51123f_1_384"/>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g3fafe51123f_1_384"/>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g3fafe51123f_1_384"/>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g3fafe51123f_1_384"/>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g3fafe51123f_1_384"/>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g3fafe51123f_1_384"/>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283" name="Shape 1283"/>
        <p:cNvGrpSpPr/>
        <p:nvPr/>
      </p:nvGrpSpPr>
      <p:grpSpPr>
        <a:xfrm>
          <a:off x="0" y="0"/>
          <a:ext cx="0" cy="0"/>
          <a:chOff x="0" y="0"/>
          <a:chExt cx="0" cy="0"/>
        </a:xfrm>
      </p:grpSpPr>
      <p:sp>
        <p:nvSpPr>
          <p:cNvPr id="1284" name="Google Shape;1284;g3fafe51123f_1_266"/>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85" name="Google Shape;1285;g3fafe51123f_1_266"/>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1286" name="Google Shape;1286;g3fafe51123f_1_266"/>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g3fafe51123f_1_266"/>
          <p:cNvSpPr/>
          <p:nvPr/>
        </p:nvSpPr>
        <p:spPr>
          <a:xfrm>
            <a:off x="393067" y="5957346"/>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2026.09.02</a:t>
            </a:r>
            <a:endParaRPr b="0" i="0" sz="730" u="none" cap="none" strike="noStrike">
              <a:solidFill>
                <a:schemeClr val="dk1"/>
              </a:solidFill>
              <a:latin typeface="Malgun Gothic"/>
              <a:ea typeface="Malgun Gothic"/>
              <a:cs typeface="Malgun Gothic"/>
              <a:sym typeface="Malgun Gothic"/>
            </a:endParaRPr>
          </a:p>
        </p:txBody>
      </p:sp>
      <p:sp>
        <p:nvSpPr>
          <p:cNvPr id="1288" name="Google Shape;1288;g3fafe51123f_1_266"/>
          <p:cNvSpPr/>
          <p:nvPr/>
        </p:nvSpPr>
        <p:spPr>
          <a:xfrm>
            <a:off x="256032" y="6199632"/>
            <a:ext cx="1234500" cy="1464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920" u="none" cap="none" strike="noStrike">
                <a:solidFill>
                  <a:srgbClr val="8A9B92"/>
                </a:solidFill>
                <a:latin typeface="Malgun Gothic"/>
                <a:ea typeface="Malgun Gothic"/>
                <a:cs typeface="Malgun Gothic"/>
                <a:sym typeface="Malgun Gothic"/>
              </a:rPr>
              <a:t>최종 프로젝트</a:t>
            </a:r>
            <a:endParaRPr b="0" i="0" sz="920" u="none" cap="none" strike="noStrike">
              <a:solidFill>
                <a:schemeClr val="dk1"/>
              </a:solidFill>
              <a:latin typeface="Malgun Gothic"/>
              <a:ea typeface="Malgun Gothic"/>
              <a:cs typeface="Malgun Gothic"/>
              <a:sym typeface="Malgun Gothic"/>
            </a:endParaRPr>
          </a:p>
        </p:txBody>
      </p:sp>
      <p:sp>
        <p:nvSpPr>
          <p:cNvPr id="1289" name="Google Shape;1289;g3fafe51123f_1_266"/>
          <p:cNvSpPr/>
          <p:nvPr/>
        </p:nvSpPr>
        <p:spPr>
          <a:xfrm>
            <a:off x="2057400" y="6510528"/>
            <a:ext cx="25602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Arial"/>
                <a:ea typeface="Arial"/>
                <a:cs typeface="Arial"/>
                <a:sym typeface="Arial"/>
              </a:rPr>
              <a:t>KOSIS 뉴스 수치 주장 검증 PoC</a:t>
            </a:r>
            <a:endParaRPr b="0" i="0" sz="650" u="none" cap="none" strike="noStrike">
              <a:solidFill>
                <a:schemeClr val="dk1"/>
              </a:solidFill>
              <a:latin typeface="Arial"/>
              <a:ea typeface="Arial"/>
              <a:cs typeface="Arial"/>
              <a:sym typeface="Arial"/>
            </a:endParaRPr>
          </a:p>
        </p:txBody>
      </p:sp>
      <p:sp>
        <p:nvSpPr>
          <p:cNvPr id="1290" name="Google Shape;1290;g3fafe51123f_1_266"/>
          <p:cNvSpPr txBox="1"/>
          <p:nvPr/>
        </p:nvSpPr>
        <p:spPr>
          <a:xfrm>
            <a:off x="2057400" y="895960"/>
            <a:ext cx="9857100" cy="73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21"/>
              </a:buClr>
              <a:buSzPts val="2399"/>
              <a:buFont typeface="Malgun Gothic"/>
              <a:buNone/>
            </a:pPr>
            <a:r>
              <a:rPr b="1" i="0" lang="en-US" sz="2399" u="none" cap="none" strike="noStrike">
                <a:solidFill>
                  <a:srgbClr val="1F2421"/>
                </a:solidFill>
                <a:latin typeface="Malgun Gothic"/>
                <a:ea typeface="Malgun Gothic"/>
                <a:cs typeface="Malgun Gothic"/>
                <a:sym typeface="Malgun Gothic"/>
              </a:rPr>
              <a:t>값이 다르다고 바로 불일치</a:t>
            </a:r>
            <a:r>
              <a:rPr b="1" lang="en-US" sz="2399">
                <a:solidFill>
                  <a:srgbClr val="1F2421"/>
                </a:solidFill>
                <a:latin typeface="Malgun Gothic"/>
                <a:ea typeface="Malgun Gothic"/>
                <a:cs typeface="Malgun Gothic"/>
                <a:sym typeface="Malgun Gothic"/>
              </a:rPr>
              <a:t>는 아니다</a:t>
            </a:r>
            <a:endParaRPr b="0" i="0" sz="2399" u="none" cap="none" strike="noStrike">
              <a:solidFill>
                <a:schemeClr val="dk1"/>
              </a:solidFill>
              <a:latin typeface="Calibri"/>
              <a:ea typeface="Calibri"/>
              <a:cs typeface="Calibri"/>
              <a:sym typeface="Calibri"/>
            </a:endParaRPr>
          </a:p>
        </p:txBody>
      </p:sp>
      <p:sp>
        <p:nvSpPr>
          <p:cNvPr id="1291" name="Google Shape;1291;g3fafe51123f_1_266"/>
          <p:cNvSpPr txBox="1"/>
          <p:nvPr/>
        </p:nvSpPr>
        <p:spPr>
          <a:xfrm>
            <a:off x="2057400" y="1627165"/>
            <a:ext cx="9857100" cy="27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1155"/>
              <a:buFont typeface="Malgun Gothic"/>
              <a:buNone/>
            </a:pPr>
            <a:r>
              <a:rPr b="0" i="0" lang="en-US" sz="1155" u="none" cap="none" strike="noStrike">
                <a:solidFill>
                  <a:srgbClr val="5F6B63"/>
                </a:solidFill>
                <a:latin typeface="Malgun Gothic"/>
                <a:ea typeface="Malgun Gothic"/>
                <a:cs typeface="Malgun Gothic"/>
                <a:sym typeface="Malgun Gothic"/>
              </a:rPr>
              <a:t>상대오차 구간을 나누고, 경계에서 불안정한 경우는 별도 규칙을 적용</a:t>
            </a:r>
            <a:endParaRPr b="0" i="0" sz="1155" u="none" cap="none" strike="noStrike">
              <a:solidFill>
                <a:schemeClr val="dk1"/>
              </a:solidFill>
              <a:latin typeface="Calibri"/>
              <a:ea typeface="Calibri"/>
              <a:cs typeface="Calibri"/>
              <a:sym typeface="Calibri"/>
            </a:endParaRPr>
          </a:p>
        </p:txBody>
      </p:sp>
      <p:sp>
        <p:nvSpPr>
          <p:cNvPr id="1292" name="Google Shape;1292;g3fafe51123f_1_266"/>
          <p:cNvSpPr/>
          <p:nvPr/>
        </p:nvSpPr>
        <p:spPr>
          <a:xfrm>
            <a:off x="2057400" y="2046281"/>
            <a:ext cx="3087300" cy="1299900"/>
          </a:xfrm>
          <a:prstGeom prst="roundRect">
            <a:avLst>
              <a:gd fmla="val 5000" name="adj"/>
            </a:avLst>
          </a:prstGeom>
          <a:solidFill>
            <a:srgbClr val="E9F2EC"/>
          </a:solidFill>
          <a:ln cap="flat" cmpd="sng" w="11275">
            <a:solidFill>
              <a:srgbClr val="C6DCCD"/>
            </a:solidFill>
            <a:prstDash val="solid"/>
            <a:round/>
            <a:headEnd len="sm" w="sm" type="none"/>
            <a:tailEnd len="sm" w="sm" type="none"/>
          </a:ln>
        </p:spPr>
        <p:txBody>
          <a:bodyPr anchorCtr="0" anchor="ctr" bIns="81225" lIns="81225" spcFirstLastPara="1" rIns="81225" wrap="square" tIns="8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g3fafe51123f_1_266"/>
          <p:cNvSpPr txBox="1"/>
          <p:nvPr/>
        </p:nvSpPr>
        <p:spPr>
          <a:xfrm>
            <a:off x="2301129" y="2225020"/>
            <a:ext cx="2600100" cy="40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2132"/>
              <a:buFont typeface="Malgun Gothic"/>
              <a:buNone/>
            </a:pPr>
            <a:r>
              <a:rPr b="1" i="0" lang="en-US" sz="2132" u="none" cap="none" strike="noStrike">
                <a:solidFill>
                  <a:srgbClr val="1F7A4C"/>
                </a:solidFill>
                <a:latin typeface="Malgun Gothic"/>
                <a:ea typeface="Malgun Gothic"/>
                <a:cs typeface="Malgun Gothic"/>
                <a:sym typeface="Malgun Gothic"/>
              </a:rPr>
              <a:t>≤ 1.5%</a:t>
            </a:r>
            <a:endParaRPr b="0" i="0" sz="2132" u="none" cap="none" strike="noStrike">
              <a:solidFill>
                <a:schemeClr val="dk1"/>
              </a:solidFill>
              <a:latin typeface="Calibri"/>
              <a:ea typeface="Calibri"/>
              <a:cs typeface="Calibri"/>
              <a:sym typeface="Calibri"/>
            </a:endParaRPr>
          </a:p>
        </p:txBody>
      </p:sp>
      <p:sp>
        <p:nvSpPr>
          <p:cNvPr id="1294" name="Google Shape;1294;g3fafe51123f_1_266"/>
          <p:cNvSpPr txBox="1"/>
          <p:nvPr/>
        </p:nvSpPr>
        <p:spPr>
          <a:xfrm>
            <a:off x="2301129" y="2663743"/>
            <a:ext cx="2600100" cy="24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244"/>
              <a:buFont typeface="Malgun Gothic"/>
              <a:buNone/>
            </a:pPr>
            <a:r>
              <a:rPr b="1" i="0" lang="en-US" sz="1244" u="none" cap="none" strike="noStrike">
                <a:solidFill>
                  <a:srgbClr val="1F2421"/>
                </a:solidFill>
                <a:latin typeface="Malgun Gothic"/>
                <a:ea typeface="Malgun Gothic"/>
                <a:cs typeface="Malgun Gothic"/>
                <a:sym typeface="Malgun Gothic"/>
              </a:rPr>
              <a:t>일치</a:t>
            </a:r>
            <a:endParaRPr b="0" i="0" sz="1244" u="none" cap="none" strike="noStrike">
              <a:solidFill>
                <a:schemeClr val="dk1"/>
              </a:solidFill>
              <a:latin typeface="Calibri"/>
              <a:ea typeface="Calibri"/>
              <a:cs typeface="Calibri"/>
              <a:sym typeface="Calibri"/>
            </a:endParaRPr>
          </a:p>
        </p:txBody>
      </p:sp>
      <p:sp>
        <p:nvSpPr>
          <p:cNvPr id="1295" name="Google Shape;1295;g3fafe51123f_1_266"/>
          <p:cNvSpPr txBox="1"/>
          <p:nvPr/>
        </p:nvSpPr>
        <p:spPr>
          <a:xfrm>
            <a:off x="2301129" y="2923727"/>
            <a:ext cx="2600100" cy="24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844"/>
              <a:buFont typeface="Malgun Gothic"/>
              <a:buNone/>
            </a:pPr>
            <a:r>
              <a:rPr b="0" i="0" lang="en-US" sz="844" u="none" cap="none" strike="noStrike">
                <a:solidFill>
                  <a:srgbClr val="5F6B63"/>
                </a:solidFill>
                <a:latin typeface="Malgun Gothic"/>
                <a:ea typeface="Malgun Gothic"/>
                <a:cs typeface="Malgun Gothic"/>
                <a:sym typeface="Malgun Gothic"/>
              </a:rPr>
              <a:t>MATCH</a:t>
            </a:r>
            <a:endParaRPr b="0" i="0" sz="844" u="none" cap="none" strike="noStrike">
              <a:solidFill>
                <a:schemeClr val="dk1"/>
              </a:solidFill>
              <a:latin typeface="Calibri"/>
              <a:ea typeface="Calibri"/>
              <a:cs typeface="Calibri"/>
              <a:sym typeface="Calibri"/>
            </a:endParaRPr>
          </a:p>
        </p:txBody>
      </p:sp>
      <p:sp>
        <p:nvSpPr>
          <p:cNvPr id="1296" name="Google Shape;1296;g3fafe51123f_1_266"/>
          <p:cNvSpPr/>
          <p:nvPr/>
        </p:nvSpPr>
        <p:spPr>
          <a:xfrm>
            <a:off x="5404614" y="2046281"/>
            <a:ext cx="3087300" cy="1299900"/>
          </a:xfrm>
          <a:prstGeom prst="roundRect">
            <a:avLst>
              <a:gd fmla="val 5000" name="adj"/>
            </a:avLst>
          </a:prstGeom>
          <a:solidFill>
            <a:srgbClr val="FBF3E2"/>
          </a:solidFill>
          <a:ln cap="flat" cmpd="sng" w="11275">
            <a:solidFill>
              <a:srgbClr val="E8DCC0"/>
            </a:solidFill>
            <a:prstDash val="solid"/>
            <a:round/>
            <a:headEnd len="sm" w="sm" type="none"/>
            <a:tailEnd len="sm" w="sm" type="none"/>
          </a:ln>
        </p:spPr>
        <p:txBody>
          <a:bodyPr anchorCtr="0" anchor="ctr" bIns="81225" lIns="81225" spcFirstLastPara="1" rIns="81225" wrap="square" tIns="8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g3fafe51123f_1_266"/>
          <p:cNvSpPr txBox="1"/>
          <p:nvPr/>
        </p:nvSpPr>
        <p:spPr>
          <a:xfrm>
            <a:off x="5648343" y="2225020"/>
            <a:ext cx="2600100" cy="40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6B1F"/>
              </a:buClr>
              <a:buSzPts val="2132"/>
              <a:buFont typeface="Malgun Gothic"/>
              <a:buNone/>
            </a:pPr>
            <a:r>
              <a:rPr b="1" i="0" lang="en-US" sz="2132" u="none" cap="none" strike="noStrike">
                <a:solidFill>
                  <a:srgbClr val="9A6B1F"/>
                </a:solidFill>
                <a:latin typeface="Malgun Gothic"/>
                <a:ea typeface="Malgun Gothic"/>
                <a:cs typeface="Malgun Gothic"/>
                <a:sym typeface="Malgun Gothic"/>
              </a:rPr>
              <a:t>1.5 ~ 4%</a:t>
            </a:r>
            <a:endParaRPr b="0" i="0" sz="2132" u="none" cap="none" strike="noStrike">
              <a:solidFill>
                <a:schemeClr val="dk1"/>
              </a:solidFill>
              <a:latin typeface="Calibri"/>
              <a:ea typeface="Calibri"/>
              <a:cs typeface="Calibri"/>
              <a:sym typeface="Calibri"/>
            </a:endParaRPr>
          </a:p>
        </p:txBody>
      </p:sp>
      <p:sp>
        <p:nvSpPr>
          <p:cNvPr id="1298" name="Google Shape;1298;g3fafe51123f_1_266"/>
          <p:cNvSpPr txBox="1"/>
          <p:nvPr/>
        </p:nvSpPr>
        <p:spPr>
          <a:xfrm>
            <a:off x="5648343" y="2663743"/>
            <a:ext cx="2600100" cy="24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244"/>
              <a:buFont typeface="Malgun Gothic"/>
              <a:buNone/>
            </a:pPr>
            <a:r>
              <a:rPr b="1" i="0" lang="en-US" sz="1244" u="none" cap="none" strike="noStrike">
                <a:solidFill>
                  <a:srgbClr val="1F2421"/>
                </a:solidFill>
                <a:latin typeface="Malgun Gothic"/>
                <a:ea typeface="Malgun Gothic"/>
                <a:cs typeface="Malgun Gothic"/>
                <a:sym typeface="Malgun Gothic"/>
              </a:rPr>
              <a:t>판단 보류</a:t>
            </a:r>
            <a:endParaRPr b="0" i="0" sz="1244" u="none" cap="none" strike="noStrike">
              <a:solidFill>
                <a:schemeClr val="dk1"/>
              </a:solidFill>
              <a:latin typeface="Calibri"/>
              <a:ea typeface="Calibri"/>
              <a:cs typeface="Calibri"/>
              <a:sym typeface="Calibri"/>
            </a:endParaRPr>
          </a:p>
        </p:txBody>
      </p:sp>
      <p:sp>
        <p:nvSpPr>
          <p:cNvPr id="1299" name="Google Shape;1299;g3fafe51123f_1_266"/>
          <p:cNvSpPr txBox="1"/>
          <p:nvPr/>
        </p:nvSpPr>
        <p:spPr>
          <a:xfrm>
            <a:off x="5648343" y="2923727"/>
            <a:ext cx="2600100" cy="24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844"/>
              <a:buFont typeface="Malgun Gothic"/>
              <a:buNone/>
            </a:pPr>
            <a:r>
              <a:rPr b="0" i="0" lang="en-US" sz="844" u="none" cap="none" strike="noStrike">
                <a:solidFill>
                  <a:srgbClr val="5F6B63"/>
                </a:solidFill>
                <a:latin typeface="Malgun Gothic"/>
                <a:ea typeface="Malgun Gothic"/>
                <a:cs typeface="Malgun Gothic"/>
                <a:sym typeface="Malgun Gothic"/>
              </a:rPr>
              <a:t>REVIEW_REQUIRED</a:t>
            </a:r>
            <a:endParaRPr b="0" i="0" sz="844" u="none" cap="none" strike="noStrike">
              <a:solidFill>
                <a:schemeClr val="dk1"/>
              </a:solidFill>
              <a:latin typeface="Calibri"/>
              <a:ea typeface="Calibri"/>
              <a:cs typeface="Calibri"/>
              <a:sym typeface="Calibri"/>
            </a:endParaRPr>
          </a:p>
        </p:txBody>
      </p:sp>
      <p:sp>
        <p:nvSpPr>
          <p:cNvPr id="1300" name="Google Shape;1300;g3fafe51123f_1_266"/>
          <p:cNvSpPr/>
          <p:nvPr/>
        </p:nvSpPr>
        <p:spPr>
          <a:xfrm>
            <a:off x="8751828" y="2046281"/>
            <a:ext cx="3087300" cy="1299900"/>
          </a:xfrm>
          <a:prstGeom prst="roundRect">
            <a:avLst>
              <a:gd fmla="val 5000" name="adj"/>
            </a:avLst>
          </a:prstGeom>
          <a:solidFill>
            <a:srgbClr val="FAEEE8"/>
          </a:solidFill>
          <a:ln cap="flat" cmpd="sng" w="11275">
            <a:solidFill>
              <a:srgbClr val="EBD2C5"/>
            </a:solidFill>
            <a:prstDash val="solid"/>
            <a:round/>
            <a:headEnd len="sm" w="sm" type="none"/>
            <a:tailEnd len="sm" w="sm" type="none"/>
          </a:ln>
        </p:spPr>
        <p:txBody>
          <a:bodyPr anchorCtr="0" anchor="ctr" bIns="81225" lIns="81225" spcFirstLastPara="1" rIns="81225" wrap="square" tIns="8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g3fafe51123f_1_266"/>
          <p:cNvSpPr txBox="1"/>
          <p:nvPr/>
        </p:nvSpPr>
        <p:spPr>
          <a:xfrm>
            <a:off x="8995557" y="2225020"/>
            <a:ext cx="2600100" cy="40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2132"/>
              <a:buFont typeface="Malgun Gothic"/>
              <a:buNone/>
            </a:pPr>
            <a:r>
              <a:rPr b="1" i="0" lang="en-US" sz="2132" u="none" cap="none" strike="noStrike">
                <a:solidFill>
                  <a:srgbClr val="B4552F"/>
                </a:solidFill>
                <a:latin typeface="Malgun Gothic"/>
                <a:ea typeface="Malgun Gothic"/>
                <a:cs typeface="Malgun Gothic"/>
                <a:sym typeface="Malgun Gothic"/>
              </a:rPr>
              <a:t>&gt; 4%</a:t>
            </a:r>
            <a:endParaRPr b="0" i="0" sz="2132" u="none" cap="none" strike="noStrike">
              <a:solidFill>
                <a:schemeClr val="dk1"/>
              </a:solidFill>
              <a:latin typeface="Calibri"/>
              <a:ea typeface="Calibri"/>
              <a:cs typeface="Calibri"/>
              <a:sym typeface="Calibri"/>
            </a:endParaRPr>
          </a:p>
        </p:txBody>
      </p:sp>
      <p:sp>
        <p:nvSpPr>
          <p:cNvPr id="1302" name="Google Shape;1302;g3fafe51123f_1_266"/>
          <p:cNvSpPr txBox="1"/>
          <p:nvPr/>
        </p:nvSpPr>
        <p:spPr>
          <a:xfrm>
            <a:off x="8995557" y="2663743"/>
            <a:ext cx="2600100" cy="24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244"/>
              <a:buFont typeface="Malgun Gothic"/>
              <a:buNone/>
            </a:pPr>
            <a:r>
              <a:rPr b="1" i="0" lang="en-US" sz="1244" u="none" cap="none" strike="noStrike">
                <a:solidFill>
                  <a:srgbClr val="1F2421"/>
                </a:solidFill>
                <a:latin typeface="Malgun Gothic"/>
                <a:ea typeface="Malgun Gothic"/>
                <a:cs typeface="Malgun Gothic"/>
                <a:sym typeface="Malgun Gothic"/>
              </a:rPr>
              <a:t>불일치</a:t>
            </a:r>
            <a:endParaRPr b="0" i="0" sz="1244" u="none" cap="none" strike="noStrike">
              <a:solidFill>
                <a:schemeClr val="dk1"/>
              </a:solidFill>
              <a:latin typeface="Calibri"/>
              <a:ea typeface="Calibri"/>
              <a:cs typeface="Calibri"/>
              <a:sym typeface="Calibri"/>
            </a:endParaRPr>
          </a:p>
        </p:txBody>
      </p:sp>
      <p:sp>
        <p:nvSpPr>
          <p:cNvPr id="1303" name="Google Shape;1303;g3fafe51123f_1_266"/>
          <p:cNvSpPr txBox="1"/>
          <p:nvPr/>
        </p:nvSpPr>
        <p:spPr>
          <a:xfrm>
            <a:off x="8995557" y="2923727"/>
            <a:ext cx="2600100" cy="243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844"/>
              <a:buFont typeface="Malgun Gothic"/>
              <a:buNone/>
            </a:pPr>
            <a:r>
              <a:rPr b="0" i="0" lang="en-US" sz="844" u="none" cap="none" strike="noStrike">
                <a:solidFill>
                  <a:srgbClr val="5F6B63"/>
                </a:solidFill>
                <a:latin typeface="Malgun Gothic"/>
                <a:ea typeface="Malgun Gothic"/>
                <a:cs typeface="Malgun Gothic"/>
                <a:sym typeface="Malgun Gothic"/>
              </a:rPr>
              <a:t>MISMATCH_REVIEW_REQUIRED</a:t>
            </a:r>
            <a:endParaRPr b="0" i="0" sz="844" u="none" cap="none" strike="noStrike">
              <a:solidFill>
                <a:schemeClr val="dk1"/>
              </a:solidFill>
              <a:latin typeface="Calibri"/>
              <a:ea typeface="Calibri"/>
              <a:cs typeface="Calibri"/>
              <a:sym typeface="Calibri"/>
            </a:endParaRPr>
          </a:p>
        </p:txBody>
      </p:sp>
      <p:sp>
        <p:nvSpPr>
          <p:cNvPr id="1304" name="Google Shape;1304;g3fafe51123f_1_266"/>
          <p:cNvSpPr txBox="1"/>
          <p:nvPr/>
        </p:nvSpPr>
        <p:spPr>
          <a:xfrm>
            <a:off x="2057400" y="3524940"/>
            <a:ext cx="4874700" cy="25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244"/>
              <a:buFont typeface="Malgun Gothic"/>
              <a:buNone/>
            </a:pPr>
            <a:r>
              <a:rPr b="1" i="0" lang="en-US" sz="1244" u="none" cap="none" strike="noStrike">
                <a:solidFill>
                  <a:srgbClr val="1F2421"/>
                </a:solidFill>
                <a:latin typeface="Malgun Gothic"/>
                <a:ea typeface="Malgun Gothic"/>
                <a:cs typeface="Malgun Gothic"/>
                <a:sym typeface="Malgun Gothic"/>
              </a:rPr>
              <a:t>경계에서 별도로 다루는 경우</a:t>
            </a:r>
            <a:endParaRPr b="0" i="0" sz="1244" u="none" cap="none" strike="noStrike">
              <a:solidFill>
                <a:schemeClr val="dk1"/>
              </a:solidFill>
              <a:latin typeface="Calibri"/>
              <a:ea typeface="Calibri"/>
              <a:cs typeface="Calibri"/>
              <a:sym typeface="Calibri"/>
            </a:endParaRPr>
          </a:p>
        </p:txBody>
      </p:sp>
      <p:sp>
        <p:nvSpPr>
          <p:cNvPr id="1305" name="Google Shape;1305;g3fafe51123f_1_266"/>
          <p:cNvSpPr/>
          <p:nvPr/>
        </p:nvSpPr>
        <p:spPr>
          <a:xfrm>
            <a:off x="2057400" y="3890542"/>
            <a:ext cx="4752900" cy="666000"/>
          </a:xfrm>
          <a:prstGeom prst="roundRect">
            <a:avLst>
              <a:gd fmla="val 9756" name="adj"/>
            </a:avLst>
          </a:prstGeom>
          <a:solidFill>
            <a:srgbClr val="FFFFFF"/>
          </a:solidFill>
          <a:ln cap="flat" cmpd="sng" w="11275">
            <a:solidFill>
              <a:srgbClr val="D6DED8"/>
            </a:solidFill>
            <a:prstDash val="solid"/>
            <a:round/>
            <a:headEnd len="sm" w="sm" type="none"/>
            <a:tailEnd len="sm" w="sm" type="none"/>
          </a:ln>
        </p:spPr>
        <p:txBody>
          <a:bodyPr anchorCtr="0" anchor="ctr" bIns="81225" lIns="81225" spcFirstLastPara="1" rIns="81225" wrap="square" tIns="8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g3fafe51123f_1_266"/>
          <p:cNvSpPr txBox="1"/>
          <p:nvPr/>
        </p:nvSpPr>
        <p:spPr>
          <a:xfrm>
            <a:off x="2301129" y="3996161"/>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66"/>
              <a:buFont typeface="Malgun Gothic"/>
              <a:buNone/>
            </a:pPr>
            <a:r>
              <a:rPr b="1" i="0" lang="en-US" sz="1066" u="none" cap="none" strike="noStrike">
                <a:solidFill>
                  <a:srgbClr val="1F2421"/>
                </a:solidFill>
                <a:latin typeface="Malgun Gothic"/>
                <a:ea typeface="Malgun Gothic"/>
                <a:cs typeface="Malgun Gothic"/>
                <a:sym typeface="Malgun Gothic"/>
              </a:rPr>
              <a:t>반올림 표현</a:t>
            </a:r>
            <a:endParaRPr b="0" i="0" sz="1066" u="none" cap="none" strike="noStrike">
              <a:solidFill>
                <a:schemeClr val="dk1"/>
              </a:solidFill>
              <a:latin typeface="Calibri"/>
              <a:ea typeface="Calibri"/>
              <a:cs typeface="Calibri"/>
              <a:sym typeface="Calibri"/>
            </a:endParaRPr>
          </a:p>
        </p:txBody>
      </p:sp>
      <p:sp>
        <p:nvSpPr>
          <p:cNvPr id="1307" name="Google Shape;1307;g3fafe51123f_1_266"/>
          <p:cNvSpPr txBox="1"/>
          <p:nvPr/>
        </p:nvSpPr>
        <p:spPr>
          <a:xfrm>
            <a:off x="2301129" y="4248020"/>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33"/>
              <a:buFont typeface="Malgun Gothic"/>
              <a:buNone/>
            </a:pPr>
            <a:r>
              <a:rPr b="0" i="0" lang="en-US" sz="933" u="none" cap="none" strike="noStrike">
                <a:solidFill>
                  <a:srgbClr val="5F6B63"/>
                </a:solidFill>
                <a:latin typeface="Malgun Gothic"/>
                <a:ea typeface="Malgun Gothic"/>
                <a:cs typeface="Malgun Gothic"/>
                <a:sym typeface="Malgun Gothic"/>
              </a:rPr>
              <a:t>'약', '천여 명' 등 원문이 이미 반올림된 경우 별도 허용 오차</a:t>
            </a:r>
            <a:endParaRPr b="0" i="0" sz="933" u="none" cap="none" strike="noStrike">
              <a:solidFill>
                <a:schemeClr val="dk1"/>
              </a:solidFill>
              <a:latin typeface="Calibri"/>
              <a:ea typeface="Calibri"/>
              <a:cs typeface="Calibri"/>
              <a:sym typeface="Calibri"/>
            </a:endParaRPr>
          </a:p>
        </p:txBody>
      </p:sp>
      <p:sp>
        <p:nvSpPr>
          <p:cNvPr id="1308" name="Google Shape;1308;g3fafe51123f_1_266"/>
          <p:cNvSpPr/>
          <p:nvPr/>
        </p:nvSpPr>
        <p:spPr>
          <a:xfrm>
            <a:off x="7159464" y="3890542"/>
            <a:ext cx="4752900" cy="666000"/>
          </a:xfrm>
          <a:prstGeom prst="roundRect">
            <a:avLst>
              <a:gd fmla="val 9756" name="adj"/>
            </a:avLst>
          </a:prstGeom>
          <a:solidFill>
            <a:srgbClr val="FFFFFF"/>
          </a:solidFill>
          <a:ln cap="flat" cmpd="sng" w="11275">
            <a:solidFill>
              <a:srgbClr val="D6DED8"/>
            </a:solidFill>
            <a:prstDash val="solid"/>
            <a:round/>
            <a:headEnd len="sm" w="sm" type="none"/>
            <a:tailEnd len="sm" w="sm" type="none"/>
          </a:ln>
        </p:spPr>
        <p:txBody>
          <a:bodyPr anchorCtr="0" anchor="ctr" bIns="81225" lIns="81225" spcFirstLastPara="1" rIns="81225" wrap="square" tIns="8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g3fafe51123f_1_266"/>
          <p:cNvSpPr txBox="1"/>
          <p:nvPr/>
        </p:nvSpPr>
        <p:spPr>
          <a:xfrm>
            <a:off x="7403193" y="3996161"/>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66"/>
              <a:buFont typeface="Malgun Gothic"/>
              <a:buNone/>
            </a:pPr>
            <a:r>
              <a:rPr b="1" i="0" lang="en-US" sz="1066" u="none" cap="none" strike="noStrike">
                <a:solidFill>
                  <a:srgbClr val="1F2421"/>
                </a:solidFill>
                <a:latin typeface="Malgun Gothic"/>
                <a:ea typeface="Malgun Gothic"/>
                <a:cs typeface="Malgun Gothic"/>
                <a:sym typeface="Malgun Gothic"/>
              </a:rPr>
              <a:t>0에 가까운 값</a:t>
            </a:r>
            <a:endParaRPr b="0" i="0" sz="1066" u="none" cap="none" strike="noStrike">
              <a:solidFill>
                <a:schemeClr val="dk1"/>
              </a:solidFill>
              <a:latin typeface="Calibri"/>
              <a:ea typeface="Calibri"/>
              <a:cs typeface="Calibri"/>
              <a:sym typeface="Calibri"/>
            </a:endParaRPr>
          </a:p>
        </p:txBody>
      </p:sp>
      <p:sp>
        <p:nvSpPr>
          <p:cNvPr id="1310" name="Google Shape;1310;g3fafe51123f_1_266"/>
          <p:cNvSpPr txBox="1"/>
          <p:nvPr/>
        </p:nvSpPr>
        <p:spPr>
          <a:xfrm>
            <a:off x="7403193" y="4248020"/>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33"/>
              <a:buFont typeface="Malgun Gothic"/>
              <a:buNone/>
            </a:pPr>
            <a:r>
              <a:rPr b="0" i="0" lang="en-US" sz="933" u="none" cap="none" strike="noStrike">
                <a:solidFill>
                  <a:srgbClr val="5F6B63"/>
                </a:solidFill>
                <a:latin typeface="Malgun Gothic"/>
                <a:ea typeface="Malgun Gothic"/>
                <a:cs typeface="Malgun Gothic"/>
                <a:sym typeface="Malgun Gothic"/>
              </a:rPr>
              <a:t>상대오차가 불안정하므로 절대오차 기준을 병행</a:t>
            </a:r>
            <a:endParaRPr b="0" i="0" sz="933" u="none" cap="none" strike="noStrike">
              <a:solidFill>
                <a:schemeClr val="dk1"/>
              </a:solidFill>
              <a:latin typeface="Calibri"/>
              <a:ea typeface="Calibri"/>
              <a:cs typeface="Calibri"/>
              <a:sym typeface="Calibri"/>
            </a:endParaRPr>
          </a:p>
        </p:txBody>
      </p:sp>
      <p:sp>
        <p:nvSpPr>
          <p:cNvPr id="1311" name="Google Shape;1311;g3fafe51123f_1_266"/>
          <p:cNvSpPr/>
          <p:nvPr/>
        </p:nvSpPr>
        <p:spPr>
          <a:xfrm>
            <a:off x="2057400" y="4662369"/>
            <a:ext cx="4752900" cy="666000"/>
          </a:xfrm>
          <a:prstGeom prst="roundRect">
            <a:avLst>
              <a:gd fmla="val 9756" name="adj"/>
            </a:avLst>
          </a:prstGeom>
          <a:solidFill>
            <a:srgbClr val="FFFFFF"/>
          </a:solidFill>
          <a:ln cap="flat" cmpd="sng" w="11275">
            <a:solidFill>
              <a:srgbClr val="D6DED8"/>
            </a:solidFill>
            <a:prstDash val="solid"/>
            <a:round/>
            <a:headEnd len="sm" w="sm" type="none"/>
            <a:tailEnd len="sm" w="sm" type="none"/>
          </a:ln>
        </p:spPr>
        <p:txBody>
          <a:bodyPr anchorCtr="0" anchor="ctr" bIns="81225" lIns="81225" spcFirstLastPara="1" rIns="81225" wrap="square" tIns="8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g3fafe51123f_1_266"/>
          <p:cNvSpPr txBox="1"/>
          <p:nvPr/>
        </p:nvSpPr>
        <p:spPr>
          <a:xfrm>
            <a:off x="2301129" y="4767988"/>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66"/>
              <a:buFont typeface="Malgun Gothic"/>
              <a:buNone/>
            </a:pPr>
            <a:r>
              <a:rPr b="1" i="0" lang="en-US" sz="1066" u="none" cap="none" strike="noStrike">
                <a:solidFill>
                  <a:srgbClr val="1F2421"/>
                </a:solidFill>
                <a:latin typeface="Malgun Gothic"/>
                <a:ea typeface="Malgun Gothic"/>
                <a:cs typeface="Malgun Gothic"/>
                <a:sym typeface="Malgun Gothic"/>
              </a:rPr>
              <a:t>단위 불명확</a:t>
            </a:r>
            <a:endParaRPr b="0" i="0" sz="1066" u="none" cap="none" strike="noStrike">
              <a:solidFill>
                <a:schemeClr val="dk1"/>
              </a:solidFill>
              <a:latin typeface="Calibri"/>
              <a:ea typeface="Calibri"/>
              <a:cs typeface="Calibri"/>
              <a:sym typeface="Calibri"/>
            </a:endParaRPr>
          </a:p>
        </p:txBody>
      </p:sp>
      <p:sp>
        <p:nvSpPr>
          <p:cNvPr id="1313" name="Google Shape;1313;g3fafe51123f_1_266"/>
          <p:cNvSpPr txBox="1"/>
          <p:nvPr/>
        </p:nvSpPr>
        <p:spPr>
          <a:xfrm>
            <a:off x="2301129" y="5019847"/>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33"/>
              <a:buFont typeface="Malgun Gothic"/>
              <a:buNone/>
            </a:pPr>
            <a:r>
              <a:rPr b="0" i="0" lang="en-US" sz="933" u="none" cap="none" strike="noStrike">
                <a:solidFill>
                  <a:srgbClr val="5F6B63"/>
                </a:solidFill>
                <a:latin typeface="Malgun Gothic"/>
                <a:ea typeface="Malgun Gothic"/>
                <a:cs typeface="Malgun Gothic"/>
                <a:sym typeface="Malgun Gothic"/>
              </a:rPr>
              <a:t>환산 근거가 없으면 비교하지 않고 UNRESOLVED</a:t>
            </a:r>
            <a:endParaRPr b="0" i="0" sz="933" u="none" cap="none" strike="noStrike">
              <a:solidFill>
                <a:schemeClr val="dk1"/>
              </a:solidFill>
              <a:latin typeface="Calibri"/>
              <a:ea typeface="Calibri"/>
              <a:cs typeface="Calibri"/>
              <a:sym typeface="Calibri"/>
            </a:endParaRPr>
          </a:p>
        </p:txBody>
      </p:sp>
      <p:sp>
        <p:nvSpPr>
          <p:cNvPr id="1314" name="Google Shape;1314;g3fafe51123f_1_266"/>
          <p:cNvSpPr/>
          <p:nvPr/>
        </p:nvSpPr>
        <p:spPr>
          <a:xfrm>
            <a:off x="7159464" y="4662369"/>
            <a:ext cx="4752900" cy="666000"/>
          </a:xfrm>
          <a:prstGeom prst="roundRect">
            <a:avLst>
              <a:gd fmla="val 9756" name="adj"/>
            </a:avLst>
          </a:prstGeom>
          <a:solidFill>
            <a:srgbClr val="FFFFFF"/>
          </a:solidFill>
          <a:ln cap="flat" cmpd="sng" w="11275">
            <a:solidFill>
              <a:srgbClr val="D6DED8"/>
            </a:solidFill>
            <a:prstDash val="solid"/>
            <a:round/>
            <a:headEnd len="sm" w="sm" type="none"/>
            <a:tailEnd len="sm" w="sm" type="none"/>
          </a:ln>
        </p:spPr>
        <p:txBody>
          <a:bodyPr anchorCtr="0" anchor="ctr" bIns="81225" lIns="81225" spcFirstLastPara="1" rIns="81225" wrap="square" tIns="812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g3fafe51123f_1_266"/>
          <p:cNvSpPr txBox="1"/>
          <p:nvPr/>
        </p:nvSpPr>
        <p:spPr>
          <a:xfrm>
            <a:off x="7403193" y="4767988"/>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66"/>
              <a:buFont typeface="Malgun Gothic"/>
              <a:buNone/>
            </a:pPr>
            <a:r>
              <a:rPr b="1" i="0" lang="en-US" sz="1066" u="none" cap="none" strike="noStrike">
                <a:solidFill>
                  <a:srgbClr val="1F2421"/>
                </a:solidFill>
                <a:latin typeface="Malgun Gothic"/>
                <a:ea typeface="Malgun Gothic"/>
                <a:cs typeface="Malgun Gothic"/>
                <a:sym typeface="Malgun Gothic"/>
              </a:rPr>
              <a:t>잠정치·개정</a:t>
            </a:r>
            <a:endParaRPr b="0" i="0" sz="1066" u="none" cap="none" strike="noStrike">
              <a:solidFill>
                <a:schemeClr val="dk1"/>
              </a:solidFill>
              <a:latin typeface="Calibri"/>
              <a:ea typeface="Calibri"/>
              <a:cs typeface="Calibri"/>
              <a:sym typeface="Calibri"/>
            </a:endParaRPr>
          </a:p>
        </p:txBody>
      </p:sp>
      <p:sp>
        <p:nvSpPr>
          <p:cNvPr id="1316" name="Google Shape;1316;g3fafe51123f_1_266"/>
          <p:cNvSpPr txBox="1"/>
          <p:nvPr/>
        </p:nvSpPr>
        <p:spPr>
          <a:xfrm>
            <a:off x="7403193" y="5019847"/>
            <a:ext cx="4265400" cy="22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33"/>
              <a:buFont typeface="Malgun Gothic"/>
              <a:buNone/>
            </a:pPr>
            <a:r>
              <a:rPr b="0" i="0" lang="en-US" sz="933" u="none" cap="none" strike="noStrike">
                <a:solidFill>
                  <a:srgbClr val="5F6B63"/>
                </a:solidFill>
                <a:latin typeface="Malgun Gothic"/>
                <a:ea typeface="Malgun Gothic"/>
                <a:cs typeface="Malgun Gothic"/>
                <a:sym typeface="Malgun Gothic"/>
              </a:rPr>
              <a:t>개정 vintage 위험이 크면 판정을 보류</a:t>
            </a:r>
            <a:endParaRPr b="0" i="0" sz="933" u="none" cap="none" strike="noStrike">
              <a:solidFill>
                <a:schemeClr val="dk1"/>
              </a:solidFill>
              <a:latin typeface="Calibri"/>
              <a:ea typeface="Calibri"/>
              <a:cs typeface="Calibri"/>
              <a:sym typeface="Calibri"/>
            </a:endParaRPr>
          </a:p>
        </p:txBody>
      </p:sp>
      <p:sp>
        <p:nvSpPr>
          <p:cNvPr id="1317" name="Google Shape;1317;g3fafe51123f_1_266"/>
          <p:cNvSpPr txBox="1"/>
          <p:nvPr/>
        </p:nvSpPr>
        <p:spPr>
          <a:xfrm>
            <a:off x="2057400" y="5499193"/>
            <a:ext cx="9857100" cy="27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155"/>
              <a:buFont typeface="Malgun Gothic"/>
              <a:buNone/>
            </a:pPr>
            <a:r>
              <a:rPr b="1" i="0" lang="en-US" sz="1155" u="none" cap="none" strike="noStrike">
                <a:solidFill>
                  <a:srgbClr val="1F7A4C"/>
                </a:solidFill>
                <a:latin typeface="Malgun Gothic"/>
                <a:ea typeface="Malgun Gothic"/>
                <a:cs typeface="Malgun Gothic"/>
                <a:sym typeface="Malgun Gothic"/>
              </a:rPr>
              <a:t>근거가 부족한 것과 틀린 것을 구분</a:t>
            </a:r>
            <a:endParaRPr b="0" i="0" sz="1155" u="none" cap="none" strike="noStrike">
              <a:solidFill>
                <a:schemeClr val="dk1"/>
              </a:solidFill>
              <a:latin typeface="Calibri"/>
              <a:ea typeface="Calibri"/>
              <a:cs typeface="Calibri"/>
              <a:sym typeface="Calibri"/>
            </a:endParaRPr>
          </a:p>
        </p:txBody>
      </p:sp>
      <p:sp>
        <p:nvSpPr>
          <p:cNvPr id="1318" name="Google Shape;1318;g3fafe51123f_1_266"/>
          <p:cNvSpPr/>
          <p:nvPr/>
        </p:nvSpPr>
        <p:spPr>
          <a:xfrm>
            <a:off x="2057400" y="329184"/>
            <a:ext cx="1965900" cy="292500"/>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g3fafe51123f_1_266"/>
          <p:cNvSpPr/>
          <p:nvPr/>
        </p:nvSpPr>
        <p:spPr>
          <a:xfrm>
            <a:off x="2103120" y="329184"/>
            <a:ext cx="1874400" cy="292500"/>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04 · 검색 전략</a:t>
            </a:r>
            <a:endParaRPr b="0" i="0" sz="850" u="none" cap="none" strike="noStrike">
              <a:solidFill>
                <a:schemeClr val="dk1"/>
              </a:solidFill>
              <a:latin typeface="Malgun Gothic"/>
              <a:ea typeface="Malgun Gothic"/>
              <a:cs typeface="Malgun Gothic"/>
              <a:sym typeface="Malgun Gothic"/>
            </a:endParaRPr>
          </a:p>
        </p:txBody>
      </p:sp>
      <p:sp>
        <p:nvSpPr>
          <p:cNvPr id="1320" name="Google Shape;1320;g3fafe51123f_1_266"/>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g3fafe51123f_1_266"/>
          <p:cNvSpPr/>
          <p:nvPr/>
        </p:nvSpPr>
        <p:spPr>
          <a:xfrm>
            <a:off x="2190700" y="304800"/>
            <a:ext cx="18096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트러블슈팅</a:t>
            </a:r>
            <a:endParaRPr b="0" i="0" sz="1400" u="none" cap="none" strike="noStrike">
              <a:solidFill>
                <a:srgbClr val="000000"/>
              </a:solidFill>
              <a:latin typeface="Arial"/>
              <a:ea typeface="Arial"/>
              <a:cs typeface="Arial"/>
              <a:sym typeface="Arial"/>
            </a:endParaRPr>
          </a:p>
        </p:txBody>
      </p:sp>
      <p:sp>
        <p:nvSpPr>
          <p:cNvPr id="1322" name="Google Shape;1322;g3fafe51123f_1_266"/>
          <p:cNvSpPr/>
          <p:nvPr/>
        </p:nvSpPr>
        <p:spPr>
          <a:xfrm>
            <a:off x="0"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g3fafe51123f_1_266"/>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g3fafe51123f_1_266"/>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g3fafe51123f_1_266"/>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g3fafe51123f_1_266"/>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g3fafe51123f_1_266"/>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g3fafe51123f_1_266"/>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329" name="Google Shape;1329;g3fafe51123f_1_266"/>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330" name="Google Shape;1330;g3fafe51123f_1_266"/>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1331" name="Google Shape;1331;g3fafe51123f_1_266"/>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1332" name="Google Shape;1332;g3fafe51123f_1_266"/>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333" name="Google Shape;1333;g3fafe51123f_1_266"/>
          <p:cNvGrpSpPr/>
          <p:nvPr/>
        </p:nvGrpSpPr>
        <p:grpSpPr>
          <a:xfrm>
            <a:off x="283429" y="3067107"/>
            <a:ext cx="209400" cy="209700"/>
            <a:chOff x="-3275292" y="2173036"/>
            <a:chExt cx="209400" cy="209700"/>
          </a:xfrm>
        </p:grpSpPr>
        <p:sp>
          <p:nvSpPr>
            <p:cNvPr id="1334" name="Google Shape;1334;g3fafe51123f_1_266"/>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g3fafe51123f_1_266"/>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6" name="Google Shape;1336;g3fafe51123f_1_266"/>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g3fafe51123f_1_266"/>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g3fafe51123f_1_266"/>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g3fafe51123f_1_266"/>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g3fafe51123f_1_266"/>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g3fafe51123f_1_266"/>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g3fafe51123f_1_266"/>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347" name="Shape 1347"/>
        <p:cNvGrpSpPr/>
        <p:nvPr/>
      </p:nvGrpSpPr>
      <p:grpSpPr>
        <a:xfrm>
          <a:off x="0" y="0"/>
          <a:ext cx="0" cy="0"/>
          <a:chOff x="0" y="0"/>
          <a:chExt cx="0" cy="0"/>
        </a:xfrm>
      </p:grpSpPr>
      <p:sp>
        <p:nvSpPr>
          <p:cNvPr id="1348" name="Google Shape;1348;g3fafe51123f_1_197"/>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49" name="Google Shape;1349;g3fafe51123f_1_197"/>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1350" name="Google Shape;1350;g3fafe51123f_1_197"/>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g3fafe51123f_1_197"/>
          <p:cNvSpPr/>
          <p:nvPr/>
        </p:nvSpPr>
        <p:spPr>
          <a:xfrm>
            <a:off x="393067" y="5957346"/>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2026.09.02</a:t>
            </a:r>
            <a:endParaRPr b="0" i="0" sz="730" u="none" cap="none" strike="noStrike">
              <a:solidFill>
                <a:schemeClr val="dk1"/>
              </a:solidFill>
              <a:latin typeface="Malgun Gothic"/>
              <a:ea typeface="Malgun Gothic"/>
              <a:cs typeface="Malgun Gothic"/>
              <a:sym typeface="Malgun Gothic"/>
            </a:endParaRPr>
          </a:p>
        </p:txBody>
      </p:sp>
      <p:sp>
        <p:nvSpPr>
          <p:cNvPr id="1352" name="Google Shape;1352;g3fafe51123f_1_197"/>
          <p:cNvSpPr/>
          <p:nvPr/>
        </p:nvSpPr>
        <p:spPr>
          <a:xfrm>
            <a:off x="256032" y="6199632"/>
            <a:ext cx="1234500" cy="1464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920" u="none" cap="none" strike="noStrike">
                <a:solidFill>
                  <a:srgbClr val="8A9B92"/>
                </a:solidFill>
                <a:latin typeface="Malgun Gothic"/>
                <a:ea typeface="Malgun Gothic"/>
                <a:cs typeface="Malgun Gothic"/>
                <a:sym typeface="Malgun Gothic"/>
              </a:rPr>
              <a:t>최종 프로젝트</a:t>
            </a:r>
            <a:endParaRPr b="0" i="0" sz="920" u="none" cap="none" strike="noStrike">
              <a:solidFill>
                <a:schemeClr val="dk1"/>
              </a:solidFill>
              <a:latin typeface="Malgun Gothic"/>
              <a:ea typeface="Malgun Gothic"/>
              <a:cs typeface="Malgun Gothic"/>
              <a:sym typeface="Malgun Gothic"/>
            </a:endParaRPr>
          </a:p>
        </p:txBody>
      </p:sp>
      <p:sp>
        <p:nvSpPr>
          <p:cNvPr id="1353" name="Google Shape;1353;g3fafe51123f_1_197"/>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g3fafe51123f_1_197"/>
          <p:cNvSpPr/>
          <p:nvPr/>
        </p:nvSpPr>
        <p:spPr>
          <a:xfrm>
            <a:off x="2057400" y="6510528"/>
            <a:ext cx="25602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Arial"/>
                <a:ea typeface="Arial"/>
                <a:cs typeface="Arial"/>
                <a:sym typeface="Arial"/>
              </a:rPr>
              <a:t>KOSIS 뉴스 수치 주장 검증 PoC</a:t>
            </a:r>
            <a:endParaRPr b="0" i="0" sz="650" u="none" cap="none" strike="noStrike">
              <a:solidFill>
                <a:schemeClr val="dk1"/>
              </a:solidFill>
              <a:latin typeface="Arial"/>
              <a:ea typeface="Arial"/>
              <a:cs typeface="Arial"/>
              <a:sym typeface="Arial"/>
            </a:endParaRPr>
          </a:p>
        </p:txBody>
      </p:sp>
      <p:sp>
        <p:nvSpPr>
          <p:cNvPr id="1355" name="Google Shape;1355;g3fafe51123f_1_197"/>
          <p:cNvSpPr txBox="1"/>
          <p:nvPr/>
        </p:nvSpPr>
        <p:spPr>
          <a:xfrm>
            <a:off x="2057400" y="783732"/>
            <a:ext cx="9568800" cy="70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21"/>
              </a:buClr>
              <a:buSzPts val="2329"/>
              <a:buFont typeface="Malgun Gothic"/>
              <a:buNone/>
            </a:pPr>
            <a:r>
              <a:rPr b="1" i="0" lang="en-US" sz="2329" u="none" cap="none" strike="noStrike">
                <a:solidFill>
                  <a:srgbClr val="1F2421"/>
                </a:solidFill>
                <a:latin typeface="Malgun Gothic"/>
                <a:ea typeface="Malgun Gothic"/>
                <a:cs typeface="Malgun Gothic"/>
                <a:sym typeface="Malgun Gothic"/>
              </a:rPr>
              <a:t>READY는 검증 완료가 아니라, 검증을 시도할 수 있다는 뜻입니다</a:t>
            </a:r>
            <a:endParaRPr b="0" i="0" sz="2329" u="none" cap="none" strike="noStrike">
              <a:solidFill>
                <a:schemeClr val="dk1"/>
              </a:solidFill>
              <a:latin typeface="Calibri"/>
              <a:ea typeface="Calibri"/>
              <a:cs typeface="Calibri"/>
              <a:sym typeface="Calibri"/>
            </a:endParaRPr>
          </a:p>
        </p:txBody>
      </p:sp>
      <p:sp>
        <p:nvSpPr>
          <p:cNvPr id="1356" name="Google Shape;1356;g3fafe51123f_1_197"/>
          <p:cNvSpPr txBox="1"/>
          <p:nvPr/>
        </p:nvSpPr>
        <p:spPr>
          <a:xfrm>
            <a:off x="2057400" y="1493555"/>
            <a:ext cx="9568800" cy="26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1121"/>
              <a:buFont typeface="Malgun Gothic"/>
              <a:buNone/>
            </a:pPr>
            <a:r>
              <a:rPr b="0" i="0" lang="en-US" sz="1121" u="none" cap="none" strike="noStrike">
                <a:solidFill>
                  <a:srgbClr val="5F6B63"/>
                </a:solidFill>
                <a:latin typeface="Malgun Gothic"/>
                <a:ea typeface="Malgun Gothic"/>
                <a:cs typeface="Malgun Gothic"/>
                <a:sym typeface="Malgun Gothic"/>
              </a:rPr>
              <a:t>URL50 기준 · 두 번의 감소는 성격이 다릅니다.</a:t>
            </a:r>
            <a:endParaRPr b="0" i="0" sz="1121" u="none" cap="none" strike="noStrike">
              <a:solidFill>
                <a:schemeClr val="dk1"/>
              </a:solidFill>
              <a:latin typeface="Calibri"/>
              <a:ea typeface="Calibri"/>
              <a:cs typeface="Calibri"/>
              <a:sym typeface="Calibri"/>
            </a:endParaRPr>
          </a:p>
        </p:txBody>
      </p:sp>
      <p:sp>
        <p:nvSpPr>
          <p:cNvPr id="1357" name="Google Shape;1357;g3fafe51123f_1_197"/>
          <p:cNvSpPr/>
          <p:nvPr/>
        </p:nvSpPr>
        <p:spPr>
          <a:xfrm>
            <a:off x="2057400" y="1950997"/>
            <a:ext cx="3075900" cy="985800"/>
          </a:xfrm>
          <a:prstGeom prst="roundRect">
            <a:avLst>
              <a:gd fmla="val 6400" name="adj"/>
            </a:avLst>
          </a:prstGeom>
          <a:solidFill>
            <a:srgbClr val="F4F7F5"/>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g3fafe51123f_1_197"/>
          <p:cNvSpPr txBox="1"/>
          <p:nvPr/>
        </p:nvSpPr>
        <p:spPr>
          <a:xfrm>
            <a:off x="2278228" y="2092961"/>
            <a:ext cx="2634300" cy="43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2588"/>
              <a:buFont typeface="Malgun Gothic"/>
              <a:buNone/>
            </a:pPr>
            <a:r>
              <a:rPr b="1" i="0" lang="en-US" sz="2588" u="none" cap="none" strike="noStrike">
                <a:solidFill>
                  <a:srgbClr val="1F2421"/>
                </a:solidFill>
                <a:latin typeface="Malgun Gothic"/>
                <a:ea typeface="Malgun Gothic"/>
                <a:cs typeface="Malgun Gothic"/>
                <a:sym typeface="Malgun Gothic"/>
              </a:rPr>
              <a:t>263</a:t>
            </a:r>
            <a:endParaRPr b="0" i="0" sz="2588" u="none" cap="none" strike="noStrike">
              <a:solidFill>
                <a:schemeClr val="dk1"/>
              </a:solidFill>
              <a:latin typeface="Calibri"/>
              <a:ea typeface="Calibri"/>
              <a:cs typeface="Calibri"/>
              <a:sym typeface="Calibri"/>
            </a:endParaRPr>
          </a:p>
        </p:txBody>
      </p:sp>
      <p:sp>
        <p:nvSpPr>
          <p:cNvPr id="1359" name="Google Shape;1359;g3fafe51123f_1_197"/>
          <p:cNvSpPr txBox="1"/>
          <p:nvPr/>
        </p:nvSpPr>
        <p:spPr>
          <a:xfrm>
            <a:off x="2278228" y="2518855"/>
            <a:ext cx="2634300" cy="22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35"/>
              <a:buFont typeface="Malgun Gothic"/>
              <a:buNone/>
            </a:pPr>
            <a:r>
              <a:rPr b="1" i="0" lang="en-US" sz="1035" u="none" cap="none" strike="noStrike">
                <a:solidFill>
                  <a:srgbClr val="1F2421"/>
                </a:solidFill>
                <a:latin typeface="Malgun Gothic"/>
                <a:ea typeface="Malgun Gothic"/>
                <a:cs typeface="Malgun Gothic"/>
                <a:sym typeface="Malgun Gothic"/>
              </a:rPr>
              <a:t>추출 측정값</a:t>
            </a:r>
            <a:endParaRPr b="0" i="0" sz="1035" u="none" cap="none" strike="noStrike">
              <a:solidFill>
                <a:schemeClr val="dk1"/>
              </a:solidFill>
              <a:latin typeface="Calibri"/>
              <a:ea typeface="Calibri"/>
              <a:cs typeface="Calibri"/>
              <a:sym typeface="Calibri"/>
            </a:endParaRPr>
          </a:p>
        </p:txBody>
      </p:sp>
      <p:sp>
        <p:nvSpPr>
          <p:cNvPr id="1360" name="Google Shape;1360;g3fafe51123f_1_197"/>
          <p:cNvSpPr txBox="1"/>
          <p:nvPr/>
        </p:nvSpPr>
        <p:spPr>
          <a:xfrm>
            <a:off x="2278228" y="2716028"/>
            <a:ext cx="2634300" cy="20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819"/>
              <a:buFont typeface="Malgun Gothic"/>
              <a:buNone/>
            </a:pPr>
            <a:r>
              <a:rPr b="0" i="0" lang="en-US" sz="819" u="none" cap="none" strike="noStrike">
                <a:solidFill>
                  <a:srgbClr val="5F6B63"/>
                </a:solidFill>
                <a:latin typeface="Malgun Gothic"/>
                <a:ea typeface="Malgun Gothic"/>
                <a:cs typeface="Malgun Gothic"/>
                <a:sym typeface="Malgun Gothic"/>
              </a:rPr>
              <a:t>HCX 구조화 결과</a:t>
            </a:r>
            <a:endParaRPr b="0" i="0" sz="819" u="none" cap="none" strike="noStrike">
              <a:solidFill>
                <a:schemeClr val="dk1"/>
              </a:solidFill>
              <a:latin typeface="Calibri"/>
              <a:ea typeface="Calibri"/>
              <a:cs typeface="Calibri"/>
              <a:sym typeface="Calibri"/>
            </a:endParaRPr>
          </a:p>
        </p:txBody>
      </p:sp>
      <p:sp>
        <p:nvSpPr>
          <p:cNvPr id="1361" name="Google Shape;1361;g3fafe51123f_1_197"/>
          <p:cNvSpPr txBox="1"/>
          <p:nvPr/>
        </p:nvSpPr>
        <p:spPr>
          <a:xfrm>
            <a:off x="5133220" y="2282248"/>
            <a:ext cx="433800" cy="354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3"/>
              </a:buClr>
              <a:buSzPts val="1553"/>
              <a:buFont typeface="Malgun Gothic"/>
              <a:buNone/>
            </a:pPr>
            <a:r>
              <a:rPr b="0" i="0" lang="en-US" sz="1553" u="none" cap="none" strike="noStrike">
                <a:solidFill>
                  <a:srgbClr val="5F6B63"/>
                </a:solidFill>
                <a:latin typeface="Malgun Gothic"/>
                <a:ea typeface="Malgun Gothic"/>
                <a:cs typeface="Malgun Gothic"/>
                <a:sym typeface="Malgun Gothic"/>
              </a:rPr>
              <a:t>→</a:t>
            </a:r>
            <a:endParaRPr b="0" i="0" sz="1553" u="none" cap="none" strike="noStrike">
              <a:solidFill>
                <a:schemeClr val="dk1"/>
              </a:solidFill>
              <a:latin typeface="Calibri"/>
              <a:ea typeface="Calibri"/>
              <a:cs typeface="Calibri"/>
              <a:sym typeface="Calibri"/>
            </a:endParaRPr>
          </a:p>
        </p:txBody>
      </p:sp>
      <p:sp>
        <p:nvSpPr>
          <p:cNvPr id="1362" name="Google Shape;1362;g3fafe51123f_1_197"/>
          <p:cNvSpPr/>
          <p:nvPr/>
        </p:nvSpPr>
        <p:spPr>
          <a:xfrm>
            <a:off x="5566989" y="1950997"/>
            <a:ext cx="2760300" cy="985800"/>
          </a:xfrm>
          <a:prstGeom prst="roundRect">
            <a:avLst>
              <a:gd fmla="val 6400" name="adj"/>
            </a:avLst>
          </a:prstGeom>
          <a:solidFill>
            <a:srgbClr val="E9F2EC"/>
          </a:solidFill>
          <a:ln cap="flat" cmpd="sng" w="10950">
            <a:solidFill>
              <a:srgbClr val="C6DCCD"/>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g3fafe51123f_1_197"/>
          <p:cNvSpPr txBox="1"/>
          <p:nvPr/>
        </p:nvSpPr>
        <p:spPr>
          <a:xfrm>
            <a:off x="5787817" y="2092961"/>
            <a:ext cx="2318700" cy="43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2588"/>
              <a:buFont typeface="Malgun Gothic"/>
              <a:buNone/>
            </a:pPr>
            <a:r>
              <a:rPr b="1" i="0" lang="en-US" sz="2588" u="none" cap="none" strike="noStrike">
                <a:solidFill>
                  <a:srgbClr val="1F7A4C"/>
                </a:solidFill>
                <a:latin typeface="Malgun Gothic"/>
                <a:ea typeface="Malgun Gothic"/>
                <a:cs typeface="Malgun Gothic"/>
                <a:sym typeface="Malgun Gothic"/>
              </a:rPr>
              <a:t>96</a:t>
            </a:r>
            <a:endParaRPr b="0" i="0" sz="2588" u="none" cap="none" strike="noStrike">
              <a:solidFill>
                <a:schemeClr val="dk1"/>
              </a:solidFill>
              <a:latin typeface="Calibri"/>
              <a:ea typeface="Calibri"/>
              <a:cs typeface="Calibri"/>
              <a:sym typeface="Calibri"/>
            </a:endParaRPr>
          </a:p>
        </p:txBody>
      </p:sp>
      <p:sp>
        <p:nvSpPr>
          <p:cNvPr id="1364" name="Google Shape;1364;g3fafe51123f_1_197"/>
          <p:cNvSpPr txBox="1"/>
          <p:nvPr/>
        </p:nvSpPr>
        <p:spPr>
          <a:xfrm>
            <a:off x="5787817" y="2518855"/>
            <a:ext cx="2318700" cy="22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035"/>
              <a:buFont typeface="Malgun Gothic"/>
              <a:buNone/>
            </a:pPr>
            <a:r>
              <a:rPr b="1" i="0" lang="en-US" sz="1035" u="none" cap="none" strike="noStrike">
                <a:solidFill>
                  <a:srgbClr val="1F7A4C"/>
                </a:solidFill>
                <a:latin typeface="Malgun Gothic"/>
                <a:ea typeface="Malgun Gothic"/>
                <a:cs typeface="Malgun Gothic"/>
                <a:sym typeface="Malgun Gothic"/>
              </a:rPr>
              <a:t>KOSIS-ready</a:t>
            </a:r>
            <a:endParaRPr b="0" i="0" sz="1035" u="none" cap="none" strike="noStrike">
              <a:solidFill>
                <a:schemeClr val="dk1"/>
              </a:solidFill>
              <a:latin typeface="Calibri"/>
              <a:ea typeface="Calibri"/>
              <a:cs typeface="Calibri"/>
              <a:sym typeface="Calibri"/>
            </a:endParaRPr>
          </a:p>
        </p:txBody>
      </p:sp>
      <p:sp>
        <p:nvSpPr>
          <p:cNvPr id="1365" name="Google Shape;1365;g3fafe51123f_1_197"/>
          <p:cNvSpPr txBox="1"/>
          <p:nvPr/>
        </p:nvSpPr>
        <p:spPr>
          <a:xfrm>
            <a:off x="5787817" y="2716028"/>
            <a:ext cx="2318700" cy="20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819"/>
              <a:buFont typeface="Malgun Gothic"/>
              <a:buNone/>
            </a:pPr>
            <a:r>
              <a:rPr b="0" i="0" lang="en-US" sz="819" u="none" cap="none" strike="noStrike">
                <a:solidFill>
                  <a:srgbClr val="5F6B63"/>
                </a:solidFill>
                <a:latin typeface="Malgun Gothic"/>
                <a:ea typeface="Malgun Gothic"/>
                <a:cs typeface="Malgun Gothic"/>
                <a:sym typeface="Malgun Gothic"/>
              </a:rPr>
              <a:t>게이트 통과</a:t>
            </a:r>
            <a:endParaRPr b="0" i="0" sz="819" u="none" cap="none" strike="noStrike">
              <a:solidFill>
                <a:schemeClr val="dk1"/>
              </a:solidFill>
              <a:latin typeface="Calibri"/>
              <a:ea typeface="Calibri"/>
              <a:cs typeface="Calibri"/>
              <a:sym typeface="Calibri"/>
            </a:endParaRPr>
          </a:p>
        </p:txBody>
      </p:sp>
      <p:sp>
        <p:nvSpPr>
          <p:cNvPr id="1366" name="Google Shape;1366;g3fafe51123f_1_197"/>
          <p:cNvSpPr txBox="1"/>
          <p:nvPr/>
        </p:nvSpPr>
        <p:spPr>
          <a:xfrm>
            <a:off x="8327340" y="2282248"/>
            <a:ext cx="433800" cy="354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3"/>
              </a:buClr>
              <a:buSzPts val="1553"/>
              <a:buFont typeface="Malgun Gothic"/>
              <a:buNone/>
            </a:pPr>
            <a:r>
              <a:rPr b="0" i="0" lang="en-US" sz="1553" u="none" cap="none" strike="noStrike">
                <a:solidFill>
                  <a:srgbClr val="5F6B63"/>
                </a:solidFill>
                <a:latin typeface="Malgun Gothic"/>
                <a:ea typeface="Malgun Gothic"/>
                <a:cs typeface="Malgun Gothic"/>
                <a:sym typeface="Malgun Gothic"/>
              </a:rPr>
              <a:t>→</a:t>
            </a:r>
            <a:endParaRPr b="0" i="0" sz="1553" u="none" cap="none" strike="noStrike">
              <a:solidFill>
                <a:schemeClr val="dk1"/>
              </a:solidFill>
              <a:latin typeface="Calibri"/>
              <a:ea typeface="Calibri"/>
              <a:cs typeface="Calibri"/>
              <a:sym typeface="Calibri"/>
            </a:endParaRPr>
          </a:p>
        </p:txBody>
      </p:sp>
      <p:sp>
        <p:nvSpPr>
          <p:cNvPr id="1367" name="Google Shape;1367;g3fafe51123f_1_197"/>
          <p:cNvSpPr/>
          <p:nvPr/>
        </p:nvSpPr>
        <p:spPr>
          <a:xfrm>
            <a:off x="8761110" y="1950997"/>
            <a:ext cx="2445000" cy="985800"/>
          </a:xfrm>
          <a:prstGeom prst="roundRect">
            <a:avLst>
              <a:gd fmla="val 6400" name="adj"/>
            </a:avLst>
          </a:prstGeom>
          <a:solidFill>
            <a:srgbClr val="1F7A4C"/>
          </a:solidFill>
          <a:ln cap="flat" cmpd="sng" w="10950">
            <a:solidFill>
              <a:srgbClr val="1F7A4C"/>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g3fafe51123f_1_197"/>
          <p:cNvSpPr txBox="1"/>
          <p:nvPr/>
        </p:nvSpPr>
        <p:spPr>
          <a:xfrm>
            <a:off x="8981938" y="2092961"/>
            <a:ext cx="2003400" cy="43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88"/>
              <a:buFont typeface="Malgun Gothic"/>
              <a:buNone/>
            </a:pPr>
            <a:r>
              <a:rPr b="1" i="0" lang="en-US" sz="2588" u="none" cap="none" strike="noStrike">
                <a:solidFill>
                  <a:srgbClr val="FFFFFF"/>
                </a:solidFill>
                <a:latin typeface="Malgun Gothic"/>
                <a:ea typeface="Malgun Gothic"/>
                <a:cs typeface="Malgun Gothic"/>
                <a:sym typeface="Malgun Gothic"/>
              </a:rPr>
              <a:t>11</a:t>
            </a:r>
            <a:endParaRPr b="0" i="0" sz="2588" u="none" cap="none" strike="noStrike">
              <a:solidFill>
                <a:schemeClr val="dk1"/>
              </a:solidFill>
              <a:latin typeface="Calibri"/>
              <a:ea typeface="Calibri"/>
              <a:cs typeface="Calibri"/>
              <a:sym typeface="Calibri"/>
            </a:endParaRPr>
          </a:p>
        </p:txBody>
      </p:sp>
      <p:sp>
        <p:nvSpPr>
          <p:cNvPr id="1369" name="Google Shape;1369;g3fafe51123f_1_197"/>
          <p:cNvSpPr txBox="1"/>
          <p:nvPr/>
        </p:nvSpPr>
        <p:spPr>
          <a:xfrm>
            <a:off x="8981938" y="2518855"/>
            <a:ext cx="2003400" cy="22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35"/>
              <a:buFont typeface="Malgun Gothic"/>
              <a:buNone/>
            </a:pPr>
            <a:r>
              <a:rPr b="1" i="0" lang="en-US" sz="1035" u="none" cap="none" strike="noStrike">
                <a:solidFill>
                  <a:srgbClr val="FFFFFF"/>
                </a:solidFill>
                <a:latin typeface="Malgun Gothic"/>
                <a:ea typeface="Malgun Gothic"/>
                <a:cs typeface="Malgun Gothic"/>
                <a:sym typeface="Malgun Gothic"/>
              </a:rPr>
              <a:t>공식 근거 확정</a:t>
            </a:r>
            <a:endParaRPr b="0" i="0" sz="1035" u="none" cap="none" strike="noStrike">
              <a:solidFill>
                <a:schemeClr val="dk1"/>
              </a:solidFill>
              <a:latin typeface="Calibri"/>
              <a:ea typeface="Calibri"/>
              <a:cs typeface="Calibri"/>
              <a:sym typeface="Calibri"/>
            </a:endParaRPr>
          </a:p>
        </p:txBody>
      </p:sp>
      <p:sp>
        <p:nvSpPr>
          <p:cNvPr id="1370" name="Google Shape;1370;g3fafe51123f_1_197"/>
          <p:cNvSpPr txBox="1"/>
          <p:nvPr/>
        </p:nvSpPr>
        <p:spPr>
          <a:xfrm>
            <a:off x="8981938" y="2716028"/>
            <a:ext cx="2003400" cy="20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E2D3"/>
              </a:buClr>
              <a:buSzPts val="819"/>
              <a:buFont typeface="Malgun Gothic"/>
              <a:buNone/>
            </a:pPr>
            <a:r>
              <a:rPr b="0" i="0" lang="en-US" sz="819" u="none" cap="none" strike="noStrike">
                <a:solidFill>
                  <a:srgbClr val="C9E2D3"/>
                </a:solidFill>
                <a:latin typeface="Malgun Gothic"/>
                <a:ea typeface="Malgun Gothic"/>
                <a:cs typeface="Malgun Gothic"/>
                <a:sym typeface="Malgun Gothic"/>
              </a:rPr>
              <a:t>좌표·값 자동 확정</a:t>
            </a:r>
            <a:endParaRPr b="0" i="0" sz="819" u="none" cap="none" strike="noStrike">
              <a:solidFill>
                <a:schemeClr val="dk1"/>
              </a:solidFill>
              <a:latin typeface="Calibri"/>
              <a:ea typeface="Calibri"/>
              <a:cs typeface="Calibri"/>
              <a:sym typeface="Calibri"/>
            </a:endParaRPr>
          </a:p>
        </p:txBody>
      </p:sp>
      <p:sp>
        <p:nvSpPr>
          <p:cNvPr id="1371" name="Google Shape;1371;g3fafe51123f_1_197"/>
          <p:cNvSpPr/>
          <p:nvPr/>
        </p:nvSpPr>
        <p:spPr>
          <a:xfrm>
            <a:off x="2057400" y="3173470"/>
            <a:ext cx="4614000" cy="725700"/>
          </a:xfrm>
          <a:prstGeom prst="roundRect">
            <a:avLst>
              <a:gd fmla="val 8696" name="adj"/>
            </a:avLst>
          </a:prstGeom>
          <a:solidFill>
            <a:srgbClr val="F4F7F5"/>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g3fafe51123f_1_197"/>
          <p:cNvSpPr txBox="1"/>
          <p:nvPr/>
        </p:nvSpPr>
        <p:spPr>
          <a:xfrm>
            <a:off x="2294002" y="3299661"/>
            <a:ext cx="41799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035"/>
              <a:buFont typeface="Malgun Gothic"/>
              <a:buNone/>
            </a:pPr>
            <a:r>
              <a:rPr b="1" i="0" lang="en-US" sz="1035" u="none" cap="none" strike="noStrike">
                <a:solidFill>
                  <a:srgbClr val="1F2421"/>
                </a:solidFill>
                <a:latin typeface="Malgun Gothic"/>
                <a:ea typeface="Malgun Gothic"/>
                <a:cs typeface="Malgun Gothic"/>
                <a:sym typeface="Malgun Gothic"/>
              </a:rPr>
              <a:t>263 → 96   </a:t>
            </a:r>
            <a:r>
              <a:rPr b="0" i="0" lang="en-US" sz="1035" u="none" cap="none" strike="noStrike">
                <a:solidFill>
                  <a:srgbClr val="5F6B63"/>
                </a:solidFill>
                <a:latin typeface="Malgun Gothic"/>
                <a:ea typeface="Malgun Gothic"/>
                <a:cs typeface="Malgun Gothic"/>
                <a:sym typeface="Malgun Gothic"/>
              </a:rPr>
              <a:t>게이트가 제대로 걸러낸 구간</a:t>
            </a:r>
            <a:endParaRPr b="0" i="0" sz="1035" u="none" cap="none" strike="noStrike">
              <a:solidFill>
                <a:schemeClr val="dk1"/>
              </a:solidFill>
              <a:latin typeface="Calibri"/>
              <a:ea typeface="Calibri"/>
              <a:cs typeface="Calibri"/>
              <a:sym typeface="Calibri"/>
            </a:endParaRPr>
          </a:p>
        </p:txBody>
      </p:sp>
      <p:sp>
        <p:nvSpPr>
          <p:cNvPr id="1373" name="Google Shape;1373;g3fafe51123f_1_197"/>
          <p:cNvSpPr txBox="1"/>
          <p:nvPr/>
        </p:nvSpPr>
        <p:spPr>
          <a:xfrm>
            <a:off x="2294002" y="3567816"/>
            <a:ext cx="4179900" cy="22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06"/>
              <a:buFont typeface="Malgun Gothic"/>
              <a:buNone/>
            </a:pPr>
            <a:r>
              <a:rPr b="0" i="0" lang="en-US" sz="906" u="none" cap="none" strike="noStrike">
                <a:solidFill>
                  <a:srgbClr val="5F6B63"/>
                </a:solidFill>
                <a:latin typeface="Malgun Gothic"/>
                <a:ea typeface="Malgun Gothic"/>
                <a:cs typeface="Malgun Gothic"/>
                <a:sym typeface="Malgun Gothic"/>
              </a:rPr>
              <a:t>회사 매출·전망치·해외 통계 등 KOSIS 범위 밖</a:t>
            </a:r>
            <a:endParaRPr b="0" i="0" sz="906" u="none" cap="none" strike="noStrike">
              <a:solidFill>
                <a:schemeClr val="dk1"/>
              </a:solidFill>
              <a:latin typeface="Calibri"/>
              <a:ea typeface="Calibri"/>
              <a:cs typeface="Calibri"/>
              <a:sym typeface="Calibri"/>
            </a:endParaRPr>
          </a:p>
        </p:txBody>
      </p:sp>
      <p:sp>
        <p:nvSpPr>
          <p:cNvPr id="1374" name="Google Shape;1374;g3fafe51123f_1_197"/>
          <p:cNvSpPr/>
          <p:nvPr/>
        </p:nvSpPr>
        <p:spPr>
          <a:xfrm>
            <a:off x="7010259" y="3173470"/>
            <a:ext cx="4614000" cy="725700"/>
          </a:xfrm>
          <a:prstGeom prst="roundRect">
            <a:avLst>
              <a:gd fmla="val 8696" name="adj"/>
            </a:avLst>
          </a:prstGeom>
          <a:solidFill>
            <a:srgbClr val="FAEEE8"/>
          </a:solidFill>
          <a:ln cap="flat" cmpd="sng" w="10950">
            <a:solidFill>
              <a:srgbClr val="EBD2C5"/>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g3fafe51123f_1_197"/>
          <p:cNvSpPr txBox="1"/>
          <p:nvPr/>
        </p:nvSpPr>
        <p:spPr>
          <a:xfrm>
            <a:off x="7246860" y="3299661"/>
            <a:ext cx="41799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1035"/>
              <a:buFont typeface="Malgun Gothic"/>
              <a:buNone/>
            </a:pPr>
            <a:r>
              <a:rPr b="1" i="0" lang="en-US" sz="1035" u="none" cap="none" strike="noStrike">
                <a:solidFill>
                  <a:srgbClr val="B4552F"/>
                </a:solidFill>
                <a:latin typeface="Malgun Gothic"/>
                <a:ea typeface="Malgun Gothic"/>
                <a:cs typeface="Malgun Gothic"/>
                <a:sym typeface="Malgun Gothic"/>
              </a:rPr>
              <a:t>96 → 11   </a:t>
            </a:r>
            <a:r>
              <a:rPr b="0" i="0" lang="en-US" sz="1035" u="none" cap="none" strike="noStrike">
                <a:solidFill>
                  <a:srgbClr val="5F6B63"/>
                </a:solidFill>
                <a:latin typeface="Malgun Gothic"/>
                <a:ea typeface="Malgun Gothic"/>
                <a:cs typeface="Malgun Gothic"/>
                <a:sym typeface="Malgun Gothic"/>
              </a:rPr>
              <a:t>실제 개선 과제 구간</a:t>
            </a:r>
            <a:endParaRPr b="0" i="0" sz="1035" u="none" cap="none" strike="noStrike">
              <a:solidFill>
                <a:schemeClr val="dk1"/>
              </a:solidFill>
              <a:latin typeface="Calibri"/>
              <a:ea typeface="Calibri"/>
              <a:cs typeface="Calibri"/>
              <a:sym typeface="Calibri"/>
            </a:endParaRPr>
          </a:p>
        </p:txBody>
      </p:sp>
      <p:sp>
        <p:nvSpPr>
          <p:cNvPr id="1376" name="Google Shape;1376;g3fafe51123f_1_197"/>
          <p:cNvSpPr txBox="1"/>
          <p:nvPr/>
        </p:nvSpPr>
        <p:spPr>
          <a:xfrm>
            <a:off x="7246860" y="3567816"/>
            <a:ext cx="4179900" cy="22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906"/>
              <a:buFont typeface="Malgun Gothic"/>
              <a:buNone/>
            </a:pPr>
            <a:r>
              <a:rPr b="0" i="0" lang="en-US" sz="906" u="none" cap="none" strike="noStrike">
                <a:solidFill>
                  <a:srgbClr val="5F6B63"/>
                </a:solidFill>
                <a:latin typeface="Malgun Gothic"/>
                <a:ea typeface="Malgun Gothic"/>
                <a:cs typeface="Malgun Gothic"/>
                <a:sym typeface="Malgun Gothic"/>
              </a:rPr>
              <a:t>검증을 시도했으나 좌표·값을 확정하지 못한 85건</a:t>
            </a:r>
            <a:endParaRPr b="0" i="0" sz="906" u="none" cap="none" strike="noStrike">
              <a:solidFill>
                <a:schemeClr val="dk1"/>
              </a:solidFill>
              <a:latin typeface="Calibri"/>
              <a:ea typeface="Calibri"/>
              <a:cs typeface="Calibri"/>
              <a:sym typeface="Calibri"/>
            </a:endParaRPr>
          </a:p>
        </p:txBody>
      </p:sp>
      <p:sp>
        <p:nvSpPr>
          <p:cNvPr id="1377" name="Google Shape;1377;g3fafe51123f_1_197"/>
          <p:cNvSpPr txBox="1"/>
          <p:nvPr/>
        </p:nvSpPr>
        <p:spPr>
          <a:xfrm>
            <a:off x="2057400" y="4096240"/>
            <a:ext cx="39435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1121"/>
              <a:buFont typeface="Malgun Gothic"/>
              <a:buNone/>
            </a:pPr>
            <a:r>
              <a:rPr b="1" i="0" lang="en-US" sz="1121" u="none" cap="none" strike="noStrike">
                <a:solidFill>
                  <a:srgbClr val="1F2421"/>
                </a:solidFill>
                <a:latin typeface="Malgun Gothic"/>
                <a:ea typeface="Malgun Gothic"/>
                <a:cs typeface="Malgun Gothic"/>
                <a:sym typeface="Malgun Gothic"/>
              </a:rPr>
              <a:t>85건의 탈락 원인</a:t>
            </a:r>
            <a:endParaRPr b="0" i="0" sz="1121" u="none" cap="none" strike="noStrike">
              <a:solidFill>
                <a:schemeClr val="dk1"/>
              </a:solidFill>
              <a:latin typeface="Calibri"/>
              <a:ea typeface="Calibri"/>
              <a:cs typeface="Calibri"/>
              <a:sym typeface="Calibri"/>
            </a:endParaRPr>
          </a:p>
        </p:txBody>
      </p:sp>
      <p:sp>
        <p:nvSpPr>
          <p:cNvPr id="1378" name="Google Shape;1378;g3fafe51123f_1_197"/>
          <p:cNvSpPr/>
          <p:nvPr/>
        </p:nvSpPr>
        <p:spPr>
          <a:xfrm>
            <a:off x="2057400" y="4411717"/>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g3fafe51123f_1_197"/>
          <p:cNvSpPr txBox="1"/>
          <p:nvPr/>
        </p:nvSpPr>
        <p:spPr>
          <a:xfrm>
            <a:off x="2183588" y="4474812"/>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관련 통계표 없음</a:t>
            </a:r>
            <a:endParaRPr b="0" i="0" sz="906" u="none" cap="none" strike="noStrike">
              <a:solidFill>
                <a:schemeClr val="dk1"/>
              </a:solidFill>
              <a:latin typeface="Calibri"/>
              <a:ea typeface="Calibri"/>
              <a:cs typeface="Calibri"/>
              <a:sym typeface="Calibri"/>
            </a:endParaRPr>
          </a:p>
        </p:txBody>
      </p:sp>
      <p:sp>
        <p:nvSpPr>
          <p:cNvPr id="1380" name="Google Shape;1380;g3fafe51123f_1_197"/>
          <p:cNvSpPr/>
          <p:nvPr/>
        </p:nvSpPr>
        <p:spPr>
          <a:xfrm>
            <a:off x="4470736" y="4411717"/>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g3fafe51123f_1_197"/>
          <p:cNvSpPr txBox="1"/>
          <p:nvPr/>
        </p:nvSpPr>
        <p:spPr>
          <a:xfrm>
            <a:off x="4596923" y="4474812"/>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ITEM 불일치</a:t>
            </a:r>
            <a:endParaRPr b="0" i="0" sz="906" u="none" cap="none" strike="noStrike">
              <a:solidFill>
                <a:schemeClr val="dk1"/>
              </a:solidFill>
              <a:latin typeface="Calibri"/>
              <a:ea typeface="Calibri"/>
              <a:cs typeface="Calibri"/>
              <a:sym typeface="Calibri"/>
            </a:endParaRPr>
          </a:p>
        </p:txBody>
      </p:sp>
      <p:sp>
        <p:nvSpPr>
          <p:cNvPr id="1382" name="Google Shape;1382;g3fafe51123f_1_197"/>
          <p:cNvSpPr/>
          <p:nvPr/>
        </p:nvSpPr>
        <p:spPr>
          <a:xfrm>
            <a:off x="6884071" y="4411717"/>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g3fafe51123f_1_197"/>
          <p:cNvSpPr txBox="1"/>
          <p:nvPr/>
        </p:nvSpPr>
        <p:spPr>
          <a:xfrm>
            <a:off x="7010259" y="4474812"/>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OBJ 필수 축 누락</a:t>
            </a:r>
            <a:endParaRPr b="0" i="0" sz="906" u="none" cap="none" strike="noStrike">
              <a:solidFill>
                <a:schemeClr val="dk1"/>
              </a:solidFill>
              <a:latin typeface="Calibri"/>
              <a:ea typeface="Calibri"/>
              <a:cs typeface="Calibri"/>
              <a:sym typeface="Calibri"/>
            </a:endParaRPr>
          </a:p>
        </p:txBody>
      </p:sp>
      <p:sp>
        <p:nvSpPr>
          <p:cNvPr id="1384" name="Google Shape;1384;g3fafe51123f_1_197"/>
          <p:cNvSpPr/>
          <p:nvPr/>
        </p:nvSpPr>
        <p:spPr>
          <a:xfrm>
            <a:off x="9297407" y="4411717"/>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g3fafe51123f_1_197"/>
          <p:cNvSpPr txBox="1"/>
          <p:nvPr/>
        </p:nvSpPr>
        <p:spPr>
          <a:xfrm>
            <a:off x="9423594" y="4474812"/>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기간·주기 불일치</a:t>
            </a:r>
            <a:endParaRPr b="0" i="0" sz="906" u="none" cap="none" strike="noStrike">
              <a:solidFill>
                <a:schemeClr val="dk1"/>
              </a:solidFill>
              <a:latin typeface="Calibri"/>
              <a:ea typeface="Calibri"/>
              <a:cs typeface="Calibri"/>
              <a:sym typeface="Calibri"/>
            </a:endParaRPr>
          </a:p>
        </p:txBody>
      </p:sp>
      <p:sp>
        <p:nvSpPr>
          <p:cNvPr id="1386" name="Google Shape;1386;g3fafe51123f_1_197"/>
          <p:cNvSpPr/>
          <p:nvPr/>
        </p:nvSpPr>
        <p:spPr>
          <a:xfrm>
            <a:off x="2057400" y="4884932"/>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g3fafe51123f_1_197"/>
          <p:cNvSpPr txBox="1"/>
          <p:nvPr/>
        </p:nvSpPr>
        <p:spPr>
          <a:xfrm>
            <a:off x="2183588" y="4948027"/>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단위 변환 불가</a:t>
            </a:r>
            <a:endParaRPr b="0" i="0" sz="906" u="none" cap="none" strike="noStrike">
              <a:solidFill>
                <a:schemeClr val="dk1"/>
              </a:solidFill>
              <a:latin typeface="Calibri"/>
              <a:ea typeface="Calibri"/>
              <a:cs typeface="Calibri"/>
              <a:sym typeface="Calibri"/>
            </a:endParaRPr>
          </a:p>
        </p:txBody>
      </p:sp>
      <p:sp>
        <p:nvSpPr>
          <p:cNvPr id="1388" name="Google Shape;1388;g3fafe51123f_1_197"/>
          <p:cNvSpPr/>
          <p:nvPr/>
        </p:nvSpPr>
        <p:spPr>
          <a:xfrm>
            <a:off x="4470736" y="4884932"/>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g3fafe51123f_1_197"/>
          <p:cNvSpPr txBox="1"/>
          <p:nvPr/>
        </p:nvSpPr>
        <p:spPr>
          <a:xfrm>
            <a:off x="4596923" y="4948027"/>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파생지표 계산 필요</a:t>
            </a:r>
            <a:endParaRPr b="0" i="0" sz="906" u="none" cap="none" strike="noStrike">
              <a:solidFill>
                <a:schemeClr val="dk1"/>
              </a:solidFill>
              <a:latin typeface="Calibri"/>
              <a:ea typeface="Calibri"/>
              <a:cs typeface="Calibri"/>
              <a:sym typeface="Calibri"/>
            </a:endParaRPr>
          </a:p>
        </p:txBody>
      </p:sp>
      <p:sp>
        <p:nvSpPr>
          <p:cNvPr id="1390" name="Google Shape;1390;g3fafe51123f_1_197"/>
          <p:cNvSpPr/>
          <p:nvPr/>
        </p:nvSpPr>
        <p:spPr>
          <a:xfrm>
            <a:off x="6884071" y="4884932"/>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g3fafe51123f_1_197"/>
          <p:cNvSpPr txBox="1"/>
          <p:nvPr/>
        </p:nvSpPr>
        <p:spPr>
          <a:xfrm>
            <a:off x="7010259" y="4948027"/>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API 응답 없음</a:t>
            </a:r>
            <a:endParaRPr b="0" i="0" sz="906" u="none" cap="none" strike="noStrike">
              <a:solidFill>
                <a:schemeClr val="dk1"/>
              </a:solidFill>
              <a:latin typeface="Calibri"/>
              <a:ea typeface="Calibri"/>
              <a:cs typeface="Calibri"/>
              <a:sym typeface="Calibri"/>
            </a:endParaRPr>
          </a:p>
        </p:txBody>
      </p:sp>
      <p:sp>
        <p:nvSpPr>
          <p:cNvPr id="1392" name="Google Shape;1392;g3fafe51123f_1_197"/>
          <p:cNvSpPr/>
          <p:nvPr/>
        </p:nvSpPr>
        <p:spPr>
          <a:xfrm>
            <a:off x="9297407" y="4884932"/>
            <a:ext cx="2271300" cy="362700"/>
          </a:xfrm>
          <a:prstGeom prst="roundRect">
            <a:avLst>
              <a:gd fmla="val 17391" name="adj"/>
            </a:avLst>
          </a:prstGeom>
          <a:solidFill>
            <a:srgbClr val="FFFFFF"/>
          </a:solidFill>
          <a:ln cap="flat" cmpd="sng" w="10950">
            <a:solidFill>
              <a:srgbClr val="D6DED8"/>
            </a:solidFill>
            <a:prstDash val="solid"/>
            <a:round/>
            <a:headEnd len="sm" w="sm" type="none"/>
            <a:tailEnd len="sm" w="sm" type="none"/>
          </a:ln>
        </p:spPr>
        <p:txBody>
          <a:bodyPr anchorCtr="0" anchor="ctr" bIns="78850" lIns="78850" spcFirstLastPara="1" rIns="78850" wrap="square" tIns="78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g3fafe51123f_1_197"/>
          <p:cNvSpPr txBox="1"/>
          <p:nvPr/>
        </p:nvSpPr>
        <p:spPr>
          <a:xfrm>
            <a:off x="9423594" y="4948027"/>
            <a:ext cx="20190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906"/>
              <a:buFont typeface="Malgun Gothic"/>
              <a:buNone/>
            </a:pPr>
            <a:r>
              <a:rPr b="0" i="0" lang="en-US" sz="906" u="none" cap="none" strike="noStrike">
                <a:solidFill>
                  <a:srgbClr val="1F2421"/>
                </a:solidFill>
                <a:latin typeface="Malgun Gothic"/>
                <a:ea typeface="Malgun Gothic"/>
                <a:cs typeface="Malgun Gothic"/>
                <a:sym typeface="Malgun Gothic"/>
              </a:rPr>
              <a:t>후보 점수 차 작아 보류</a:t>
            </a:r>
            <a:endParaRPr b="0" i="0" sz="906" u="none" cap="none" strike="noStrike">
              <a:solidFill>
                <a:schemeClr val="dk1"/>
              </a:solidFill>
              <a:latin typeface="Calibri"/>
              <a:ea typeface="Calibri"/>
              <a:cs typeface="Calibri"/>
              <a:sym typeface="Calibri"/>
            </a:endParaRPr>
          </a:p>
        </p:txBody>
      </p:sp>
      <p:sp>
        <p:nvSpPr>
          <p:cNvPr id="1394" name="Google Shape;1394;g3fafe51123f_1_197"/>
          <p:cNvSpPr txBox="1"/>
          <p:nvPr/>
        </p:nvSpPr>
        <p:spPr>
          <a:xfrm>
            <a:off x="2057400" y="5720946"/>
            <a:ext cx="4732200" cy="23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69E"/>
              </a:buClr>
              <a:buSzPts val="776"/>
              <a:buFont typeface="Malgun Gothic"/>
              <a:buNone/>
            </a:pPr>
            <a:r>
              <a:rPr b="0" i="0" lang="en-US" sz="776" u="none" cap="none" strike="noStrike">
                <a:solidFill>
                  <a:srgbClr val="9AA69E"/>
                </a:solidFill>
                <a:latin typeface="Malgun Gothic"/>
                <a:ea typeface="Malgun Gothic"/>
                <a:cs typeface="Malgun Gothic"/>
                <a:sym typeface="Malgun Gothic"/>
              </a:rPr>
              <a:t>KOSIS 뉴스 수치 주장 검증 PoC</a:t>
            </a:r>
            <a:endParaRPr b="0" i="0" sz="776" u="none" cap="none" strike="noStrike">
              <a:solidFill>
                <a:schemeClr val="dk1"/>
              </a:solidFill>
              <a:latin typeface="Calibri"/>
              <a:ea typeface="Calibri"/>
              <a:cs typeface="Calibri"/>
              <a:sym typeface="Calibri"/>
            </a:endParaRPr>
          </a:p>
        </p:txBody>
      </p:sp>
      <p:sp>
        <p:nvSpPr>
          <p:cNvPr id="1395" name="Google Shape;1395;g3fafe51123f_1_197"/>
          <p:cNvSpPr txBox="1"/>
          <p:nvPr/>
        </p:nvSpPr>
        <p:spPr>
          <a:xfrm>
            <a:off x="10837682" y="5720946"/>
            <a:ext cx="788700" cy="236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A69E"/>
              </a:buClr>
              <a:buSzPts val="776"/>
              <a:buFont typeface="Malgun Gothic"/>
              <a:buNone/>
            </a:pPr>
            <a:r>
              <a:rPr b="0" i="0" lang="en-US" sz="776" u="none" cap="none" strike="noStrike">
                <a:solidFill>
                  <a:srgbClr val="9AA69E"/>
                </a:solidFill>
                <a:latin typeface="Malgun Gothic"/>
                <a:ea typeface="Malgun Gothic"/>
                <a:cs typeface="Malgun Gothic"/>
                <a:sym typeface="Malgun Gothic"/>
              </a:rPr>
              <a:t>3</a:t>
            </a:r>
            <a:endParaRPr b="0" i="0" sz="776" u="none" cap="none" strike="noStrike">
              <a:solidFill>
                <a:schemeClr val="dk1"/>
              </a:solidFill>
              <a:latin typeface="Calibri"/>
              <a:ea typeface="Calibri"/>
              <a:cs typeface="Calibri"/>
              <a:sym typeface="Calibri"/>
            </a:endParaRPr>
          </a:p>
        </p:txBody>
      </p:sp>
      <p:sp>
        <p:nvSpPr>
          <p:cNvPr id="1396" name="Google Shape;1396;g3fafe51123f_1_197"/>
          <p:cNvSpPr/>
          <p:nvPr/>
        </p:nvSpPr>
        <p:spPr>
          <a:xfrm>
            <a:off x="1914375"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g3fafe51123f_1_197"/>
          <p:cNvSpPr/>
          <p:nvPr/>
        </p:nvSpPr>
        <p:spPr>
          <a:xfrm>
            <a:off x="2028672"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a:t>
            </a:r>
            <a:endParaRPr b="0" i="0" sz="1400" u="none" cap="none" strike="noStrike">
              <a:solidFill>
                <a:srgbClr val="000000"/>
              </a:solidFill>
              <a:latin typeface="Arial"/>
              <a:ea typeface="Arial"/>
              <a:cs typeface="Arial"/>
              <a:sym typeface="Arial"/>
            </a:endParaRPr>
          </a:p>
        </p:txBody>
      </p:sp>
      <p:sp>
        <p:nvSpPr>
          <p:cNvPr id="1398" name="Google Shape;1398;g3fafe51123f_1_197"/>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g3fafe51123f_1_197"/>
          <p:cNvSpPr/>
          <p:nvPr/>
        </p:nvSpPr>
        <p:spPr>
          <a:xfrm>
            <a:off x="2165788" y="246185"/>
            <a:ext cx="19527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Stage A, B, C</a:t>
            </a:r>
            <a:endParaRPr b="0" i="0" sz="1400" u="none" cap="none" strike="noStrike">
              <a:solidFill>
                <a:srgbClr val="000000"/>
              </a:solidFill>
              <a:latin typeface="Arial"/>
              <a:ea typeface="Arial"/>
              <a:cs typeface="Arial"/>
              <a:sym typeface="Arial"/>
            </a:endParaRPr>
          </a:p>
        </p:txBody>
      </p:sp>
      <p:sp>
        <p:nvSpPr>
          <p:cNvPr id="1400" name="Google Shape;1400;g3fafe51123f_1_197"/>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g3fafe51123f_1_197"/>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11 · 중간 결론</a:t>
            </a:r>
            <a:endParaRPr b="0" i="0" sz="1400" u="none" cap="none" strike="noStrike">
              <a:solidFill>
                <a:srgbClr val="000000"/>
              </a:solidFill>
              <a:latin typeface="Arial"/>
              <a:ea typeface="Arial"/>
              <a:cs typeface="Arial"/>
              <a:sym typeface="Arial"/>
            </a:endParaRPr>
          </a:p>
        </p:txBody>
      </p:sp>
      <p:sp>
        <p:nvSpPr>
          <p:cNvPr id="1402" name="Google Shape;1402;g3fafe51123f_1_197"/>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g3fafe51123f_1_197"/>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04.·평가 및 한계</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408" name="Shape 1408"/>
        <p:cNvGrpSpPr/>
        <p:nvPr/>
      </p:nvGrpSpPr>
      <p:grpSpPr>
        <a:xfrm>
          <a:off x="0" y="0"/>
          <a:ext cx="0" cy="0"/>
          <a:chOff x="0" y="0"/>
          <a:chExt cx="0" cy="0"/>
        </a:xfrm>
      </p:grpSpPr>
      <p:sp>
        <p:nvSpPr>
          <p:cNvPr id="1409" name="Google Shape;1409;g3fafe51123f_0_0"/>
          <p:cNvSpPr/>
          <p:nvPr/>
        </p:nvSpPr>
        <p:spPr>
          <a:xfrm>
            <a:off x="-34500" y="13334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g3fafe51123f_0_0"/>
          <p:cNvSpPr/>
          <p:nvPr/>
        </p:nvSpPr>
        <p:spPr>
          <a:xfrm>
            <a:off x="0" y="0"/>
            <a:ext cx="12191700" cy="123900"/>
          </a:xfrm>
          <a:prstGeom prst="rect">
            <a:avLst/>
          </a:prstGeom>
          <a:solidFill>
            <a:srgbClr val="3F7A57"/>
          </a:solidFill>
          <a:ln cap="flat" cmpd="sng" w="114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g3fafe51123f_0_0"/>
          <p:cNvSpPr/>
          <p:nvPr/>
        </p:nvSpPr>
        <p:spPr>
          <a:xfrm>
            <a:off x="0" y="16555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g3fafe51123f_0_0"/>
          <p:cNvSpPr/>
          <p:nvPr/>
        </p:nvSpPr>
        <p:spPr>
          <a:xfrm>
            <a:off x="1870436" y="754785"/>
            <a:ext cx="10667700" cy="552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1271D"/>
                </a:solidFill>
                <a:latin typeface="Arial"/>
                <a:ea typeface="Arial"/>
                <a:cs typeface="Arial"/>
                <a:sym typeface="Arial"/>
              </a:rPr>
              <a:t>최적화로 시간 단축</a:t>
            </a:r>
            <a:endParaRPr b="0" i="0" sz="1400" u="none" cap="none" strike="noStrike">
              <a:solidFill>
                <a:srgbClr val="000000"/>
              </a:solidFill>
              <a:latin typeface="Arial"/>
              <a:ea typeface="Arial"/>
              <a:cs typeface="Arial"/>
              <a:sym typeface="Arial"/>
            </a:endParaRPr>
          </a:p>
        </p:txBody>
      </p:sp>
      <p:sp>
        <p:nvSpPr>
          <p:cNvPr id="1413" name="Google Shape;1413;g3fafe51123f_0_0"/>
          <p:cNvSpPr/>
          <p:nvPr/>
        </p:nvSpPr>
        <p:spPr>
          <a:xfrm>
            <a:off x="1894166" y="1307310"/>
            <a:ext cx="10286700" cy="28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66786E"/>
                </a:solidFill>
                <a:latin typeface="Arial"/>
                <a:ea typeface="Arial"/>
                <a:cs typeface="Arial"/>
                <a:sym typeface="Arial"/>
              </a:rPr>
              <a:t>계산 병렬처리 및 작업량 최소화로 전체 파이프라인 처리시간 단축</a:t>
            </a:r>
            <a:endParaRPr b="0" i="0" sz="1400" u="none" cap="none" strike="noStrike">
              <a:solidFill>
                <a:srgbClr val="000000"/>
              </a:solidFill>
              <a:latin typeface="Arial"/>
              <a:ea typeface="Arial"/>
              <a:cs typeface="Arial"/>
              <a:sym typeface="Arial"/>
            </a:endParaRPr>
          </a:p>
        </p:txBody>
      </p:sp>
      <p:sp>
        <p:nvSpPr>
          <p:cNvPr id="1414" name="Google Shape;1414;g3fafe51123f_0_0"/>
          <p:cNvSpPr/>
          <p:nvPr/>
        </p:nvSpPr>
        <p:spPr>
          <a:xfrm>
            <a:off x="1883780" y="6513425"/>
            <a:ext cx="3238500" cy="152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KOSIS 뉴스 수치 주장 검증 PoC</a:t>
            </a:r>
            <a:endParaRPr b="0" i="0" sz="1400" u="none" cap="none" strike="noStrike">
              <a:solidFill>
                <a:srgbClr val="000000"/>
              </a:solidFill>
              <a:latin typeface="Arial"/>
              <a:ea typeface="Arial"/>
              <a:cs typeface="Arial"/>
              <a:sym typeface="Arial"/>
            </a:endParaRPr>
          </a:p>
        </p:txBody>
      </p:sp>
      <p:sp>
        <p:nvSpPr>
          <p:cNvPr id="1415" name="Google Shape;1415;g3fafe51123f_0_0"/>
          <p:cNvSpPr/>
          <p:nvPr/>
        </p:nvSpPr>
        <p:spPr>
          <a:xfrm>
            <a:off x="1914375"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g3fafe51123f_0_0"/>
          <p:cNvSpPr/>
          <p:nvPr/>
        </p:nvSpPr>
        <p:spPr>
          <a:xfrm>
            <a:off x="2028672"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a:t>
            </a:r>
            <a:endParaRPr b="0" i="0" sz="1400" u="none" cap="none" strike="noStrike">
              <a:solidFill>
                <a:srgbClr val="000000"/>
              </a:solidFill>
              <a:latin typeface="Arial"/>
              <a:ea typeface="Arial"/>
              <a:cs typeface="Arial"/>
              <a:sym typeface="Arial"/>
            </a:endParaRPr>
          </a:p>
        </p:txBody>
      </p:sp>
      <p:sp>
        <p:nvSpPr>
          <p:cNvPr id="1417" name="Google Shape;1417;g3fafe51123f_0_0"/>
          <p:cNvSpPr/>
          <p:nvPr/>
        </p:nvSpPr>
        <p:spPr>
          <a:xfrm>
            <a:off x="376871" y="325123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g3fafe51123f_0_0"/>
          <p:cNvSpPr/>
          <p:nvPr/>
        </p:nvSpPr>
        <p:spPr>
          <a:xfrm>
            <a:off x="384525" y="196212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g3fafe51123f_0_0"/>
          <p:cNvSpPr/>
          <p:nvPr/>
        </p:nvSpPr>
        <p:spPr>
          <a:xfrm>
            <a:off x="348277" y="375676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g3fafe51123f_0_0"/>
          <p:cNvSpPr/>
          <p:nvPr/>
        </p:nvSpPr>
        <p:spPr>
          <a:xfrm>
            <a:off x="580896" y="18478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421" name="Google Shape;1421;g3fafe51123f_0_0"/>
          <p:cNvSpPr/>
          <p:nvPr/>
        </p:nvSpPr>
        <p:spPr>
          <a:xfrm>
            <a:off x="580896" y="24574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422" name="Google Shape;1422;g3fafe51123f_0_0"/>
          <p:cNvSpPr/>
          <p:nvPr/>
        </p:nvSpPr>
        <p:spPr>
          <a:xfrm>
            <a:off x="580896" y="30670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1423" name="Google Shape;1423;g3fafe51123f_0_0"/>
          <p:cNvSpPr/>
          <p:nvPr/>
        </p:nvSpPr>
        <p:spPr>
          <a:xfrm>
            <a:off x="580896" y="36766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1424" name="Google Shape;1424;g3fafe51123f_0_0"/>
          <p:cNvSpPr/>
          <p:nvPr/>
        </p:nvSpPr>
        <p:spPr>
          <a:xfrm>
            <a:off x="580896" y="426364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425" name="Google Shape;1425;g3fafe51123f_0_0"/>
          <p:cNvGrpSpPr/>
          <p:nvPr/>
        </p:nvGrpSpPr>
        <p:grpSpPr>
          <a:xfrm>
            <a:off x="283429" y="3086157"/>
            <a:ext cx="209400" cy="209700"/>
            <a:chOff x="-3275292" y="2173036"/>
            <a:chExt cx="209400" cy="209700"/>
          </a:xfrm>
        </p:grpSpPr>
        <p:sp>
          <p:nvSpPr>
            <p:cNvPr id="1426" name="Google Shape;1426;g3fafe51123f_0_0"/>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g3fafe51123f_0_0"/>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8" name="Google Shape;1428;g3fafe51123f_0_0"/>
          <p:cNvSpPr/>
          <p:nvPr/>
        </p:nvSpPr>
        <p:spPr>
          <a:xfrm>
            <a:off x="354027" y="192942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g3fafe51123f_0_0"/>
          <p:cNvSpPr/>
          <p:nvPr/>
        </p:nvSpPr>
        <p:spPr>
          <a:xfrm>
            <a:off x="354027" y="253365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g3fafe51123f_0_0"/>
          <p:cNvSpPr/>
          <p:nvPr/>
        </p:nvSpPr>
        <p:spPr>
          <a:xfrm>
            <a:off x="350123" y="31459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g3fafe51123f_0_0"/>
          <p:cNvSpPr/>
          <p:nvPr/>
        </p:nvSpPr>
        <p:spPr>
          <a:xfrm>
            <a:off x="350027" y="37541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g3fafe51123f_0_0"/>
          <p:cNvSpPr/>
          <p:nvPr/>
        </p:nvSpPr>
        <p:spPr>
          <a:xfrm>
            <a:off x="348294" y="43297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g3fafe51123f_0_0"/>
          <p:cNvSpPr/>
          <p:nvPr/>
        </p:nvSpPr>
        <p:spPr>
          <a:xfrm>
            <a:off x="348294" y="375591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4" name="Google Shape;1434;g3fafe51123f_0_0"/>
          <p:cNvPicPr preferRelativeResize="0"/>
          <p:nvPr/>
        </p:nvPicPr>
        <p:blipFill rotWithShape="1">
          <a:blip r:embed="rId3">
            <a:alphaModFix/>
          </a:blip>
          <a:srcRect b="0" l="0" r="0" t="0"/>
          <a:stretch/>
        </p:blipFill>
        <p:spPr>
          <a:xfrm>
            <a:off x="1322198" y="1538772"/>
            <a:ext cx="6843475" cy="4184199"/>
          </a:xfrm>
          <a:prstGeom prst="rect">
            <a:avLst/>
          </a:prstGeom>
          <a:noFill/>
          <a:ln>
            <a:noFill/>
          </a:ln>
        </p:spPr>
      </p:pic>
      <p:graphicFrame>
        <p:nvGraphicFramePr>
          <p:cNvPr id="1435" name="Google Shape;1435;g3fafe51123f_0_0"/>
          <p:cNvGraphicFramePr/>
          <p:nvPr/>
        </p:nvGraphicFramePr>
        <p:xfrm>
          <a:off x="8000038" y="2210357"/>
          <a:ext cx="3000000" cy="3000000"/>
        </p:xfrm>
        <a:graphic>
          <a:graphicData uri="http://schemas.openxmlformats.org/drawingml/2006/table">
            <a:tbl>
              <a:tblPr>
                <a:noFill/>
                <a:tableStyleId>{5FD2CFC7-18C8-48F0-B3CB-99CFFB3C879D}</a:tableStyleId>
              </a:tblPr>
              <a:tblGrid>
                <a:gridCol w="947400"/>
                <a:gridCol w="1317350"/>
                <a:gridCol w="1540175"/>
              </a:tblGrid>
              <a:tr h="434625">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F4F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기존 처리시간</a:t>
                      </a:r>
                      <a:endParaRPr sz="1400" u="none" cap="none" strike="noStrike"/>
                    </a:p>
                  </a:txBody>
                  <a:tcPr marT="91425" marB="91425" marR="91425" marL="91425">
                    <a:lnL cap="flat" cmpd="sng" w="9525">
                      <a:solidFill>
                        <a:srgbClr val="9E9E9E"/>
                      </a:solidFill>
                      <a:prstDash val="solid"/>
                      <a:round/>
                      <a:headEnd len="sm" w="sm" type="none"/>
                      <a:tailEnd len="sm" w="sm" type="none"/>
                    </a:lnL>
                    <a:solidFill>
                      <a:srgbClr val="D6E0D7"/>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개선 후 처리시간</a:t>
                      </a:r>
                      <a:endParaRPr sz="1400" u="none" cap="none" strike="noStrike"/>
                    </a:p>
                  </a:txBody>
                  <a:tcPr marT="91425" marB="91425" marR="91425" marL="91425">
                    <a:solidFill>
                      <a:srgbClr val="D6E0D7"/>
                    </a:solidFill>
                  </a:tcPr>
                </a:tc>
              </a:tr>
              <a:tr h="434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전체</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F4F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193.25초</a:t>
                      </a:r>
                      <a:endParaRPr sz="14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120.70초</a:t>
                      </a:r>
                      <a:endParaRPr sz="1400" u="none" cap="none" strike="noStrike"/>
                    </a:p>
                  </a:txBody>
                  <a:tcPr marT="91425" marB="91425" marR="91425" marL="91425"/>
                </a:tc>
              </a:tr>
              <a:tr h="434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stage A</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F4F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42.31초</a:t>
                      </a:r>
                      <a:endParaRPr sz="14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21.24초</a:t>
                      </a:r>
                      <a:endParaRPr sz="1400" u="none" cap="none" strike="noStrike"/>
                    </a:p>
                  </a:txBody>
                  <a:tcPr marT="91425" marB="91425" marR="91425" marL="91425"/>
                </a:tc>
              </a:tr>
              <a:tr h="434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Stage B </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F4F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65.57초</a:t>
                      </a:r>
                      <a:endParaRPr sz="14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32.18초</a:t>
                      </a:r>
                      <a:endParaRPr sz="1400" u="none" cap="none" strike="noStrike"/>
                    </a:p>
                  </a:txBody>
                  <a:tcPr marT="91425" marB="91425" marR="91425" marL="91425"/>
                </a:tc>
              </a:tr>
              <a:tr h="434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Stage C</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F4F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41.17초</a:t>
                      </a:r>
                      <a:endParaRPr sz="1400" u="none" cap="none" strike="noStrike"/>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30.15초</a:t>
                      </a:r>
                      <a:endParaRPr sz="1400" u="none" cap="none" strike="noStrike"/>
                    </a:p>
                  </a:txBody>
                  <a:tcPr marT="91425" marB="91425" marR="91425" marL="91425"/>
                </a:tc>
              </a:tr>
              <a:tr h="434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최종 판정</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F4F0"/>
                    </a:solidFill>
                  </a:tcPr>
                </a:tc>
                <a:tc gridSpan="2">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Match 3, Unresolved 12</a:t>
                      </a:r>
                      <a:endParaRPr sz="1400" u="none" cap="none" strike="noStrike"/>
                    </a:p>
                  </a:txBody>
                  <a:tcPr marT="91425" marB="91425" marR="91425" marL="91425">
                    <a:lnL cap="flat" cmpd="sng" w="9525">
                      <a:solidFill>
                        <a:srgbClr val="9E9E9E"/>
                      </a:solidFill>
                      <a:prstDash val="solid"/>
                      <a:round/>
                      <a:headEnd len="sm" w="sm" type="none"/>
                      <a:tailEnd len="sm" w="sm" type="none"/>
                    </a:lnL>
                  </a:tcPr>
                </a:tc>
                <a:tc hMerge="1"/>
              </a:tr>
            </a:tbl>
          </a:graphicData>
        </a:graphic>
      </p:graphicFrame>
      <p:sp>
        <p:nvSpPr>
          <p:cNvPr id="1436" name="Google Shape;1436;g3fafe51123f_0_0"/>
          <p:cNvSpPr txBox="1"/>
          <p:nvPr/>
        </p:nvSpPr>
        <p:spPr>
          <a:xfrm>
            <a:off x="8374082" y="5014444"/>
            <a:ext cx="3609000" cy="5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성능은 유지되며 처리시간 72.55초 단축</a:t>
            </a:r>
            <a:endParaRPr b="0" i="0" sz="1600" u="none" cap="none" strike="noStrike">
              <a:solidFill>
                <a:srgbClr val="000000"/>
              </a:solidFill>
              <a:latin typeface="Arial"/>
              <a:ea typeface="Arial"/>
              <a:cs typeface="Arial"/>
              <a:sym typeface="Arial"/>
            </a:endParaRPr>
          </a:p>
        </p:txBody>
      </p:sp>
      <p:sp>
        <p:nvSpPr>
          <p:cNvPr id="1437" name="Google Shape;1437;g3fafe51123f_0_0"/>
          <p:cNvSpPr/>
          <p:nvPr/>
        </p:nvSpPr>
        <p:spPr>
          <a:xfrm>
            <a:off x="8047600" y="5102269"/>
            <a:ext cx="326400" cy="295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g3fafe51123f_0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g3fafe51123f_0_0"/>
          <p:cNvSpPr/>
          <p:nvPr/>
        </p:nvSpPr>
        <p:spPr>
          <a:xfrm>
            <a:off x="2165788" y="246185"/>
            <a:ext cx="1952700" cy="381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Stage A, B, C</a:t>
            </a:r>
            <a:endParaRPr b="0" i="0" sz="1400" u="none" cap="none" strike="noStrike">
              <a:solidFill>
                <a:srgbClr val="000000"/>
              </a:solidFill>
              <a:latin typeface="Arial"/>
              <a:ea typeface="Arial"/>
              <a:cs typeface="Arial"/>
              <a:sym typeface="Arial"/>
            </a:endParaRPr>
          </a:p>
        </p:txBody>
      </p:sp>
      <p:sp>
        <p:nvSpPr>
          <p:cNvPr id="1440" name="Google Shape;1440;g3fafe51123f_0_0"/>
          <p:cNvSpPr/>
          <p:nvPr/>
        </p:nvSpPr>
        <p:spPr>
          <a:xfrm>
            <a:off x="-34500" y="13334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g3fafe51123f_0_0"/>
          <p:cNvSpPr/>
          <p:nvPr/>
        </p:nvSpPr>
        <p:spPr>
          <a:xfrm>
            <a:off x="376869" y="3758261"/>
            <a:ext cx="18900" cy="609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g3fafe51123f_0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g3fafe51123f_0_0"/>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11 · 중간 결론</a:t>
            </a:r>
            <a:endParaRPr b="0" i="0" sz="1400" u="none" cap="none" strike="noStrike">
              <a:solidFill>
                <a:srgbClr val="000000"/>
              </a:solidFill>
              <a:latin typeface="Arial"/>
              <a:ea typeface="Arial"/>
              <a:cs typeface="Arial"/>
              <a:sym typeface="Arial"/>
            </a:endParaRPr>
          </a:p>
        </p:txBody>
      </p:sp>
      <p:sp>
        <p:nvSpPr>
          <p:cNvPr id="1444" name="Google Shape;1444;g3fafe51123f_0_0"/>
          <p:cNvSpPr/>
          <p:nvPr/>
        </p:nvSpPr>
        <p:spPr>
          <a:xfrm>
            <a:off x="376414" y="1962125"/>
            <a:ext cx="18900" cy="18684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g3fafe51123f_0_0"/>
          <p:cNvSpPr/>
          <p:nvPr/>
        </p:nvSpPr>
        <p:spPr>
          <a:xfrm>
            <a:off x="348277" y="375676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g3fafe51123f_0_0"/>
          <p:cNvSpPr/>
          <p:nvPr/>
        </p:nvSpPr>
        <p:spPr>
          <a:xfrm>
            <a:off x="580896" y="18478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447" name="Google Shape;1447;g3fafe51123f_0_0"/>
          <p:cNvSpPr/>
          <p:nvPr/>
        </p:nvSpPr>
        <p:spPr>
          <a:xfrm>
            <a:off x="580896" y="24574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448" name="Google Shape;1448;g3fafe51123f_0_0"/>
          <p:cNvSpPr/>
          <p:nvPr/>
        </p:nvSpPr>
        <p:spPr>
          <a:xfrm>
            <a:off x="580896" y="30670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프로젝트 과정</a:t>
            </a:r>
            <a:endParaRPr b="0" i="0" sz="1400" u="none" cap="none" strike="noStrike">
              <a:solidFill>
                <a:srgbClr val="66786E"/>
              </a:solidFill>
              <a:latin typeface="Arial"/>
              <a:ea typeface="Arial"/>
              <a:cs typeface="Arial"/>
              <a:sym typeface="Arial"/>
            </a:endParaRPr>
          </a:p>
        </p:txBody>
      </p:sp>
      <p:sp>
        <p:nvSpPr>
          <p:cNvPr id="1449" name="Google Shape;1449;g3fafe51123f_0_0"/>
          <p:cNvSpPr/>
          <p:nvPr/>
        </p:nvSpPr>
        <p:spPr>
          <a:xfrm>
            <a:off x="580896" y="36766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50" u="none" cap="none" strike="noStrike">
                <a:solidFill>
                  <a:srgbClr val="11271D"/>
                </a:solidFill>
                <a:latin typeface="Arial"/>
                <a:ea typeface="Arial"/>
                <a:cs typeface="Arial"/>
                <a:sym typeface="Arial"/>
              </a:rPr>
              <a:t>평가 및 한계</a:t>
            </a:r>
            <a:endParaRPr b="1" i="0" sz="850" u="none" cap="none" strike="noStrike">
              <a:solidFill>
                <a:srgbClr val="11271D"/>
              </a:solidFill>
              <a:latin typeface="Arial"/>
              <a:ea typeface="Arial"/>
              <a:cs typeface="Arial"/>
              <a:sym typeface="Arial"/>
            </a:endParaRPr>
          </a:p>
        </p:txBody>
      </p:sp>
      <p:sp>
        <p:nvSpPr>
          <p:cNvPr id="1450" name="Google Shape;1450;g3fafe51123f_0_0"/>
          <p:cNvSpPr/>
          <p:nvPr/>
        </p:nvSpPr>
        <p:spPr>
          <a:xfrm>
            <a:off x="580896" y="426364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451" name="Google Shape;1451;g3fafe51123f_0_0"/>
          <p:cNvGrpSpPr/>
          <p:nvPr/>
        </p:nvGrpSpPr>
        <p:grpSpPr>
          <a:xfrm>
            <a:off x="283404" y="3686107"/>
            <a:ext cx="209400" cy="209700"/>
            <a:chOff x="-3275292" y="2173036"/>
            <a:chExt cx="209400" cy="209700"/>
          </a:xfrm>
        </p:grpSpPr>
        <p:sp>
          <p:nvSpPr>
            <p:cNvPr id="1452" name="Google Shape;1452;g3fafe51123f_0_0"/>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g3fafe51123f_0_0"/>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54" name="Google Shape;1454;g3fafe51123f_0_0"/>
          <p:cNvSpPr/>
          <p:nvPr/>
        </p:nvSpPr>
        <p:spPr>
          <a:xfrm>
            <a:off x="354027" y="192942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g3fafe51123f_0_0"/>
          <p:cNvSpPr/>
          <p:nvPr/>
        </p:nvSpPr>
        <p:spPr>
          <a:xfrm>
            <a:off x="354027" y="253365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g3fafe51123f_0_0"/>
          <p:cNvSpPr/>
          <p:nvPr/>
        </p:nvSpPr>
        <p:spPr>
          <a:xfrm>
            <a:off x="350123" y="31459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g3fafe51123f_0_0"/>
          <p:cNvSpPr/>
          <p:nvPr/>
        </p:nvSpPr>
        <p:spPr>
          <a:xfrm>
            <a:off x="350027" y="37541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g3fafe51123f_0_0"/>
          <p:cNvSpPr/>
          <p:nvPr/>
        </p:nvSpPr>
        <p:spPr>
          <a:xfrm>
            <a:off x="348294" y="43297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g3fafe51123f_0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g3fafe51123f_0_0"/>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04.·평가 및 한계</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465" name="Shape 1465"/>
        <p:cNvGrpSpPr/>
        <p:nvPr/>
      </p:nvGrpSpPr>
      <p:grpSpPr>
        <a:xfrm>
          <a:off x="0" y="0"/>
          <a:ext cx="0" cy="0"/>
          <a:chOff x="0" y="0"/>
          <a:chExt cx="0" cy="0"/>
        </a:xfrm>
      </p:grpSpPr>
      <p:sp>
        <p:nvSpPr>
          <p:cNvPr id="1466" name="Google Shape;1466;g3fafe51123f_1_93"/>
          <p:cNvSpPr/>
          <p:nvPr/>
        </p:nvSpPr>
        <p:spPr>
          <a:xfrm>
            <a:off x="-1411294" y="1668286"/>
            <a:ext cx="18900" cy="3048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g3fafe51123f_1_93"/>
          <p:cNvSpPr/>
          <p:nvPr/>
        </p:nvSpPr>
        <p:spPr>
          <a:xfrm>
            <a:off x="-1411294" y="4716286"/>
            <a:ext cx="18900" cy="609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g3fafe51123f_1_93"/>
          <p:cNvSpPr/>
          <p:nvPr/>
        </p:nvSpPr>
        <p:spPr>
          <a:xfrm>
            <a:off x="-1439869" y="16301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g3fafe51123f_1_93"/>
          <p:cNvSpPr/>
          <p:nvPr/>
        </p:nvSpPr>
        <p:spPr>
          <a:xfrm>
            <a:off x="-1211275" y="15730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기사 입력</a:t>
            </a:r>
            <a:endParaRPr b="0" i="0" sz="1400" u="none" cap="none" strike="noStrike">
              <a:solidFill>
                <a:srgbClr val="000000"/>
              </a:solidFill>
              <a:latin typeface="Arial"/>
              <a:ea typeface="Arial"/>
              <a:cs typeface="Arial"/>
              <a:sym typeface="Arial"/>
            </a:endParaRPr>
          </a:p>
        </p:txBody>
      </p:sp>
      <p:sp>
        <p:nvSpPr>
          <p:cNvPr id="1470" name="Google Shape;1470;g3fafe51123f_1_93"/>
          <p:cNvSpPr/>
          <p:nvPr/>
        </p:nvSpPr>
        <p:spPr>
          <a:xfrm>
            <a:off x="-1439869" y="22397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g3fafe51123f_1_93"/>
          <p:cNvSpPr/>
          <p:nvPr/>
        </p:nvSpPr>
        <p:spPr>
          <a:xfrm>
            <a:off x="-1211275" y="21826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전처리</a:t>
            </a:r>
            <a:endParaRPr b="0" i="0" sz="1400" u="none" cap="none" strike="noStrike">
              <a:solidFill>
                <a:srgbClr val="000000"/>
              </a:solidFill>
              <a:latin typeface="Arial"/>
              <a:ea typeface="Arial"/>
              <a:cs typeface="Arial"/>
              <a:sym typeface="Arial"/>
            </a:endParaRPr>
          </a:p>
        </p:txBody>
      </p:sp>
      <p:sp>
        <p:nvSpPr>
          <p:cNvPr id="1472" name="Google Shape;1472;g3fafe51123f_1_93"/>
          <p:cNvSpPr/>
          <p:nvPr/>
        </p:nvSpPr>
        <p:spPr>
          <a:xfrm>
            <a:off x="-1439869" y="28493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g3fafe51123f_1_93"/>
          <p:cNvSpPr/>
          <p:nvPr/>
        </p:nvSpPr>
        <p:spPr>
          <a:xfrm>
            <a:off x="-1211275" y="27922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HCX-007</a:t>
            </a:r>
            <a:endParaRPr b="0" i="0" sz="1400" u="none" cap="none" strike="noStrike">
              <a:solidFill>
                <a:srgbClr val="000000"/>
              </a:solidFill>
              <a:latin typeface="Arial"/>
              <a:ea typeface="Arial"/>
              <a:cs typeface="Arial"/>
              <a:sym typeface="Arial"/>
            </a:endParaRPr>
          </a:p>
        </p:txBody>
      </p:sp>
      <p:sp>
        <p:nvSpPr>
          <p:cNvPr id="1474" name="Google Shape;1474;g3fafe51123f_1_93"/>
          <p:cNvSpPr/>
          <p:nvPr/>
        </p:nvSpPr>
        <p:spPr>
          <a:xfrm>
            <a:off x="-1439869" y="34589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g3fafe51123f_1_93"/>
          <p:cNvSpPr/>
          <p:nvPr/>
        </p:nvSpPr>
        <p:spPr>
          <a:xfrm>
            <a:off x="-1211275" y="34018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scope gate</a:t>
            </a:r>
            <a:endParaRPr b="0" i="0" sz="1400" u="none" cap="none" strike="noStrike">
              <a:solidFill>
                <a:srgbClr val="000000"/>
              </a:solidFill>
              <a:latin typeface="Arial"/>
              <a:ea typeface="Arial"/>
              <a:cs typeface="Arial"/>
              <a:sym typeface="Arial"/>
            </a:endParaRPr>
          </a:p>
        </p:txBody>
      </p:sp>
      <p:sp>
        <p:nvSpPr>
          <p:cNvPr id="1476" name="Google Shape;1476;g3fafe51123f_1_93"/>
          <p:cNvSpPr/>
          <p:nvPr/>
        </p:nvSpPr>
        <p:spPr>
          <a:xfrm>
            <a:off x="-1506542" y="4001911"/>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g3fafe51123f_1_93"/>
          <p:cNvSpPr/>
          <p:nvPr/>
        </p:nvSpPr>
        <p:spPr>
          <a:xfrm>
            <a:off x="-1468443" y="4040011"/>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g3fafe51123f_1_93"/>
          <p:cNvSpPr/>
          <p:nvPr/>
        </p:nvSpPr>
        <p:spPr>
          <a:xfrm>
            <a:off x="-1211275" y="40114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1" i="0" lang="en-US" sz="863" u="none" cap="none" strike="noStrike">
                <a:solidFill>
                  <a:srgbClr val="11271D"/>
                </a:solidFill>
                <a:latin typeface="Arial"/>
                <a:ea typeface="Arial"/>
                <a:cs typeface="Arial"/>
                <a:sym typeface="Arial"/>
              </a:rPr>
              <a:t>BGE-M3</a:t>
            </a:r>
            <a:endParaRPr b="0" i="0" sz="1400" u="none" cap="none" strike="noStrike">
              <a:solidFill>
                <a:srgbClr val="000000"/>
              </a:solidFill>
              <a:latin typeface="Arial"/>
              <a:ea typeface="Arial"/>
              <a:cs typeface="Arial"/>
              <a:sym typeface="Arial"/>
            </a:endParaRPr>
          </a:p>
        </p:txBody>
      </p:sp>
      <p:sp>
        <p:nvSpPr>
          <p:cNvPr id="1479" name="Google Shape;1479;g3fafe51123f_1_93"/>
          <p:cNvSpPr/>
          <p:nvPr/>
        </p:nvSpPr>
        <p:spPr>
          <a:xfrm>
            <a:off x="-1506542" y="4611511"/>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g3fafe51123f_1_93"/>
          <p:cNvSpPr/>
          <p:nvPr/>
        </p:nvSpPr>
        <p:spPr>
          <a:xfrm>
            <a:off x="-1468443" y="4649611"/>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g3fafe51123f_1_93"/>
          <p:cNvSpPr/>
          <p:nvPr/>
        </p:nvSpPr>
        <p:spPr>
          <a:xfrm>
            <a:off x="-1211275" y="46210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3"/>
              <a:buFont typeface="Arial"/>
              <a:buNone/>
            </a:pPr>
            <a:r>
              <a:rPr b="1" i="0" lang="en-US" sz="863" u="none" cap="none" strike="noStrike">
                <a:solidFill>
                  <a:srgbClr val="11271D"/>
                </a:solidFill>
                <a:latin typeface="Arial"/>
                <a:ea typeface="Arial"/>
                <a:cs typeface="Arial"/>
                <a:sym typeface="Arial"/>
              </a:rPr>
              <a:t>PostgreSQL</a:t>
            </a:r>
            <a:endParaRPr b="0" i="0" sz="1400" u="none" cap="none" strike="noStrike">
              <a:solidFill>
                <a:srgbClr val="000000"/>
              </a:solidFill>
              <a:latin typeface="Arial"/>
              <a:ea typeface="Arial"/>
              <a:cs typeface="Arial"/>
              <a:sym typeface="Arial"/>
            </a:endParaRPr>
          </a:p>
        </p:txBody>
      </p:sp>
      <p:sp>
        <p:nvSpPr>
          <p:cNvPr id="1482" name="Google Shape;1482;g3fafe51123f_1_93"/>
          <p:cNvSpPr/>
          <p:nvPr/>
        </p:nvSpPr>
        <p:spPr>
          <a:xfrm>
            <a:off x="-1439869" y="52877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g3fafe51123f_1_93"/>
          <p:cNvSpPr/>
          <p:nvPr/>
        </p:nvSpPr>
        <p:spPr>
          <a:xfrm>
            <a:off x="-1211275" y="52115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공식값 대조</a:t>
            </a:r>
            <a:endParaRPr b="0" i="0" sz="1400" u="none" cap="none" strike="noStrike">
              <a:solidFill>
                <a:srgbClr val="000000"/>
              </a:solidFill>
              <a:latin typeface="Arial"/>
              <a:ea typeface="Arial"/>
              <a:cs typeface="Arial"/>
              <a:sym typeface="Arial"/>
            </a:endParaRPr>
          </a:p>
        </p:txBody>
      </p:sp>
      <p:sp>
        <p:nvSpPr>
          <p:cNvPr id="1484" name="Google Shape;1484;g3fafe51123f_1_93"/>
          <p:cNvSpPr txBox="1"/>
          <p:nvPr/>
        </p:nvSpPr>
        <p:spPr>
          <a:xfrm>
            <a:off x="2039556" y="669358"/>
            <a:ext cx="9779400" cy="72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2421"/>
              </a:buClr>
              <a:buSzPts val="2380"/>
              <a:buFont typeface="Malgun Gothic"/>
              <a:buNone/>
            </a:pPr>
            <a:r>
              <a:rPr b="1" i="0" lang="en-US" sz="2380" u="none" cap="none" strike="noStrike">
                <a:solidFill>
                  <a:srgbClr val="1F2421"/>
                </a:solidFill>
                <a:latin typeface="Malgun Gothic"/>
                <a:ea typeface="Malgun Gothic"/>
                <a:cs typeface="Malgun Gothic"/>
                <a:sym typeface="Malgun Gothic"/>
              </a:rPr>
              <a:t>개발셋 90%가 신규 데이터에서는 54%로 하락</a:t>
            </a:r>
            <a:endParaRPr b="0" i="0" sz="2380" u="none" cap="none" strike="noStrike">
              <a:solidFill>
                <a:schemeClr val="dk1"/>
              </a:solidFill>
              <a:latin typeface="Calibri"/>
              <a:ea typeface="Calibri"/>
              <a:cs typeface="Calibri"/>
              <a:sym typeface="Calibri"/>
            </a:endParaRPr>
          </a:p>
        </p:txBody>
      </p:sp>
      <p:sp>
        <p:nvSpPr>
          <p:cNvPr id="1485" name="Google Shape;1485;g3fafe51123f_1_93"/>
          <p:cNvSpPr txBox="1"/>
          <p:nvPr/>
        </p:nvSpPr>
        <p:spPr>
          <a:xfrm>
            <a:off x="2039556" y="1120462"/>
            <a:ext cx="9779400" cy="27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1146"/>
              <a:buFont typeface="Malgun Gothic"/>
              <a:buNone/>
            </a:pPr>
            <a:r>
              <a:rPr b="0" i="0" lang="en-US" sz="1146" u="none" cap="none" strike="noStrike">
                <a:solidFill>
                  <a:srgbClr val="5F6B63"/>
                </a:solidFill>
                <a:latin typeface="Malgun Gothic"/>
                <a:ea typeface="Malgun Gothic"/>
                <a:cs typeface="Malgun Gothic"/>
                <a:sym typeface="Malgun Gothic"/>
              </a:rPr>
              <a:t>개발셋 재평가 결과를 성능으로 해석한 것이 원인이었습니다.</a:t>
            </a:r>
            <a:endParaRPr b="0" i="0" sz="1146" u="none" cap="none" strike="noStrike">
              <a:solidFill>
                <a:schemeClr val="dk1"/>
              </a:solidFill>
              <a:latin typeface="Calibri"/>
              <a:ea typeface="Calibri"/>
              <a:cs typeface="Calibri"/>
              <a:sym typeface="Calibri"/>
            </a:endParaRPr>
          </a:p>
        </p:txBody>
      </p:sp>
      <p:sp>
        <p:nvSpPr>
          <p:cNvPr id="1486" name="Google Shape;1486;g3fafe51123f_1_93"/>
          <p:cNvSpPr/>
          <p:nvPr/>
        </p:nvSpPr>
        <p:spPr>
          <a:xfrm>
            <a:off x="8552191" y="1338938"/>
            <a:ext cx="3381900" cy="1294200"/>
          </a:xfrm>
          <a:prstGeom prst="roundRect">
            <a:avLst>
              <a:gd fmla="val 5333" name="adj"/>
            </a:avLst>
          </a:prstGeom>
          <a:solidFill>
            <a:srgbClr val="E9F2EC"/>
          </a:solidFill>
          <a:ln cap="flat" cmpd="sng" w="9725">
            <a:solidFill>
              <a:srgbClr val="C6DCCD"/>
            </a:solidFill>
            <a:prstDash val="solid"/>
            <a:round/>
            <a:headEnd len="sm" w="sm" type="none"/>
            <a:tailEnd len="sm" w="sm" type="none"/>
          </a:ln>
        </p:spPr>
        <p:txBody>
          <a:bodyPr anchorCtr="0" anchor="ctr" bIns="70000" lIns="70000" spcFirstLastPara="1" rIns="70000" wrap="square" tIns="70000">
            <a:noAutofit/>
          </a:bodyPr>
          <a:lstStyle/>
          <a:p>
            <a:pPr indent="0" lvl="0" marL="0" marR="0" rtl="0" algn="l">
              <a:lnSpc>
                <a:spcPct val="100000"/>
              </a:lnSpc>
              <a:spcBef>
                <a:spcPts val="0"/>
              </a:spcBef>
              <a:spcAft>
                <a:spcPts val="0"/>
              </a:spcAft>
              <a:buClr>
                <a:srgbClr val="000000"/>
              </a:buClr>
              <a:buSzPts val="1216"/>
              <a:buFont typeface="Arial"/>
              <a:buNone/>
            </a:pPr>
            <a:r>
              <a:t/>
            </a:r>
            <a:endParaRPr b="0" i="0" sz="1312" u="none" cap="none" strike="noStrike">
              <a:solidFill>
                <a:srgbClr val="000000"/>
              </a:solidFill>
              <a:latin typeface="Arial"/>
              <a:ea typeface="Arial"/>
              <a:cs typeface="Arial"/>
              <a:sym typeface="Arial"/>
            </a:endParaRPr>
          </a:p>
        </p:txBody>
      </p:sp>
      <p:sp>
        <p:nvSpPr>
          <p:cNvPr id="1487" name="Google Shape;1487;g3fafe51123f_1_93"/>
          <p:cNvSpPr txBox="1"/>
          <p:nvPr/>
        </p:nvSpPr>
        <p:spPr>
          <a:xfrm>
            <a:off x="8758335" y="1511499"/>
            <a:ext cx="2962800" cy="25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919"/>
              <a:buFont typeface="Malgun Gothic"/>
              <a:buNone/>
            </a:pPr>
            <a:r>
              <a:rPr b="1" i="0" lang="en-US" sz="1015" u="none" cap="none" strike="noStrike">
                <a:solidFill>
                  <a:srgbClr val="1F7A4C"/>
                </a:solidFill>
                <a:latin typeface="Malgun Gothic"/>
                <a:ea typeface="Malgun Gothic"/>
                <a:cs typeface="Malgun Gothic"/>
                <a:sym typeface="Malgun Gothic"/>
              </a:rPr>
              <a:t>개발 600건 · 재대입</a:t>
            </a:r>
            <a:endParaRPr b="0" i="0" sz="1015" u="none" cap="none" strike="noStrike">
              <a:solidFill>
                <a:schemeClr val="dk1"/>
              </a:solidFill>
              <a:latin typeface="Calibri"/>
              <a:ea typeface="Calibri"/>
              <a:cs typeface="Calibri"/>
              <a:sym typeface="Calibri"/>
            </a:endParaRPr>
          </a:p>
        </p:txBody>
      </p:sp>
      <p:sp>
        <p:nvSpPr>
          <p:cNvPr id="1488" name="Google Shape;1488;g3fafe51123f_1_93"/>
          <p:cNvSpPr txBox="1"/>
          <p:nvPr/>
        </p:nvSpPr>
        <p:spPr>
          <a:xfrm>
            <a:off x="8758335" y="1787597"/>
            <a:ext cx="2962800" cy="53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2421"/>
              </a:buClr>
              <a:buSzPts val="2602"/>
              <a:buFont typeface="Malgun Gothic"/>
              <a:buNone/>
            </a:pPr>
            <a:r>
              <a:rPr b="1" i="0" lang="en-US" sz="2699" u="none" cap="none" strike="noStrike">
                <a:solidFill>
                  <a:srgbClr val="1F2421"/>
                </a:solidFill>
                <a:latin typeface="Malgun Gothic"/>
                <a:ea typeface="Malgun Gothic"/>
                <a:cs typeface="Malgun Gothic"/>
                <a:sym typeface="Malgun Gothic"/>
              </a:rPr>
              <a:t>90.3 / 90.2%</a:t>
            </a:r>
            <a:endParaRPr b="0" i="0" sz="2699" u="none" cap="none" strike="noStrike">
              <a:solidFill>
                <a:schemeClr val="dk1"/>
              </a:solidFill>
              <a:latin typeface="Calibri"/>
              <a:ea typeface="Calibri"/>
              <a:cs typeface="Calibri"/>
              <a:sym typeface="Calibri"/>
            </a:endParaRPr>
          </a:p>
        </p:txBody>
      </p:sp>
      <p:sp>
        <p:nvSpPr>
          <p:cNvPr id="1489" name="Google Shape;1489;g3fafe51123f_1_93"/>
          <p:cNvSpPr txBox="1"/>
          <p:nvPr/>
        </p:nvSpPr>
        <p:spPr>
          <a:xfrm>
            <a:off x="8758335" y="2313911"/>
            <a:ext cx="2962800" cy="24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766"/>
              <a:buFont typeface="Malgun Gothic"/>
              <a:buNone/>
            </a:pPr>
            <a:r>
              <a:rPr b="0" i="0" lang="en-US" sz="862" u="none" cap="none" strike="noStrike">
                <a:solidFill>
                  <a:srgbClr val="5F6B63"/>
                </a:solidFill>
                <a:latin typeface="Malgun Gothic"/>
                <a:ea typeface="Malgun Gothic"/>
                <a:cs typeface="Malgun Gothic"/>
                <a:sym typeface="Malgun Gothic"/>
              </a:rPr>
              <a:t>ITEM Top-5 / 좌표 Top-5</a:t>
            </a:r>
            <a:endParaRPr b="0" i="0" sz="862" u="none" cap="none" strike="noStrike">
              <a:solidFill>
                <a:schemeClr val="dk1"/>
              </a:solidFill>
              <a:latin typeface="Calibri"/>
              <a:ea typeface="Calibri"/>
              <a:cs typeface="Calibri"/>
              <a:sym typeface="Calibri"/>
            </a:endParaRPr>
          </a:p>
        </p:txBody>
      </p:sp>
      <p:sp>
        <p:nvSpPr>
          <p:cNvPr id="1490" name="Google Shape;1490;g3fafe51123f_1_93"/>
          <p:cNvSpPr txBox="1"/>
          <p:nvPr/>
        </p:nvSpPr>
        <p:spPr>
          <a:xfrm rot="5400000">
            <a:off x="10035485" y="2399089"/>
            <a:ext cx="408600" cy="73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F6B63"/>
              </a:buClr>
              <a:buSzPts val="1990"/>
              <a:buFont typeface="Malgun Gothic"/>
              <a:buNone/>
            </a:pPr>
            <a:r>
              <a:rPr b="0" i="0" lang="en-US" sz="2087" u="none" cap="none" strike="noStrike">
                <a:solidFill>
                  <a:srgbClr val="5F6B63"/>
                </a:solidFill>
                <a:latin typeface="Malgun Gothic"/>
                <a:ea typeface="Malgun Gothic"/>
                <a:cs typeface="Malgun Gothic"/>
                <a:sym typeface="Malgun Gothic"/>
              </a:rPr>
              <a:t>→</a:t>
            </a:r>
            <a:endParaRPr b="0" i="0" sz="2087" u="none" cap="none" strike="noStrike">
              <a:solidFill>
                <a:schemeClr val="dk1"/>
              </a:solidFill>
              <a:latin typeface="Calibri"/>
              <a:ea typeface="Calibri"/>
              <a:cs typeface="Calibri"/>
              <a:sym typeface="Calibri"/>
            </a:endParaRPr>
          </a:p>
        </p:txBody>
      </p:sp>
      <p:sp>
        <p:nvSpPr>
          <p:cNvPr id="1491" name="Google Shape;1491;g3fafe51123f_1_93"/>
          <p:cNvSpPr/>
          <p:nvPr/>
        </p:nvSpPr>
        <p:spPr>
          <a:xfrm>
            <a:off x="8552192" y="2871163"/>
            <a:ext cx="3381900" cy="1294200"/>
          </a:xfrm>
          <a:prstGeom prst="roundRect">
            <a:avLst>
              <a:gd fmla="val 5333" name="adj"/>
            </a:avLst>
          </a:prstGeom>
          <a:solidFill>
            <a:srgbClr val="FAEEE8"/>
          </a:solidFill>
          <a:ln cap="flat" cmpd="sng" w="9725">
            <a:solidFill>
              <a:srgbClr val="EBD2C5"/>
            </a:solidFill>
            <a:prstDash val="solid"/>
            <a:round/>
            <a:headEnd len="sm" w="sm" type="none"/>
            <a:tailEnd len="sm" w="sm" type="none"/>
          </a:ln>
        </p:spPr>
        <p:txBody>
          <a:bodyPr anchorCtr="0" anchor="ctr" bIns="70000" lIns="70000" spcFirstLastPara="1" rIns="70000" wrap="square" tIns="70000">
            <a:noAutofit/>
          </a:bodyPr>
          <a:lstStyle/>
          <a:p>
            <a:pPr indent="0" lvl="0" marL="0" marR="0" rtl="0" algn="l">
              <a:lnSpc>
                <a:spcPct val="100000"/>
              </a:lnSpc>
              <a:spcBef>
                <a:spcPts val="0"/>
              </a:spcBef>
              <a:spcAft>
                <a:spcPts val="0"/>
              </a:spcAft>
              <a:buClr>
                <a:srgbClr val="000000"/>
              </a:buClr>
              <a:buSzPts val="1216"/>
              <a:buFont typeface="Arial"/>
              <a:buNone/>
            </a:pPr>
            <a:r>
              <a:t/>
            </a:r>
            <a:endParaRPr b="0" i="0" sz="1312" u="none" cap="none" strike="noStrike">
              <a:solidFill>
                <a:srgbClr val="000000"/>
              </a:solidFill>
              <a:latin typeface="Arial"/>
              <a:ea typeface="Arial"/>
              <a:cs typeface="Arial"/>
              <a:sym typeface="Arial"/>
            </a:endParaRPr>
          </a:p>
        </p:txBody>
      </p:sp>
      <p:sp>
        <p:nvSpPr>
          <p:cNvPr id="1492" name="Google Shape;1492;g3fafe51123f_1_93"/>
          <p:cNvSpPr txBox="1"/>
          <p:nvPr/>
        </p:nvSpPr>
        <p:spPr>
          <a:xfrm>
            <a:off x="8758336" y="3043724"/>
            <a:ext cx="2962800" cy="25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919"/>
              <a:buFont typeface="Malgun Gothic"/>
              <a:buNone/>
            </a:pPr>
            <a:r>
              <a:rPr b="1" i="0" lang="en-US" sz="1015" u="none" cap="none" strike="noStrike">
                <a:solidFill>
                  <a:srgbClr val="B4552F"/>
                </a:solidFill>
                <a:latin typeface="Malgun Gothic"/>
                <a:ea typeface="Malgun Gothic"/>
                <a:cs typeface="Malgun Gothic"/>
                <a:sym typeface="Malgun Gothic"/>
              </a:rPr>
              <a:t>신규 blind100</a:t>
            </a:r>
            <a:endParaRPr b="0" i="0" sz="1015" u="none" cap="none" strike="noStrike">
              <a:solidFill>
                <a:schemeClr val="dk1"/>
              </a:solidFill>
              <a:latin typeface="Calibri"/>
              <a:ea typeface="Calibri"/>
              <a:cs typeface="Calibri"/>
              <a:sym typeface="Calibri"/>
            </a:endParaRPr>
          </a:p>
        </p:txBody>
      </p:sp>
      <p:sp>
        <p:nvSpPr>
          <p:cNvPr id="1493" name="Google Shape;1493;g3fafe51123f_1_93"/>
          <p:cNvSpPr txBox="1"/>
          <p:nvPr/>
        </p:nvSpPr>
        <p:spPr>
          <a:xfrm>
            <a:off x="8758336" y="3319822"/>
            <a:ext cx="2962800" cy="534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52F"/>
              </a:buClr>
              <a:buSzPts val="2602"/>
              <a:buFont typeface="Malgun Gothic"/>
              <a:buNone/>
            </a:pPr>
            <a:r>
              <a:rPr b="1" i="0" lang="en-US" sz="2699" u="none" cap="none" strike="noStrike">
                <a:solidFill>
                  <a:srgbClr val="B4552F"/>
                </a:solidFill>
                <a:latin typeface="Malgun Gothic"/>
                <a:ea typeface="Malgun Gothic"/>
                <a:cs typeface="Malgun Gothic"/>
                <a:sym typeface="Malgun Gothic"/>
              </a:rPr>
              <a:t>58.0 / 54.0%</a:t>
            </a:r>
            <a:endParaRPr b="0" i="0" sz="2699" u="none" cap="none" strike="noStrike">
              <a:solidFill>
                <a:schemeClr val="dk1"/>
              </a:solidFill>
              <a:latin typeface="Calibri"/>
              <a:ea typeface="Calibri"/>
              <a:cs typeface="Calibri"/>
              <a:sym typeface="Calibri"/>
            </a:endParaRPr>
          </a:p>
        </p:txBody>
      </p:sp>
      <p:sp>
        <p:nvSpPr>
          <p:cNvPr id="1494" name="Google Shape;1494;g3fafe51123f_1_93"/>
          <p:cNvSpPr txBox="1"/>
          <p:nvPr/>
        </p:nvSpPr>
        <p:spPr>
          <a:xfrm>
            <a:off x="8758336" y="3846136"/>
            <a:ext cx="2962800" cy="24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F6B63"/>
              </a:buClr>
              <a:buSzPts val="766"/>
              <a:buFont typeface="Malgun Gothic"/>
              <a:buNone/>
            </a:pPr>
            <a:r>
              <a:rPr b="0" i="0" lang="en-US" sz="862" u="none" cap="none" strike="noStrike">
                <a:solidFill>
                  <a:srgbClr val="5F6B63"/>
                </a:solidFill>
                <a:latin typeface="Malgun Gothic"/>
                <a:ea typeface="Malgun Gothic"/>
                <a:cs typeface="Malgun Gothic"/>
                <a:sym typeface="Malgun Gothic"/>
              </a:rPr>
              <a:t>동결 후 1회 평가, 재튜닝 없음</a:t>
            </a:r>
            <a:endParaRPr b="0" i="0" sz="862" u="none" cap="none" strike="noStrike">
              <a:solidFill>
                <a:schemeClr val="dk1"/>
              </a:solidFill>
              <a:latin typeface="Calibri"/>
              <a:ea typeface="Calibri"/>
              <a:cs typeface="Calibri"/>
              <a:sym typeface="Calibri"/>
            </a:endParaRPr>
          </a:p>
        </p:txBody>
      </p:sp>
      <p:sp>
        <p:nvSpPr>
          <p:cNvPr id="1495" name="Google Shape;1495;g3fafe51123f_1_93"/>
          <p:cNvSpPr/>
          <p:nvPr/>
        </p:nvSpPr>
        <p:spPr>
          <a:xfrm>
            <a:off x="2039550" y="4465902"/>
            <a:ext cx="3095100" cy="1630200"/>
          </a:xfrm>
          <a:prstGeom prst="roundRect">
            <a:avLst>
              <a:gd fmla="val 3404" name="adj"/>
            </a:avLst>
          </a:prstGeom>
          <a:solidFill>
            <a:srgbClr val="FFFFFF"/>
          </a:solidFill>
          <a:ln cap="flat" cmpd="sng" w="11200">
            <a:solidFill>
              <a:srgbClr val="D6DED8"/>
            </a:solidFill>
            <a:prstDash val="solid"/>
            <a:round/>
            <a:headEnd len="sm" w="sm" type="none"/>
            <a:tailEnd len="sm" w="sm" type="none"/>
          </a:ln>
        </p:spPr>
        <p:txBody>
          <a:bodyPr anchorCtr="0" anchor="ctr" bIns="80600" lIns="80600" spcFirstLastPara="1" rIns="80600" wrap="square" tIns="80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g3fafe51123f_1_93"/>
          <p:cNvSpPr/>
          <p:nvPr/>
        </p:nvSpPr>
        <p:spPr>
          <a:xfrm>
            <a:off x="2265243" y="4560856"/>
            <a:ext cx="660900" cy="257700"/>
          </a:xfrm>
          <a:prstGeom prst="roundRect">
            <a:avLst>
              <a:gd fmla="val 50000" name="adj"/>
            </a:avLst>
          </a:prstGeom>
          <a:solidFill>
            <a:srgbClr val="FAEEE8"/>
          </a:solidFill>
          <a:ln cap="flat" cmpd="sng" w="11200">
            <a:solidFill>
              <a:srgbClr val="EBD2C5"/>
            </a:solidFill>
            <a:prstDash val="solid"/>
            <a:round/>
            <a:headEnd len="sm" w="sm" type="none"/>
            <a:tailEnd len="sm" w="sm" type="none"/>
          </a:ln>
        </p:spPr>
        <p:txBody>
          <a:bodyPr anchorCtr="0" anchor="ctr" bIns="80600" lIns="80600" spcFirstLastPara="1" rIns="80600" wrap="square" tIns="80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g3fafe51123f_1_93"/>
          <p:cNvSpPr txBox="1"/>
          <p:nvPr/>
        </p:nvSpPr>
        <p:spPr>
          <a:xfrm>
            <a:off x="2265243" y="4576977"/>
            <a:ext cx="660900" cy="22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52F"/>
              </a:buClr>
              <a:buSzPts val="970"/>
              <a:buFont typeface="Malgun Gothic"/>
              <a:buNone/>
            </a:pPr>
            <a:r>
              <a:rPr b="1" i="0" lang="en-US" sz="970" u="none" cap="none" strike="noStrike">
                <a:solidFill>
                  <a:srgbClr val="B4552F"/>
                </a:solidFill>
                <a:latin typeface="Malgun Gothic"/>
                <a:ea typeface="Malgun Gothic"/>
                <a:cs typeface="Malgun Gothic"/>
                <a:sym typeface="Malgun Gothic"/>
              </a:rPr>
              <a:t>문제</a:t>
            </a:r>
            <a:endParaRPr b="0" i="0" sz="970" u="none" cap="none" strike="noStrike">
              <a:solidFill>
                <a:schemeClr val="dk1"/>
              </a:solidFill>
              <a:latin typeface="Calibri"/>
              <a:ea typeface="Calibri"/>
              <a:cs typeface="Calibri"/>
              <a:sym typeface="Calibri"/>
            </a:endParaRPr>
          </a:p>
        </p:txBody>
      </p:sp>
      <p:sp>
        <p:nvSpPr>
          <p:cNvPr id="1498" name="Google Shape;1498;g3fafe51123f_1_93"/>
          <p:cNvSpPr txBox="1"/>
          <p:nvPr/>
        </p:nvSpPr>
        <p:spPr>
          <a:xfrm>
            <a:off x="2131529" y="4931640"/>
            <a:ext cx="2869500" cy="1088100"/>
          </a:xfrm>
          <a:prstGeom prst="rect">
            <a:avLst/>
          </a:prstGeom>
          <a:noFill/>
          <a:ln>
            <a:noFill/>
          </a:ln>
        </p:spPr>
        <p:txBody>
          <a:bodyPr anchorCtr="0" anchor="ctr" bIns="0" lIns="0" spcFirstLastPara="1" rIns="0" wrap="square" tIns="0">
            <a:noAutofit/>
          </a:bodyPr>
          <a:lstStyle/>
          <a:p>
            <a:pPr indent="-302267" lvl="0" marL="302268" marR="0" rtl="0" algn="l">
              <a:lnSpc>
                <a:spcPct val="136363"/>
              </a:lnSpc>
              <a:spcBef>
                <a:spcPts val="0"/>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개발셋에서 최적화한 키워드·표명·가중치가 반복 등장하는 통계표를 지나치게 잘 기억함</a:t>
            </a:r>
            <a:endParaRPr b="0" i="0" sz="970" u="none" cap="none" strike="noStrike">
              <a:solidFill>
                <a:schemeClr val="dk1"/>
              </a:solidFill>
              <a:latin typeface="Calibri"/>
              <a:ea typeface="Calibri"/>
              <a:cs typeface="Calibri"/>
              <a:sym typeface="Calibri"/>
            </a:endParaRPr>
          </a:p>
          <a:p>
            <a:pPr indent="-302267" lvl="0" marL="302268" marR="0" rtl="0" algn="l">
              <a:lnSpc>
                <a:spcPct val="136363"/>
              </a:lnSpc>
              <a:spcBef>
                <a:spcPts val="529"/>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매핑 캐시는 사실상 개발셋 전용 lookup</a:t>
            </a:r>
            <a:endParaRPr b="0" i="0" sz="970" u="none" cap="none" strike="noStrike">
              <a:solidFill>
                <a:schemeClr val="dk1"/>
              </a:solidFill>
              <a:latin typeface="Calibri"/>
              <a:ea typeface="Calibri"/>
              <a:cs typeface="Calibri"/>
              <a:sym typeface="Calibri"/>
            </a:endParaRPr>
          </a:p>
        </p:txBody>
      </p:sp>
      <p:sp>
        <p:nvSpPr>
          <p:cNvPr id="1499" name="Google Shape;1499;g3fafe51123f_1_93"/>
          <p:cNvSpPr/>
          <p:nvPr/>
        </p:nvSpPr>
        <p:spPr>
          <a:xfrm>
            <a:off x="5457099" y="4465902"/>
            <a:ext cx="3095100" cy="1630200"/>
          </a:xfrm>
          <a:prstGeom prst="roundRect">
            <a:avLst>
              <a:gd fmla="val 3404" name="adj"/>
            </a:avLst>
          </a:prstGeom>
          <a:solidFill>
            <a:srgbClr val="FFFFFF"/>
          </a:solidFill>
          <a:ln cap="flat" cmpd="sng" w="11200">
            <a:solidFill>
              <a:srgbClr val="D6DED8"/>
            </a:solidFill>
            <a:prstDash val="solid"/>
            <a:round/>
            <a:headEnd len="sm" w="sm" type="none"/>
            <a:tailEnd len="sm" w="sm" type="none"/>
          </a:ln>
        </p:spPr>
        <p:txBody>
          <a:bodyPr anchorCtr="0" anchor="ctr" bIns="80600" lIns="80600" spcFirstLastPara="1" rIns="80600" wrap="square" tIns="80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g3fafe51123f_1_93"/>
          <p:cNvSpPr/>
          <p:nvPr/>
        </p:nvSpPr>
        <p:spPr>
          <a:xfrm>
            <a:off x="5682789" y="4560856"/>
            <a:ext cx="660900" cy="257700"/>
          </a:xfrm>
          <a:prstGeom prst="roundRect">
            <a:avLst>
              <a:gd fmla="val 50000" name="adj"/>
            </a:avLst>
          </a:prstGeom>
          <a:solidFill>
            <a:srgbClr val="FAEEE8"/>
          </a:solidFill>
          <a:ln cap="flat" cmpd="sng" w="11200">
            <a:solidFill>
              <a:srgbClr val="EBD2C5"/>
            </a:solidFill>
            <a:prstDash val="solid"/>
            <a:round/>
            <a:headEnd len="sm" w="sm" type="none"/>
            <a:tailEnd len="sm" w="sm" type="none"/>
          </a:ln>
        </p:spPr>
        <p:txBody>
          <a:bodyPr anchorCtr="0" anchor="ctr" bIns="80600" lIns="80600" spcFirstLastPara="1" rIns="80600" wrap="square" tIns="80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g3fafe51123f_1_93"/>
          <p:cNvSpPr txBox="1"/>
          <p:nvPr/>
        </p:nvSpPr>
        <p:spPr>
          <a:xfrm>
            <a:off x="5682789" y="4576977"/>
            <a:ext cx="660900" cy="22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52F"/>
              </a:buClr>
              <a:buSzPts val="970"/>
              <a:buFont typeface="Malgun Gothic"/>
              <a:buNone/>
            </a:pPr>
            <a:r>
              <a:rPr b="1" i="0" lang="en-US" sz="970" u="none" cap="none" strike="noStrike">
                <a:solidFill>
                  <a:srgbClr val="B4552F"/>
                </a:solidFill>
                <a:latin typeface="Malgun Gothic"/>
                <a:ea typeface="Malgun Gothic"/>
                <a:cs typeface="Malgun Gothic"/>
                <a:sym typeface="Malgun Gothic"/>
              </a:rPr>
              <a:t>원인</a:t>
            </a:r>
            <a:endParaRPr b="0" i="0" sz="970" u="none" cap="none" strike="noStrike">
              <a:solidFill>
                <a:schemeClr val="dk1"/>
              </a:solidFill>
              <a:latin typeface="Calibri"/>
              <a:ea typeface="Calibri"/>
              <a:cs typeface="Calibri"/>
              <a:sym typeface="Calibri"/>
            </a:endParaRPr>
          </a:p>
        </p:txBody>
      </p:sp>
      <p:sp>
        <p:nvSpPr>
          <p:cNvPr id="1502" name="Google Shape;1502;g3fafe51123f_1_93"/>
          <p:cNvSpPr txBox="1"/>
          <p:nvPr/>
        </p:nvSpPr>
        <p:spPr>
          <a:xfrm>
            <a:off x="5529976" y="4931640"/>
            <a:ext cx="2869500" cy="1088100"/>
          </a:xfrm>
          <a:prstGeom prst="rect">
            <a:avLst/>
          </a:prstGeom>
          <a:noFill/>
          <a:ln>
            <a:noFill/>
          </a:ln>
        </p:spPr>
        <p:txBody>
          <a:bodyPr anchorCtr="0" anchor="ctr" bIns="0" lIns="0" spcFirstLastPara="1" rIns="0" wrap="square" tIns="0">
            <a:noAutofit/>
          </a:bodyPr>
          <a:lstStyle/>
          <a:p>
            <a:pPr indent="-302267" lvl="0" marL="302268" marR="0" rtl="0" algn="l">
              <a:lnSpc>
                <a:spcPct val="136363"/>
              </a:lnSpc>
              <a:spcBef>
                <a:spcPts val="0"/>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같은 기사·통계표 계열이 개발 데이터에 반복</a:t>
            </a:r>
            <a:endParaRPr b="0" i="0" sz="970" u="none" cap="none" strike="noStrike">
              <a:solidFill>
                <a:schemeClr val="dk1"/>
              </a:solidFill>
              <a:latin typeface="Calibri"/>
              <a:ea typeface="Calibri"/>
              <a:cs typeface="Calibri"/>
              <a:sym typeface="Calibri"/>
            </a:endParaRPr>
          </a:p>
          <a:p>
            <a:pPr indent="-302267" lvl="0" marL="302268" marR="0" rtl="0" algn="l">
              <a:lnSpc>
                <a:spcPct val="136363"/>
              </a:lnSpc>
              <a:spcBef>
                <a:spcPts val="529"/>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개발셋 재평가 결과를 일반화 성능으로 해석</a:t>
            </a:r>
            <a:endParaRPr b="0" i="0" sz="970" u="none" cap="none" strike="noStrike">
              <a:solidFill>
                <a:schemeClr val="dk1"/>
              </a:solidFill>
              <a:latin typeface="Calibri"/>
              <a:ea typeface="Calibri"/>
              <a:cs typeface="Calibri"/>
              <a:sym typeface="Calibri"/>
            </a:endParaRPr>
          </a:p>
          <a:p>
            <a:pPr indent="-302267" lvl="0" marL="302268" marR="0" rtl="0" algn="l">
              <a:lnSpc>
                <a:spcPct val="136363"/>
              </a:lnSpc>
              <a:spcBef>
                <a:spcPts val="529"/>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좌표 골드가 6개 표에 편중</a:t>
            </a:r>
            <a:endParaRPr b="0" i="0" sz="970" u="none" cap="none" strike="noStrike">
              <a:solidFill>
                <a:schemeClr val="dk1"/>
              </a:solidFill>
              <a:latin typeface="Calibri"/>
              <a:ea typeface="Calibri"/>
              <a:cs typeface="Calibri"/>
              <a:sym typeface="Calibri"/>
            </a:endParaRPr>
          </a:p>
        </p:txBody>
      </p:sp>
      <p:sp>
        <p:nvSpPr>
          <p:cNvPr id="1503" name="Google Shape;1503;g3fafe51123f_1_93"/>
          <p:cNvSpPr/>
          <p:nvPr/>
        </p:nvSpPr>
        <p:spPr>
          <a:xfrm>
            <a:off x="8874648" y="4465902"/>
            <a:ext cx="3095100" cy="1630200"/>
          </a:xfrm>
          <a:prstGeom prst="roundRect">
            <a:avLst>
              <a:gd fmla="val 3404" name="adj"/>
            </a:avLst>
          </a:prstGeom>
          <a:solidFill>
            <a:srgbClr val="FFFFFF"/>
          </a:solidFill>
          <a:ln cap="flat" cmpd="sng" w="11200">
            <a:solidFill>
              <a:srgbClr val="D6DED8"/>
            </a:solidFill>
            <a:prstDash val="solid"/>
            <a:round/>
            <a:headEnd len="sm" w="sm" type="none"/>
            <a:tailEnd len="sm" w="sm" type="none"/>
          </a:ln>
        </p:spPr>
        <p:txBody>
          <a:bodyPr anchorCtr="0" anchor="ctr" bIns="80600" lIns="80600" spcFirstLastPara="1" rIns="80600" wrap="square" tIns="80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g3fafe51123f_1_93"/>
          <p:cNvSpPr/>
          <p:nvPr/>
        </p:nvSpPr>
        <p:spPr>
          <a:xfrm>
            <a:off x="9100335" y="4560856"/>
            <a:ext cx="660900" cy="257700"/>
          </a:xfrm>
          <a:prstGeom prst="roundRect">
            <a:avLst>
              <a:gd fmla="val 50000" name="adj"/>
            </a:avLst>
          </a:prstGeom>
          <a:solidFill>
            <a:srgbClr val="E9F2EC"/>
          </a:solidFill>
          <a:ln cap="flat" cmpd="sng" w="11200">
            <a:solidFill>
              <a:srgbClr val="C6DCCD"/>
            </a:solidFill>
            <a:prstDash val="solid"/>
            <a:round/>
            <a:headEnd len="sm" w="sm" type="none"/>
            <a:tailEnd len="sm" w="sm" type="none"/>
          </a:ln>
        </p:spPr>
        <p:txBody>
          <a:bodyPr anchorCtr="0" anchor="ctr" bIns="80600" lIns="80600" spcFirstLastPara="1" rIns="80600" wrap="square" tIns="80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g3fafe51123f_1_93"/>
          <p:cNvSpPr txBox="1"/>
          <p:nvPr/>
        </p:nvSpPr>
        <p:spPr>
          <a:xfrm>
            <a:off x="9100335" y="4576977"/>
            <a:ext cx="660900" cy="22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7A4C"/>
              </a:buClr>
              <a:buSzPts val="970"/>
              <a:buFont typeface="Malgun Gothic"/>
              <a:buNone/>
            </a:pPr>
            <a:r>
              <a:rPr b="1" i="0" lang="en-US" sz="970" u="none" cap="none" strike="noStrike">
                <a:solidFill>
                  <a:srgbClr val="1F7A4C"/>
                </a:solidFill>
                <a:latin typeface="Malgun Gothic"/>
                <a:ea typeface="Malgun Gothic"/>
                <a:cs typeface="Malgun Gothic"/>
                <a:sym typeface="Malgun Gothic"/>
              </a:rPr>
              <a:t>조치</a:t>
            </a:r>
            <a:endParaRPr b="0" i="0" sz="970" u="none" cap="none" strike="noStrike">
              <a:solidFill>
                <a:schemeClr val="dk1"/>
              </a:solidFill>
              <a:latin typeface="Calibri"/>
              <a:ea typeface="Calibri"/>
              <a:cs typeface="Calibri"/>
              <a:sym typeface="Calibri"/>
            </a:endParaRPr>
          </a:p>
        </p:txBody>
      </p:sp>
      <p:sp>
        <p:nvSpPr>
          <p:cNvPr id="1506" name="Google Shape;1506;g3fafe51123f_1_93"/>
          <p:cNvSpPr txBox="1"/>
          <p:nvPr/>
        </p:nvSpPr>
        <p:spPr>
          <a:xfrm>
            <a:off x="8966602" y="4931640"/>
            <a:ext cx="2962800" cy="1088100"/>
          </a:xfrm>
          <a:prstGeom prst="rect">
            <a:avLst/>
          </a:prstGeom>
          <a:noFill/>
          <a:ln>
            <a:noFill/>
          </a:ln>
        </p:spPr>
        <p:txBody>
          <a:bodyPr anchorCtr="0" anchor="ctr" bIns="0" lIns="0" spcFirstLastPara="1" rIns="0" wrap="square" tIns="0">
            <a:noAutofit/>
          </a:bodyPr>
          <a:lstStyle/>
          <a:p>
            <a:pPr indent="-302267" lvl="0" marL="302268" marR="0" rtl="0" algn="l">
              <a:lnSpc>
                <a:spcPct val="136363"/>
              </a:lnSpc>
              <a:spcBef>
                <a:spcPts val="0"/>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기사 단위가 아닌 tbl_id·table family 단위 분리</a:t>
            </a:r>
            <a:endParaRPr b="0" i="0" sz="970" u="none" cap="none" strike="noStrike">
              <a:solidFill>
                <a:schemeClr val="dk1"/>
              </a:solidFill>
              <a:latin typeface="Calibri"/>
              <a:ea typeface="Calibri"/>
              <a:cs typeface="Calibri"/>
              <a:sym typeface="Calibri"/>
            </a:endParaRPr>
          </a:p>
          <a:p>
            <a:pPr indent="-302267" lvl="0" marL="302268" marR="0" rtl="0" algn="l">
              <a:lnSpc>
                <a:spcPct val="136363"/>
              </a:lnSpc>
              <a:spcBef>
                <a:spcPts val="529"/>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개발 · 검증 · 테스트 분리</a:t>
            </a:r>
            <a:endParaRPr b="0" i="0" sz="970" u="none" cap="none" strike="noStrike">
              <a:solidFill>
                <a:schemeClr val="dk1"/>
              </a:solidFill>
              <a:latin typeface="Calibri"/>
              <a:ea typeface="Calibri"/>
              <a:cs typeface="Calibri"/>
              <a:sym typeface="Calibri"/>
            </a:endParaRPr>
          </a:p>
          <a:p>
            <a:pPr indent="-302267" lvl="0" marL="302268" marR="0" rtl="0" algn="l">
              <a:lnSpc>
                <a:spcPct val="136363"/>
              </a:lnSpc>
              <a:spcBef>
                <a:spcPts val="529"/>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blind 확인 후에는 가중치 수정 금지</a:t>
            </a:r>
            <a:endParaRPr b="0" i="0" sz="970" u="none" cap="none" strike="noStrike">
              <a:solidFill>
                <a:schemeClr val="dk1"/>
              </a:solidFill>
              <a:latin typeface="Calibri"/>
              <a:ea typeface="Calibri"/>
              <a:cs typeface="Calibri"/>
              <a:sym typeface="Calibri"/>
            </a:endParaRPr>
          </a:p>
          <a:p>
            <a:pPr indent="-302267" lvl="0" marL="302268" marR="0" rtl="0" algn="l">
              <a:lnSpc>
                <a:spcPct val="136363"/>
              </a:lnSpc>
              <a:spcBef>
                <a:spcPts val="529"/>
              </a:spcBef>
              <a:spcAft>
                <a:spcPts val="0"/>
              </a:spcAft>
              <a:buClr>
                <a:srgbClr val="1F2421"/>
              </a:buClr>
              <a:buSzPts val="970"/>
              <a:buFont typeface="Malgun Gothic"/>
              <a:buChar char="•"/>
            </a:pPr>
            <a:r>
              <a:rPr b="0" i="0" lang="en-US" sz="970" u="none" cap="none" strike="noStrike">
                <a:solidFill>
                  <a:srgbClr val="1F2421"/>
                </a:solidFill>
                <a:latin typeface="Malgun Gothic"/>
                <a:ea typeface="Malgun Gothic"/>
                <a:cs typeface="Malgun Gothic"/>
                <a:sym typeface="Malgun Gothic"/>
              </a:rPr>
              <a:t>신규 표와 기존 표 성능을 별도 보고</a:t>
            </a:r>
            <a:endParaRPr b="0" i="0" sz="970" u="none" cap="none" strike="noStrike">
              <a:solidFill>
                <a:schemeClr val="dk1"/>
              </a:solidFill>
              <a:latin typeface="Calibri"/>
              <a:ea typeface="Calibri"/>
              <a:cs typeface="Calibri"/>
              <a:sym typeface="Calibri"/>
            </a:endParaRPr>
          </a:p>
        </p:txBody>
      </p:sp>
      <p:sp>
        <p:nvSpPr>
          <p:cNvPr id="1507" name="Google Shape;1507;g3fafe51123f_1_93"/>
          <p:cNvSpPr txBox="1"/>
          <p:nvPr/>
        </p:nvSpPr>
        <p:spPr>
          <a:xfrm>
            <a:off x="2039556" y="6215672"/>
            <a:ext cx="9779400" cy="27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7A4C"/>
              </a:buClr>
              <a:buSzPts val="1146"/>
              <a:buFont typeface="Malgun Gothic"/>
              <a:buNone/>
            </a:pPr>
            <a:r>
              <a:rPr b="1" i="0" lang="en-US" sz="1146" u="none" cap="none" strike="noStrike">
                <a:solidFill>
                  <a:srgbClr val="1F7A4C"/>
                </a:solidFill>
                <a:latin typeface="Malgun Gothic"/>
                <a:ea typeface="Malgun Gothic"/>
                <a:cs typeface="Malgun Gothic"/>
                <a:sym typeface="Malgun Gothic"/>
              </a:rPr>
              <a:t>90%는 최종 성능이 아니라 개발셋 적합도</a:t>
            </a:r>
            <a:endParaRPr b="0" i="0" sz="1146" u="none" cap="none" strike="noStrike">
              <a:solidFill>
                <a:schemeClr val="dk1"/>
              </a:solidFill>
              <a:latin typeface="Calibri"/>
              <a:ea typeface="Calibri"/>
              <a:cs typeface="Calibri"/>
              <a:sym typeface="Calibri"/>
            </a:endParaRPr>
          </a:p>
        </p:txBody>
      </p:sp>
      <p:sp>
        <p:nvSpPr>
          <p:cNvPr id="1508" name="Google Shape;1508;g3fafe51123f_1_93"/>
          <p:cNvSpPr txBox="1"/>
          <p:nvPr/>
        </p:nvSpPr>
        <p:spPr>
          <a:xfrm>
            <a:off x="1920506" y="6477210"/>
            <a:ext cx="4836300" cy="24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A69E"/>
              </a:buClr>
              <a:buSzPts val="793"/>
              <a:buFont typeface="Malgun Gothic"/>
              <a:buNone/>
            </a:pPr>
            <a:r>
              <a:rPr b="0" i="0" lang="en-US" sz="793" u="none" cap="none" strike="noStrike">
                <a:solidFill>
                  <a:srgbClr val="9AA69E"/>
                </a:solidFill>
                <a:latin typeface="Malgun Gothic"/>
                <a:ea typeface="Malgun Gothic"/>
                <a:cs typeface="Malgun Gothic"/>
                <a:sym typeface="Malgun Gothic"/>
              </a:rPr>
              <a:t>KOSIS 뉴스 수치 주장 검증 PoC</a:t>
            </a:r>
            <a:endParaRPr b="0" i="0" sz="793" u="none" cap="none" strike="noStrike">
              <a:solidFill>
                <a:schemeClr val="dk1"/>
              </a:solidFill>
              <a:latin typeface="Calibri"/>
              <a:ea typeface="Calibri"/>
              <a:cs typeface="Calibri"/>
              <a:sym typeface="Calibri"/>
            </a:endParaRPr>
          </a:p>
        </p:txBody>
      </p:sp>
      <p:sp>
        <p:nvSpPr>
          <p:cNvPr id="1509" name="Google Shape;1509;g3fafe51123f_1_93"/>
          <p:cNvSpPr/>
          <p:nvPr/>
        </p:nvSpPr>
        <p:spPr>
          <a:xfrm>
            <a:off x="-21450" y="106228"/>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g3fafe51123f_1_93"/>
          <p:cNvSpPr/>
          <p:nvPr/>
        </p:nvSpPr>
        <p:spPr>
          <a:xfrm>
            <a:off x="0" y="0"/>
            <a:ext cx="12191700" cy="123900"/>
          </a:xfrm>
          <a:prstGeom prst="rect">
            <a:avLst/>
          </a:prstGeom>
          <a:solidFill>
            <a:srgbClr val="3F7A57"/>
          </a:solidFill>
          <a:ln cap="flat" cmpd="sng" w="114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11" name="Google Shape;1511;g3fafe51123f_1_93"/>
          <p:cNvPicPr preferRelativeResize="0"/>
          <p:nvPr/>
        </p:nvPicPr>
        <p:blipFill rotWithShape="1">
          <a:blip r:embed="rId3">
            <a:alphaModFix/>
          </a:blip>
          <a:srcRect b="0" l="0" r="0" t="0"/>
          <a:stretch/>
        </p:blipFill>
        <p:spPr>
          <a:xfrm>
            <a:off x="2445975" y="1468802"/>
            <a:ext cx="5421995" cy="2827100"/>
          </a:xfrm>
          <a:prstGeom prst="rect">
            <a:avLst/>
          </a:prstGeom>
          <a:noFill/>
          <a:ln>
            <a:noFill/>
          </a:ln>
        </p:spPr>
      </p:pic>
      <p:sp>
        <p:nvSpPr>
          <p:cNvPr id="1512" name="Google Shape;1512;g3fafe51123f_1_93"/>
          <p:cNvSpPr/>
          <p:nvPr/>
        </p:nvSpPr>
        <p:spPr>
          <a:xfrm>
            <a:off x="-34500" y="13334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g3fafe51123f_1_93"/>
          <p:cNvSpPr/>
          <p:nvPr/>
        </p:nvSpPr>
        <p:spPr>
          <a:xfrm>
            <a:off x="376869" y="3758261"/>
            <a:ext cx="18900" cy="609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g3fafe51123f_1_93"/>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g3fafe51123f_1_93"/>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11 · 중간 결론</a:t>
            </a:r>
            <a:endParaRPr b="0" i="0" sz="1400" u="none" cap="none" strike="noStrike">
              <a:solidFill>
                <a:srgbClr val="000000"/>
              </a:solidFill>
              <a:latin typeface="Arial"/>
              <a:ea typeface="Arial"/>
              <a:cs typeface="Arial"/>
              <a:sym typeface="Arial"/>
            </a:endParaRPr>
          </a:p>
        </p:txBody>
      </p:sp>
      <p:sp>
        <p:nvSpPr>
          <p:cNvPr id="1516" name="Google Shape;1516;g3fafe51123f_1_93"/>
          <p:cNvSpPr/>
          <p:nvPr/>
        </p:nvSpPr>
        <p:spPr>
          <a:xfrm>
            <a:off x="376414" y="1962125"/>
            <a:ext cx="18900" cy="18684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g3fafe51123f_1_93"/>
          <p:cNvSpPr/>
          <p:nvPr/>
        </p:nvSpPr>
        <p:spPr>
          <a:xfrm>
            <a:off x="348277" y="375676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g3fafe51123f_1_93"/>
          <p:cNvSpPr/>
          <p:nvPr/>
        </p:nvSpPr>
        <p:spPr>
          <a:xfrm>
            <a:off x="580896" y="18478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519" name="Google Shape;1519;g3fafe51123f_1_93"/>
          <p:cNvSpPr/>
          <p:nvPr/>
        </p:nvSpPr>
        <p:spPr>
          <a:xfrm>
            <a:off x="580896" y="24574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520" name="Google Shape;1520;g3fafe51123f_1_93"/>
          <p:cNvSpPr/>
          <p:nvPr/>
        </p:nvSpPr>
        <p:spPr>
          <a:xfrm>
            <a:off x="580896" y="30670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프로젝트 과정</a:t>
            </a:r>
            <a:endParaRPr b="0" i="0" sz="1400" u="none" cap="none" strike="noStrike">
              <a:solidFill>
                <a:srgbClr val="66786E"/>
              </a:solidFill>
              <a:latin typeface="Arial"/>
              <a:ea typeface="Arial"/>
              <a:cs typeface="Arial"/>
              <a:sym typeface="Arial"/>
            </a:endParaRPr>
          </a:p>
        </p:txBody>
      </p:sp>
      <p:sp>
        <p:nvSpPr>
          <p:cNvPr id="1521" name="Google Shape;1521;g3fafe51123f_1_93"/>
          <p:cNvSpPr/>
          <p:nvPr/>
        </p:nvSpPr>
        <p:spPr>
          <a:xfrm>
            <a:off x="580896" y="36766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50" u="none" cap="none" strike="noStrike">
                <a:solidFill>
                  <a:srgbClr val="11271D"/>
                </a:solidFill>
                <a:latin typeface="Arial"/>
                <a:ea typeface="Arial"/>
                <a:cs typeface="Arial"/>
                <a:sym typeface="Arial"/>
              </a:rPr>
              <a:t>평가 및 한계</a:t>
            </a:r>
            <a:endParaRPr b="1" i="0" sz="850" u="none" cap="none" strike="noStrike">
              <a:solidFill>
                <a:srgbClr val="11271D"/>
              </a:solidFill>
              <a:latin typeface="Arial"/>
              <a:ea typeface="Arial"/>
              <a:cs typeface="Arial"/>
              <a:sym typeface="Arial"/>
            </a:endParaRPr>
          </a:p>
        </p:txBody>
      </p:sp>
      <p:sp>
        <p:nvSpPr>
          <p:cNvPr id="1522" name="Google Shape;1522;g3fafe51123f_1_93"/>
          <p:cNvSpPr/>
          <p:nvPr/>
        </p:nvSpPr>
        <p:spPr>
          <a:xfrm>
            <a:off x="580896" y="426364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523" name="Google Shape;1523;g3fafe51123f_1_93"/>
          <p:cNvGrpSpPr/>
          <p:nvPr/>
        </p:nvGrpSpPr>
        <p:grpSpPr>
          <a:xfrm>
            <a:off x="283404" y="3686107"/>
            <a:ext cx="209400" cy="209700"/>
            <a:chOff x="-3275292" y="2173036"/>
            <a:chExt cx="209400" cy="209700"/>
          </a:xfrm>
        </p:grpSpPr>
        <p:sp>
          <p:nvSpPr>
            <p:cNvPr id="1524" name="Google Shape;1524;g3fafe51123f_1_93"/>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g3fafe51123f_1_93"/>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6" name="Google Shape;1526;g3fafe51123f_1_93"/>
          <p:cNvSpPr/>
          <p:nvPr/>
        </p:nvSpPr>
        <p:spPr>
          <a:xfrm>
            <a:off x="354027" y="192942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g3fafe51123f_1_93"/>
          <p:cNvSpPr/>
          <p:nvPr/>
        </p:nvSpPr>
        <p:spPr>
          <a:xfrm>
            <a:off x="354027" y="253365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g3fafe51123f_1_93"/>
          <p:cNvSpPr/>
          <p:nvPr/>
        </p:nvSpPr>
        <p:spPr>
          <a:xfrm>
            <a:off x="350123" y="31459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g3fafe51123f_1_93"/>
          <p:cNvSpPr/>
          <p:nvPr/>
        </p:nvSpPr>
        <p:spPr>
          <a:xfrm>
            <a:off x="350027" y="37541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g3fafe51123f_1_93"/>
          <p:cNvSpPr/>
          <p:nvPr/>
        </p:nvSpPr>
        <p:spPr>
          <a:xfrm>
            <a:off x="348294" y="43297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g3fafe51123f_1_93"/>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g3fafe51123f_1_93"/>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04.·평가 및 한계</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537" name="Shape 1537"/>
        <p:cNvGrpSpPr/>
        <p:nvPr/>
      </p:nvGrpSpPr>
      <p:grpSpPr>
        <a:xfrm>
          <a:off x="0" y="0"/>
          <a:ext cx="0" cy="0"/>
          <a:chOff x="0" y="0"/>
          <a:chExt cx="0" cy="0"/>
        </a:xfrm>
      </p:grpSpPr>
      <p:sp>
        <p:nvSpPr>
          <p:cNvPr id="1538" name="Google Shape;1538;g3f8727dd44b_2_0"/>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g3f8727dd44b_2_0"/>
          <p:cNvSpPr/>
          <p:nvPr/>
        </p:nvSpPr>
        <p:spPr>
          <a:xfrm>
            <a:off x="376869" y="3739211"/>
            <a:ext cx="18900" cy="609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g3f8727dd44b_2_0"/>
          <p:cNvSpPr/>
          <p:nvPr/>
        </p:nvSpPr>
        <p:spPr>
          <a:xfrm>
            <a:off x="0" y="0"/>
            <a:ext cx="12191700" cy="114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g3f8727dd44b_2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g3f8727dd44b_2_0"/>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11 · 중간 결론</a:t>
            </a:r>
            <a:endParaRPr b="0" i="0" sz="1400" u="none" cap="none" strike="noStrike">
              <a:solidFill>
                <a:srgbClr val="000000"/>
              </a:solidFill>
              <a:latin typeface="Arial"/>
              <a:ea typeface="Arial"/>
              <a:cs typeface="Arial"/>
              <a:sym typeface="Arial"/>
            </a:endParaRPr>
          </a:p>
        </p:txBody>
      </p:sp>
      <p:sp>
        <p:nvSpPr>
          <p:cNvPr id="1543" name="Google Shape;1543;g3f8727dd44b_2_0"/>
          <p:cNvSpPr/>
          <p:nvPr/>
        </p:nvSpPr>
        <p:spPr>
          <a:xfrm>
            <a:off x="2095444" y="714375"/>
            <a:ext cx="9524700" cy="523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10271D"/>
                </a:solidFill>
                <a:latin typeface="Calibri"/>
                <a:ea typeface="Calibri"/>
                <a:cs typeface="Calibri"/>
                <a:sym typeface="Calibri"/>
              </a:rPr>
              <a:t>평가 및 한계</a:t>
            </a:r>
            <a:endParaRPr b="0" i="0" sz="1400" u="none" cap="none" strike="noStrike">
              <a:solidFill>
                <a:srgbClr val="000000"/>
              </a:solidFill>
              <a:latin typeface="Arial"/>
              <a:ea typeface="Arial"/>
              <a:cs typeface="Arial"/>
              <a:sym typeface="Arial"/>
            </a:endParaRPr>
          </a:p>
        </p:txBody>
      </p:sp>
      <p:sp>
        <p:nvSpPr>
          <p:cNvPr id="1544" name="Google Shape;1544;g3f8727dd44b_2_0"/>
          <p:cNvSpPr/>
          <p:nvPr/>
        </p:nvSpPr>
        <p:spPr>
          <a:xfrm>
            <a:off x="2114494" y="1228725"/>
            <a:ext cx="94296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97B71"/>
                </a:solidFill>
                <a:latin typeface="Calibri"/>
                <a:ea typeface="Calibri"/>
                <a:cs typeface="Calibri"/>
                <a:sym typeface="Calibri"/>
              </a:rPr>
              <a:t>성과와 한계를 같은 기준으로 정리했습니다.</a:t>
            </a:r>
            <a:endParaRPr b="0" i="0" sz="1400" u="none" cap="none" strike="noStrike">
              <a:solidFill>
                <a:srgbClr val="000000"/>
              </a:solidFill>
              <a:latin typeface="Arial"/>
              <a:ea typeface="Arial"/>
              <a:cs typeface="Arial"/>
              <a:sym typeface="Arial"/>
            </a:endParaRPr>
          </a:p>
        </p:txBody>
      </p:sp>
      <p:sp>
        <p:nvSpPr>
          <p:cNvPr id="1545" name="Google Shape;1545;g3f8727dd44b_2_0"/>
          <p:cNvSpPr/>
          <p:nvPr/>
        </p:nvSpPr>
        <p:spPr>
          <a:xfrm>
            <a:off x="2095444" y="6543675"/>
            <a:ext cx="2667000" cy="142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97B71"/>
                </a:solidFill>
                <a:latin typeface="Calibri"/>
                <a:ea typeface="Calibri"/>
                <a:cs typeface="Calibri"/>
                <a:sym typeface="Calibri"/>
              </a:rPr>
              <a:t>KOSIS 뉴스 수치 주장 검증 PoC</a:t>
            </a:r>
            <a:endParaRPr b="0" i="0" sz="1400" u="none" cap="none" strike="noStrike">
              <a:solidFill>
                <a:srgbClr val="000000"/>
              </a:solidFill>
              <a:latin typeface="Arial"/>
              <a:ea typeface="Arial"/>
              <a:cs typeface="Arial"/>
              <a:sym typeface="Arial"/>
            </a:endParaRPr>
          </a:p>
        </p:txBody>
      </p:sp>
      <p:sp>
        <p:nvSpPr>
          <p:cNvPr id="1546" name="Google Shape;1546;g3f8727dd44b_2_0"/>
          <p:cNvSpPr/>
          <p:nvPr/>
        </p:nvSpPr>
        <p:spPr>
          <a:xfrm>
            <a:off x="2114494" y="1828800"/>
            <a:ext cx="4629000" cy="3162300"/>
          </a:xfrm>
          <a:prstGeom prst="roundRect">
            <a:avLst>
              <a:gd fmla="val 3614" name="adj"/>
            </a:avLst>
          </a:prstGeom>
          <a:solidFill>
            <a:srgbClr val="E8F1EA"/>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g3f8727dd44b_2_0"/>
          <p:cNvSpPr/>
          <p:nvPr/>
        </p:nvSpPr>
        <p:spPr>
          <a:xfrm>
            <a:off x="2114494" y="1828800"/>
            <a:ext cx="57000" cy="3162300"/>
          </a:xfrm>
          <a:prstGeom prst="roundRect">
            <a:avLst>
              <a:gd fmla="val 50000" name="adj"/>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g3f8727dd44b_2_0"/>
          <p:cNvSpPr/>
          <p:nvPr/>
        </p:nvSpPr>
        <p:spPr>
          <a:xfrm>
            <a:off x="2324038" y="1962150"/>
            <a:ext cx="4267200" cy="28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3F7A57"/>
                </a:solidFill>
                <a:latin typeface="Calibri"/>
                <a:ea typeface="Calibri"/>
                <a:cs typeface="Calibri"/>
                <a:sym typeface="Calibri"/>
              </a:rPr>
              <a:t>확인된 강점</a:t>
            </a:r>
            <a:endParaRPr b="0" i="0" sz="1400" u="none" cap="none" strike="noStrike">
              <a:solidFill>
                <a:srgbClr val="000000"/>
              </a:solidFill>
              <a:latin typeface="Arial"/>
              <a:ea typeface="Arial"/>
              <a:cs typeface="Arial"/>
              <a:sym typeface="Arial"/>
            </a:endParaRPr>
          </a:p>
        </p:txBody>
      </p:sp>
      <p:sp>
        <p:nvSpPr>
          <p:cNvPr id="1549" name="Google Shape;1549;g3f8727dd44b_2_0"/>
          <p:cNvSpPr/>
          <p:nvPr/>
        </p:nvSpPr>
        <p:spPr>
          <a:xfrm>
            <a:off x="2393050" y="2474976"/>
            <a:ext cx="4267200" cy="231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URL 입력부터 공식 근거까지 E2E 연결</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25"/>
              <a:buFont typeface="Arial"/>
              <a:buNone/>
            </a:pPr>
            <a:r>
              <a:t/>
            </a:r>
            <a:endParaRPr b="0" i="0" sz="1325" u="none" cap="none" strike="noStrike">
              <a:solidFill>
                <a:srgbClr val="1425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검색·좌표·증거 역할 분리</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25"/>
              <a:buFont typeface="Arial"/>
              <a:buNone/>
            </a:pPr>
            <a:r>
              <a:t/>
            </a:r>
            <a:endParaRPr b="0" i="0" sz="1325" u="none" cap="none" strike="noStrike">
              <a:solidFill>
                <a:srgbClr val="1425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불확실성을 UNRESOLVED로 보존</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25"/>
              <a:buFont typeface="Arial"/>
              <a:buNone/>
            </a:pPr>
            <a:r>
              <a:t/>
            </a:r>
            <a:endParaRPr b="0" i="0" sz="1325" u="none" cap="none" strike="noStrike">
              <a:solidFill>
                <a:srgbClr val="1425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freeze와 내부 개발 데이터로 재현성 확보</a:t>
            </a:r>
            <a:endParaRPr b="0" i="0" sz="1600" u="none" cap="none" strike="noStrike">
              <a:solidFill>
                <a:srgbClr val="000000"/>
              </a:solidFill>
              <a:latin typeface="Arial"/>
              <a:ea typeface="Arial"/>
              <a:cs typeface="Arial"/>
              <a:sym typeface="Arial"/>
            </a:endParaRPr>
          </a:p>
        </p:txBody>
      </p:sp>
      <p:sp>
        <p:nvSpPr>
          <p:cNvPr id="1550" name="Google Shape;1550;g3f8727dd44b_2_0"/>
          <p:cNvSpPr/>
          <p:nvPr/>
        </p:nvSpPr>
        <p:spPr>
          <a:xfrm>
            <a:off x="6972114" y="1828800"/>
            <a:ext cx="4629000" cy="3162300"/>
          </a:xfrm>
          <a:prstGeom prst="roundRect">
            <a:avLst>
              <a:gd fmla="val 3614" name="adj"/>
            </a:avLst>
          </a:prstGeom>
          <a:solidFill>
            <a:srgbClr val="F7EDE2"/>
          </a:solidFill>
          <a:ln cap="flat" cmpd="sng" w="9525">
            <a:solidFill>
              <a:srgbClr val="D5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g3f8727dd44b_2_0"/>
          <p:cNvSpPr/>
          <p:nvPr/>
        </p:nvSpPr>
        <p:spPr>
          <a:xfrm>
            <a:off x="6972114" y="1828800"/>
            <a:ext cx="57000" cy="3162300"/>
          </a:xfrm>
          <a:prstGeom prst="roundRect">
            <a:avLst>
              <a:gd fmla="val 50000" name="adj"/>
            </a:avLst>
          </a:prstGeom>
          <a:solidFill>
            <a:srgbClr val="B36C2E"/>
          </a:solidFill>
          <a:ln cap="flat" cmpd="sng" w="9525">
            <a:solidFill>
              <a:srgbClr val="B36C2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g3f8727dd44b_2_0"/>
          <p:cNvSpPr/>
          <p:nvPr/>
        </p:nvSpPr>
        <p:spPr>
          <a:xfrm>
            <a:off x="7181659" y="1962150"/>
            <a:ext cx="4267200" cy="28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B36C2E"/>
                </a:solidFill>
                <a:latin typeface="Calibri"/>
                <a:ea typeface="Calibri"/>
                <a:cs typeface="Calibri"/>
                <a:sym typeface="Calibri"/>
              </a:rPr>
              <a:t>남은 한계</a:t>
            </a:r>
            <a:endParaRPr b="0" i="0" sz="1400" u="none" cap="none" strike="noStrike">
              <a:solidFill>
                <a:srgbClr val="000000"/>
              </a:solidFill>
              <a:latin typeface="Arial"/>
              <a:ea typeface="Arial"/>
              <a:cs typeface="Arial"/>
              <a:sym typeface="Arial"/>
            </a:endParaRPr>
          </a:p>
        </p:txBody>
      </p:sp>
      <p:sp>
        <p:nvSpPr>
          <p:cNvPr id="1553" name="Google Shape;1553;g3f8727dd44b_2_0"/>
          <p:cNvSpPr/>
          <p:nvPr/>
        </p:nvSpPr>
        <p:spPr>
          <a:xfrm>
            <a:off x="7278289" y="2433568"/>
            <a:ext cx="4267200" cy="259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신규 통계표 blind 일반화 54–58%</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25"/>
              <a:buFont typeface="Arial"/>
              <a:buNone/>
            </a:pPr>
            <a:r>
              <a:t/>
            </a:r>
            <a:endParaRPr b="0" i="0" sz="1325" u="none" cap="none" strike="noStrike">
              <a:solidFill>
                <a:srgbClr val="1425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READY 대비 evidence coverage 11.46%</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25"/>
              <a:buFont typeface="Arial"/>
              <a:buNone/>
            </a:pPr>
            <a:r>
              <a:t/>
            </a:r>
            <a:endParaRPr b="0" i="0" sz="1325" u="none" cap="none" strike="noStrike">
              <a:solidFill>
                <a:srgbClr val="1425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p95 처리시간 약 290초</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25"/>
              <a:buFont typeface="Arial"/>
              <a:buNone/>
            </a:pPr>
            <a:r>
              <a:t/>
            </a:r>
            <a:endParaRPr b="0" i="0" sz="1325" u="none" cap="none" strike="noStrike">
              <a:solidFill>
                <a:srgbClr val="14251D"/>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25"/>
              <a:buFont typeface="Arial"/>
              <a:buNone/>
            </a:pPr>
            <a:r>
              <a:rPr b="0" i="0" lang="en-US" sz="1325" u="none" cap="none" strike="noStrike">
                <a:solidFill>
                  <a:srgbClr val="14251D"/>
                </a:solidFill>
                <a:latin typeface="Calibri"/>
                <a:ea typeface="Calibri"/>
                <a:cs typeface="Calibri"/>
                <a:sym typeface="Calibri"/>
              </a:rPr>
              <a:t>△ 파생값·단위·기간 정렬의 복잡성</a:t>
            </a:r>
            <a:endParaRPr b="0" i="0" sz="1600" u="none" cap="none" strike="noStrike">
              <a:solidFill>
                <a:srgbClr val="000000"/>
              </a:solidFill>
              <a:latin typeface="Arial"/>
              <a:ea typeface="Arial"/>
              <a:cs typeface="Arial"/>
              <a:sym typeface="Arial"/>
            </a:endParaRPr>
          </a:p>
        </p:txBody>
      </p:sp>
      <p:sp>
        <p:nvSpPr>
          <p:cNvPr id="1554" name="Google Shape;1554;g3f8727dd44b_2_0"/>
          <p:cNvSpPr/>
          <p:nvPr/>
        </p:nvSpPr>
        <p:spPr>
          <a:xfrm>
            <a:off x="2114494" y="5305425"/>
            <a:ext cx="9486600" cy="543000"/>
          </a:xfrm>
          <a:prstGeom prst="roundRect">
            <a:avLst>
              <a:gd fmla="val 21053" name="adj"/>
            </a:avLst>
          </a:prstGeom>
          <a:solidFill>
            <a:srgbClr val="10271D"/>
          </a:solidFill>
          <a:ln cap="flat" cmpd="sng" w="9525">
            <a:solidFill>
              <a:srgbClr val="1027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g3f8727dd44b_2_0"/>
          <p:cNvSpPr/>
          <p:nvPr/>
        </p:nvSpPr>
        <p:spPr>
          <a:xfrm>
            <a:off x="2324038" y="5410200"/>
            <a:ext cx="15240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BD0C1"/>
                </a:solidFill>
                <a:latin typeface="Calibri"/>
                <a:ea typeface="Calibri"/>
                <a:cs typeface="Calibri"/>
                <a:sym typeface="Calibri"/>
              </a:rPr>
              <a:t>프로젝트의 가치</a:t>
            </a:r>
            <a:endParaRPr b="0" i="0" sz="1400" u="none" cap="none" strike="noStrike">
              <a:solidFill>
                <a:srgbClr val="000000"/>
              </a:solidFill>
              <a:latin typeface="Arial"/>
              <a:ea typeface="Arial"/>
              <a:cs typeface="Arial"/>
              <a:sym typeface="Arial"/>
            </a:endParaRPr>
          </a:p>
        </p:txBody>
      </p:sp>
      <p:sp>
        <p:nvSpPr>
          <p:cNvPr id="1556" name="Google Shape;1556;g3f8727dd44b_2_0"/>
          <p:cNvSpPr/>
          <p:nvPr/>
        </p:nvSpPr>
        <p:spPr>
          <a:xfrm>
            <a:off x="3857522" y="5410200"/>
            <a:ext cx="7429200" cy="32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FFFFFF"/>
                </a:solidFill>
                <a:latin typeface="Calibri"/>
                <a:ea typeface="Calibri"/>
                <a:cs typeface="Calibri"/>
                <a:sym typeface="Calibri"/>
              </a:rPr>
              <a:t>“많이 판정”하기보다 “근거가 있을 때만 판정”하는 기반을 완성</a:t>
            </a:r>
            <a:endParaRPr b="0" i="0" sz="1400" u="none" cap="none" strike="noStrike">
              <a:solidFill>
                <a:srgbClr val="000000"/>
              </a:solidFill>
              <a:latin typeface="Arial"/>
              <a:ea typeface="Arial"/>
              <a:cs typeface="Arial"/>
              <a:sym typeface="Arial"/>
            </a:endParaRPr>
          </a:p>
        </p:txBody>
      </p:sp>
      <p:sp>
        <p:nvSpPr>
          <p:cNvPr id="1557" name="Google Shape;1557;g3f8727dd44b_2_0"/>
          <p:cNvSpPr/>
          <p:nvPr/>
        </p:nvSpPr>
        <p:spPr>
          <a:xfrm>
            <a:off x="376414" y="1943075"/>
            <a:ext cx="18900" cy="18684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g3f8727dd44b_2_0"/>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g3f8727dd44b_2_0"/>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560" name="Google Shape;1560;g3f8727dd44b_2_0"/>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561" name="Google Shape;1561;g3f8727dd44b_2_0"/>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프로젝트 과정</a:t>
            </a:r>
            <a:endParaRPr b="0" i="0" sz="1400" u="none" cap="none" strike="noStrike">
              <a:solidFill>
                <a:srgbClr val="66786E"/>
              </a:solidFill>
              <a:latin typeface="Arial"/>
              <a:ea typeface="Arial"/>
              <a:cs typeface="Arial"/>
              <a:sym typeface="Arial"/>
            </a:endParaRPr>
          </a:p>
        </p:txBody>
      </p:sp>
      <p:sp>
        <p:nvSpPr>
          <p:cNvPr id="1562" name="Google Shape;1562;g3f8727dd44b_2_0"/>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50" u="none" cap="none" strike="noStrike">
                <a:solidFill>
                  <a:srgbClr val="11271D"/>
                </a:solidFill>
                <a:latin typeface="Arial"/>
                <a:ea typeface="Arial"/>
                <a:cs typeface="Arial"/>
                <a:sym typeface="Arial"/>
              </a:rPr>
              <a:t>평가 및 한계</a:t>
            </a:r>
            <a:endParaRPr b="1" i="0" sz="850" u="none" cap="none" strike="noStrike">
              <a:solidFill>
                <a:srgbClr val="11271D"/>
              </a:solidFill>
              <a:latin typeface="Arial"/>
              <a:ea typeface="Arial"/>
              <a:cs typeface="Arial"/>
              <a:sym typeface="Arial"/>
            </a:endParaRPr>
          </a:p>
        </p:txBody>
      </p:sp>
      <p:sp>
        <p:nvSpPr>
          <p:cNvPr id="1563" name="Google Shape;1563;g3f8727dd44b_2_0"/>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564" name="Google Shape;1564;g3f8727dd44b_2_0"/>
          <p:cNvGrpSpPr/>
          <p:nvPr/>
        </p:nvGrpSpPr>
        <p:grpSpPr>
          <a:xfrm>
            <a:off x="283404" y="3667057"/>
            <a:ext cx="209400" cy="209700"/>
            <a:chOff x="-3275292" y="2173036"/>
            <a:chExt cx="209400" cy="209700"/>
          </a:xfrm>
        </p:grpSpPr>
        <p:sp>
          <p:nvSpPr>
            <p:cNvPr id="1565" name="Google Shape;1565;g3f8727dd44b_2_0"/>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g3f8727dd44b_2_0"/>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67" name="Google Shape;1567;g3f8727dd44b_2_0"/>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g3f8727dd44b_2_0"/>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g3f8727dd44b_2_0"/>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g3f8727dd44b_2_0"/>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g3f8727dd44b_2_0"/>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g3f8727dd44b_2_0"/>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g3f8727dd44b_2_0"/>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04.·평가 및 한계</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578" name="Shape 1578"/>
        <p:cNvGrpSpPr/>
        <p:nvPr/>
      </p:nvGrpSpPr>
      <p:grpSpPr>
        <a:xfrm>
          <a:off x="0" y="0"/>
          <a:ext cx="0" cy="0"/>
          <a:chOff x="0" y="0"/>
          <a:chExt cx="0" cy="0"/>
        </a:xfrm>
      </p:grpSpPr>
      <p:sp>
        <p:nvSpPr>
          <p:cNvPr id="1579" name="Google Shape;1579;g3faefd80bea_5_63"/>
          <p:cNvSpPr/>
          <p:nvPr/>
        </p:nvSpPr>
        <p:spPr>
          <a:xfrm>
            <a:off x="-1412197" y="1668284"/>
            <a:ext cx="19800" cy="6228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g3faefd80bea_5_63"/>
          <p:cNvSpPr/>
          <p:nvPr/>
        </p:nvSpPr>
        <p:spPr>
          <a:xfrm>
            <a:off x="-15054" y="1905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81" name="Google Shape;1581;g3faefd80bea_5_63"/>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1582" name="Google Shape;1582;g3faefd80bea_5_63"/>
          <p:cNvSpPr/>
          <p:nvPr/>
        </p:nvSpPr>
        <p:spPr>
          <a:xfrm>
            <a:off x="2057400" y="686913"/>
            <a:ext cx="9738300" cy="4755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챗봇 파이프라인</a:t>
            </a:r>
            <a:endParaRPr b="0" i="0" sz="2600" u="none" cap="none" strike="noStrike">
              <a:solidFill>
                <a:schemeClr val="dk1"/>
              </a:solidFill>
              <a:latin typeface="Malgun Gothic"/>
              <a:ea typeface="Malgun Gothic"/>
              <a:cs typeface="Malgun Gothic"/>
              <a:sym typeface="Malgun Gothic"/>
            </a:endParaRPr>
          </a:p>
        </p:txBody>
      </p:sp>
      <p:sp>
        <p:nvSpPr>
          <p:cNvPr id="1583" name="Google Shape;1583;g3faefd80bea_5_63"/>
          <p:cNvSpPr/>
          <p:nvPr/>
        </p:nvSpPr>
        <p:spPr>
          <a:xfrm>
            <a:off x="2057400" y="6510528"/>
            <a:ext cx="25602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sp>
        <p:nvSpPr>
          <p:cNvPr id="1584" name="Google Shape;1584;g3faefd80bea_5_63"/>
          <p:cNvSpPr/>
          <p:nvPr/>
        </p:nvSpPr>
        <p:spPr>
          <a:xfrm>
            <a:off x="-1411300" y="2239775"/>
            <a:ext cx="19800" cy="18513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g3faefd80bea_5_63"/>
          <p:cNvSpPr/>
          <p:nvPr/>
        </p:nvSpPr>
        <p:spPr>
          <a:xfrm>
            <a:off x="-1441819" y="22397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g3faefd80bea_5_63"/>
          <p:cNvSpPr/>
          <p:nvPr/>
        </p:nvSpPr>
        <p:spPr>
          <a:xfrm>
            <a:off x="-1211275" y="15730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587" name="Google Shape;1587;g3faefd80bea_5_63"/>
          <p:cNvSpPr/>
          <p:nvPr/>
        </p:nvSpPr>
        <p:spPr>
          <a:xfrm>
            <a:off x="-1211275" y="21826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프로젝트 계획</a:t>
            </a:r>
            <a:endParaRPr b="1" i="0" sz="850" u="none" cap="none" strike="noStrike">
              <a:solidFill>
                <a:srgbClr val="11271D"/>
              </a:solidFill>
              <a:latin typeface="Arial"/>
              <a:ea typeface="Arial"/>
              <a:cs typeface="Arial"/>
              <a:sym typeface="Arial"/>
            </a:endParaRPr>
          </a:p>
        </p:txBody>
      </p:sp>
      <p:sp>
        <p:nvSpPr>
          <p:cNvPr id="1588" name="Google Shape;1588;g3faefd80bea_5_63"/>
          <p:cNvSpPr/>
          <p:nvPr/>
        </p:nvSpPr>
        <p:spPr>
          <a:xfrm>
            <a:off x="-1211275" y="27922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1589" name="Google Shape;1589;g3faefd80bea_5_63"/>
          <p:cNvSpPr/>
          <p:nvPr/>
        </p:nvSpPr>
        <p:spPr>
          <a:xfrm>
            <a:off x="-1211275" y="34018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1590" name="Google Shape;1590;g3faefd80bea_5_63"/>
          <p:cNvSpPr/>
          <p:nvPr/>
        </p:nvSpPr>
        <p:spPr>
          <a:xfrm>
            <a:off x="-1211275" y="4003364"/>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591" name="Google Shape;1591;g3faefd80bea_5_63"/>
          <p:cNvGrpSpPr/>
          <p:nvPr/>
        </p:nvGrpSpPr>
        <p:grpSpPr>
          <a:xfrm>
            <a:off x="-1506692" y="2173036"/>
            <a:ext cx="209400" cy="209700"/>
            <a:chOff x="-3275292" y="2173036"/>
            <a:chExt cx="209400" cy="209700"/>
          </a:xfrm>
        </p:grpSpPr>
        <p:sp>
          <p:nvSpPr>
            <p:cNvPr id="1592" name="Google Shape;1592;g3faefd80bea_5_63"/>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g3faefd80bea_5_63"/>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94" name="Google Shape;1594;g3faefd80bea_5_63"/>
          <p:cNvSpPr/>
          <p:nvPr/>
        </p:nvSpPr>
        <p:spPr>
          <a:xfrm>
            <a:off x="-1440094" y="28493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g3faefd80bea_5_63"/>
          <p:cNvSpPr/>
          <p:nvPr/>
        </p:nvSpPr>
        <p:spPr>
          <a:xfrm>
            <a:off x="-1440094" y="34589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g3faefd80bea_5_63"/>
          <p:cNvSpPr/>
          <p:nvPr/>
        </p:nvSpPr>
        <p:spPr>
          <a:xfrm>
            <a:off x="-1440094" y="4068586"/>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g3faefd80bea_5_63"/>
          <p:cNvSpPr/>
          <p:nvPr/>
        </p:nvSpPr>
        <p:spPr>
          <a:xfrm>
            <a:off x="-1438144" y="163555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98" name="Google Shape;1598;g3faefd80bea_5_63"/>
          <p:cNvGrpSpPr/>
          <p:nvPr/>
        </p:nvGrpSpPr>
        <p:grpSpPr>
          <a:xfrm>
            <a:off x="345746" y="1839686"/>
            <a:ext cx="1171717" cy="2658928"/>
            <a:chOff x="-3079992" y="1835961"/>
            <a:chExt cx="1171717" cy="2658928"/>
          </a:xfrm>
        </p:grpSpPr>
        <p:sp>
          <p:nvSpPr>
            <p:cNvPr id="1599" name="Google Shape;1599;g3faefd80bea_5_63"/>
            <p:cNvSpPr/>
            <p:nvPr/>
          </p:nvSpPr>
          <p:spPr>
            <a:xfrm>
              <a:off x="-2985497" y="1950259"/>
              <a:ext cx="19800" cy="6228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g3faefd80bea_5_63"/>
            <p:cNvSpPr/>
            <p:nvPr/>
          </p:nvSpPr>
          <p:spPr>
            <a:xfrm>
              <a:off x="-2984600" y="2521750"/>
              <a:ext cx="19800" cy="18513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g3faefd80bea_5_63"/>
            <p:cNvSpPr/>
            <p:nvPr/>
          </p:nvSpPr>
          <p:spPr>
            <a:xfrm>
              <a:off x="-3015119" y="252176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g3faefd80bea_5_63"/>
            <p:cNvSpPr/>
            <p:nvPr/>
          </p:nvSpPr>
          <p:spPr>
            <a:xfrm>
              <a:off x="-2784575" y="18359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603" name="Google Shape;1603;g3faefd80bea_5_63"/>
            <p:cNvSpPr/>
            <p:nvPr/>
          </p:nvSpPr>
          <p:spPr>
            <a:xfrm>
              <a:off x="-2784575" y="24455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프로젝트 계획</a:t>
              </a:r>
              <a:endParaRPr b="1" i="0" sz="850" u="none" cap="none" strike="noStrike">
                <a:solidFill>
                  <a:srgbClr val="11271D"/>
                </a:solidFill>
                <a:latin typeface="Arial"/>
                <a:ea typeface="Arial"/>
                <a:cs typeface="Arial"/>
                <a:sym typeface="Arial"/>
              </a:endParaRPr>
            </a:p>
          </p:txBody>
        </p:sp>
        <p:sp>
          <p:nvSpPr>
            <p:cNvPr id="1604" name="Google Shape;1604;g3faefd80bea_5_63"/>
            <p:cNvSpPr/>
            <p:nvPr/>
          </p:nvSpPr>
          <p:spPr>
            <a:xfrm>
              <a:off x="-2784575" y="30551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프로젝트 과정</a:t>
              </a:r>
              <a:endParaRPr b="0" i="0" sz="1400" u="none" cap="none" strike="noStrike">
                <a:solidFill>
                  <a:srgbClr val="9AA9A0"/>
                </a:solidFill>
                <a:latin typeface="Arial"/>
                <a:ea typeface="Arial"/>
                <a:cs typeface="Arial"/>
                <a:sym typeface="Arial"/>
              </a:endParaRPr>
            </a:p>
          </p:txBody>
        </p:sp>
        <p:sp>
          <p:nvSpPr>
            <p:cNvPr id="1605" name="Google Shape;1605;g3faefd80bea_5_63"/>
            <p:cNvSpPr/>
            <p:nvPr/>
          </p:nvSpPr>
          <p:spPr>
            <a:xfrm>
              <a:off x="-2784575" y="366476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9AA9A0"/>
                  </a:solidFill>
                  <a:latin typeface="Arial"/>
                  <a:ea typeface="Arial"/>
                  <a:cs typeface="Arial"/>
                  <a:sym typeface="Arial"/>
                </a:rPr>
                <a:t>평가 및 한계</a:t>
              </a:r>
              <a:endParaRPr b="0" i="0" sz="1400" u="none" cap="none" strike="noStrike">
                <a:solidFill>
                  <a:srgbClr val="9AA9A0"/>
                </a:solidFill>
                <a:latin typeface="Arial"/>
                <a:ea typeface="Arial"/>
                <a:cs typeface="Arial"/>
                <a:sym typeface="Arial"/>
              </a:endParaRPr>
            </a:p>
          </p:txBody>
        </p:sp>
        <p:sp>
          <p:nvSpPr>
            <p:cNvPr id="1606" name="Google Shape;1606;g3faefd80bea_5_63"/>
            <p:cNvSpPr/>
            <p:nvPr/>
          </p:nvSpPr>
          <p:spPr>
            <a:xfrm>
              <a:off x="-2784575" y="4266289"/>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607" name="Google Shape;1607;g3faefd80bea_5_63"/>
            <p:cNvGrpSpPr/>
            <p:nvPr/>
          </p:nvGrpSpPr>
          <p:grpSpPr>
            <a:xfrm>
              <a:off x="-3079992" y="2455011"/>
              <a:ext cx="209400" cy="209700"/>
              <a:chOff x="-3275292" y="2173036"/>
              <a:chExt cx="209400" cy="209700"/>
            </a:xfrm>
          </p:grpSpPr>
          <p:sp>
            <p:nvSpPr>
              <p:cNvPr id="1608" name="Google Shape;1608;g3faefd80bea_5_63"/>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g3faefd80bea_5_63"/>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10" name="Google Shape;1610;g3faefd80bea_5_63"/>
            <p:cNvSpPr/>
            <p:nvPr/>
          </p:nvSpPr>
          <p:spPr>
            <a:xfrm>
              <a:off x="-3013394" y="31313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g3faefd80bea_5_63"/>
            <p:cNvSpPr/>
            <p:nvPr/>
          </p:nvSpPr>
          <p:spPr>
            <a:xfrm>
              <a:off x="-3013394" y="37409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g3faefd80bea_5_63"/>
            <p:cNvSpPr/>
            <p:nvPr/>
          </p:nvSpPr>
          <p:spPr>
            <a:xfrm>
              <a:off x="-3013394" y="435056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g3faefd80bea_5_63"/>
            <p:cNvSpPr/>
            <p:nvPr/>
          </p:nvSpPr>
          <p:spPr>
            <a:xfrm>
              <a:off x="-3011444" y="191752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14" name="Google Shape;1614;g3faefd80bea_5_63"/>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g3faefd80bea_5_63"/>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16" name="Google Shape;1616;g3faefd80bea_5_63"/>
          <p:cNvPicPr preferRelativeResize="0"/>
          <p:nvPr/>
        </p:nvPicPr>
        <p:blipFill rotWithShape="1">
          <a:blip r:embed="rId3">
            <a:alphaModFix/>
          </a:blip>
          <a:srcRect b="0" l="0" r="0" t="0"/>
          <a:stretch/>
        </p:blipFill>
        <p:spPr>
          <a:xfrm>
            <a:off x="3795488" y="818575"/>
            <a:ext cx="6262125" cy="5801300"/>
          </a:xfrm>
          <a:prstGeom prst="rect">
            <a:avLst/>
          </a:prstGeom>
          <a:noFill/>
          <a:ln>
            <a:noFill/>
          </a:ln>
        </p:spPr>
      </p:pic>
      <p:sp>
        <p:nvSpPr>
          <p:cNvPr id="1617" name="Google Shape;1617;g3faefd80bea_5_63"/>
          <p:cNvSpPr/>
          <p:nvPr/>
        </p:nvSpPr>
        <p:spPr>
          <a:xfrm>
            <a:off x="0" y="119625"/>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g3faefd80bea_5_63"/>
          <p:cNvSpPr/>
          <p:nvPr/>
        </p:nvSpPr>
        <p:spPr>
          <a:xfrm>
            <a:off x="377362" y="1953951"/>
            <a:ext cx="23400" cy="2400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g3faefd80bea_5_63"/>
          <p:cNvSpPr/>
          <p:nvPr/>
        </p:nvSpPr>
        <p:spPr>
          <a:xfrm>
            <a:off x="353244" y="435428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g3faefd80bea_5_63"/>
          <p:cNvSpPr/>
          <p:nvPr/>
        </p:nvSpPr>
        <p:spPr>
          <a:xfrm>
            <a:off x="581838" y="18396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621" name="Google Shape;1621;g3faefd80bea_5_63"/>
          <p:cNvSpPr/>
          <p:nvPr/>
        </p:nvSpPr>
        <p:spPr>
          <a:xfrm>
            <a:off x="581838" y="24492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622" name="Google Shape;1622;g3faefd80bea_5_63"/>
          <p:cNvSpPr/>
          <p:nvPr/>
        </p:nvSpPr>
        <p:spPr>
          <a:xfrm>
            <a:off x="581838" y="30588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프로젝트 과정</a:t>
            </a:r>
            <a:endParaRPr b="0" i="0" sz="1400" u="none" cap="none" strike="noStrike">
              <a:solidFill>
                <a:srgbClr val="66786E"/>
              </a:solidFill>
              <a:latin typeface="Arial"/>
              <a:ea typeface="Arial"/>
              <a:cs typeface="Arial"/>
              <a:sym typeface="Arial"/>
            </a:endParaRPr>
          </a:p>
        </p:txBody>
      </p:sp>
      <p:sp>
        <p:nvSpPr>
          <p:cNvPr id="1623" name="Google Shape;1623;g3faefd80bea_5_63"/>
          <p:cNvSpPr/>
          <p:nvPr/>
        </p:nvSpPr>
        <p:spPr>
          <a:xfrm>
            <a:off x="581838" y="366848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평가 및 한계</a:t>
            </a:r>
            <a:endParaRPr b="0" i="0" sz="1400" u="none" cap="none" strike="noStrike">
              <a:solidFill>
                <a:srgbClr val="66786E"/>
              </a:solidFill>
              <a:latin typeface="Arial"/>
              <a:ea typeface="Arial"/>
              <a:cs typeface="Arial"/>
              <a:sym typeface="Arial"/>
            </a:endParaRPr>
          </a:p>
        </p:txBody>
      </p:sp>
      <p:sp>
        <p:nvSpPr>
          <p:cNvPr id="1624" name="Google Shape;1624;g3faefd80bea_5_63"/>
          <p:cNvSpPr/>
          <p:nvPr/>
        </p:nvSpPr>
        <p:spPr>
          <a:xfrm>
            <a:off x="581838" y="4270014"/>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챗봇 시연</a:t>
            </a:r>
            <a:endParaRPr b="1" i="0" sz="850" u="none" cap="none" strike="noStrike">
              <a:solidFill>
                <a:srgbClr val="11271D"/>
              </a:solidFill>
              <a:latin typeface="Arial"/>
              <a:ea typeface="Arial"/>
              <a:cs typeface="Arial"/>
              <a:sym typeface="Arial"/>
            </a:endParaRPr>
          </a:p>
        </p:txBody>
      </p:sp>
      <p:grpSp>
        <p:nvGrpSpPr>
          <p:cNvPr id="1625" name="Google Shape;1625;g3faefd80bea_5_63"/>
          <p:cNvGrpSpPr/>
          <p:nvPr/>
        </p:nvGrpSpPr>
        <p:grpSpPr>
          <a:xfrm>
            <a:off x="288371" y="4283632"/>
            <a:ext cx="209400" cy="209700"/>
            <a:chOff x="-3275292" y="2173036"/>
            <a:chExt cx="209400" cy="209700"/>
          </a:xfrm>
        </p:grpSpPr>
        <p:sp>
          <p:nvSpPr>
            <p:cNvPr id="1626" name="Google Shape;1626;g3faefd80bea_5_63"/>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g3faefd80bea_5_63"/>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28" name="Google Shape;1628;g3faefd80bea_5_63"/>
          <p:cNvSpPr/>
          <p:nvPr/>
        </p:nvSpPr>
        <p:spPr>
          <a:xfrm>
            <a:off x="354969" y="192125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g3faefd80bea_5_63"/>
          <p:cNvSpPr/>
          <p:nvPr/>
        </p:nvSpPr>
        <p:spPr>
          <a:xfrm>
            <a:off x="354969" y="25254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g3faefd80bea_5_63"/>
          <p:cNvSpPr/>
          <p:nvPr/>
        </p:nvSpPr>
        <p:spPr>
          <a:xfrm>
            <a:off x="351065" y="3137764"/>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g3faefd80bea_5_63"/>
          <p:cNvSpPr/>
          <p:nvPr/>
        </p:nvSpPr>
        <p:spPr>
          <a:xfrm>
            <a:off x="350969" y="3746014"/>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g3faefd80bea_5_63"/>
          <p:cNvSpPr/>
          <p:nvPr/>
        </p:nvSpPr>
        <p:spPr>
          <a:xfrm>
            <a:off x="2209741" y="326188"/>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05.·챗봇 시연</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637" name="Shape 1637"/>
        <p:cNvGrpSpPr/>
        <p:nvPr/>
      </p:nvGrpSpPr>
      <p:grpSpPr>
        <a:xfrm>
          <a:off x="0" y="0"/>
          <a:ext cx="0" cy="0"/>
          <a:chOff x="0" y="0"/>
          <a:chExt cx="0" cy="0"/>
        </a:xfrm>
      </p:grpSpPr>
      <p:sp>
        <p:nvSpPr>
          <p:cNvPr id="1638" name="Google Shape;1638;p22"/>
          <p:cNvSpPr/>
          <p:nvPr/>
        </p:nvSpPr>
        <p:spPr>
          <a:xfrm>
            <a:off x="0" y="100575"/>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39" name="Google Shape;1639;p22"/>
          <p:cNvCxnSpPr/>
          <p:nvPr/>
        </p:nvCxnSpPr>
        <p:spPr>
          <a:xfrm>
            <a:off x="182880" y="5742432"/>
            <a:ext cx="1353312" cy="0"/>
          </a:xfrm>
          <a:prstGeom prst="straightConnector1">
            <a:avLst/>
          </a:prstGeom>
          <a:noFill/>
          <a:ln cap="flat" cmpd="sng" w="11425">
            <a:solidFill>
              <a:srgbClr val="D7E3DA"/>
            </a:solidFill>
            <a:prstDash val="solid"/>
            <a:round/>
            <a:headEnd len="sm" w="sm" type="none"/>
            <a:tailEnd len="sm" w="sm" type="none"/>
          </a:ln>
        </p:spPr>
      </p:cxnSp>
      <p:sp>
        <p:nvSpPr>
          <p:cNvPr id="1640" name="Google Shape;1640;p22"/>
          <p:cNvSpPr/>
          <p:nvPr/>
        </p:nvSpPr>
        <p:spPr>
          <a:xfrm>
            <a:off x="0" y="0"/>
            <a:ext cx="12191695" cy="100584"/>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22"/>
          <p:cNvSpPr/>
          <p:nvPr/>
        </p:nvSpPr>
        <p:spPr>
          <a:xfrm>
            <a:off x="2220023" y="611014"/>
            <a:ext cx="2560200" cy="475500"/>
          </a:xfrm>
          <a:prstGeom prst="rect">
            <a:avLst/>
          </a:prstGeom>
          <a:noFill/>
          <a:ln>
            <a:noFill/>
          </a:ln>
        </p:spPr>
        <p:txBody>
          <a:bodyPr anchorCtr="0" anchor="ctr" bIns="0" lIns="0" spcFirstLastPara="1" rIns="0" wrap="square" tIns="0">
            <a:norm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챗봇 시연</a:t>
            </a:r>
            <a:endParaRPr b="0" i="0" sz="2600" u="none" cap="none" strike="noStrike">
              <a:solidFill>
                <a:schemeClr val="dk1"/>
              </a:solidFill>
              <a:latin typeface="Malgun Gothic"/>
              <a:ea typeface="Malgun Gothic"/>
              <a:cs typeface="Malgun Gothic"/>
              <a:sym typeface="Malgun Gothic"/>
            </a:endParaRPr>
          </a:p>
        </p:txBody>
      </p:sp>
      <p:sp>
        <p:nvSpPr>
          <p:cNvPr id="1642" name="Google Shape;1642;p22"/>
          <p:cNvSpPr/>
          <p:nvPr/>
        </p:nvSpPr>
        <p:spPr>
          <a:xfrm>
            <a:off x="2057400" y="6510528"/>
            <a:ext cx="2560320" cy="137160"/>
          </a:xfrm>
          <a:prstGeom prst="rect">
            <a:avLst/>
          </a:prstGeom>
          <a:noFill/>
          <a:ln>
            <a:noFill/>
          </a:ln>
        </p:spPr>
        <p:txBody>
          <a:bodyPr anchorCtr="0" anchor="ctr" bIns="500" lIns="500" spcFirstLastPara="1" rIns="500" wrap="square" tIns="500">
            <a:norm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sp>
        <p:nvSpPr>
          <p:cNvPr id="1643" name="Google Shape;1643;p22"/>
          <p:cNvSpPr/>
          <p:nvPr/>
        </p:nvSpPr>
        <p:spPr>
          <a:xfrm>
            <a:off x="377362" y="1934901"/>
            <a:ext cx="23400" cy="24003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22"/>
          <p:cNvSpPr/>
          <p:nvPr/>
        </p:nvSpPr>
        <p:spPr>
          <a:xfrm>
            <a:off x="353244" y="4335236"/>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22"/>
          <p:cNvSpPr/>
          <p:nvPr/>
        </p:nvSpPr>
        <p:spPr>
          <a:xfrm>
            <a:off x="581838" y="18206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646" name="Google Shape;1646;p22"/>
          <p:cNvSpPr/>
          <p:nvPr/>
        </p:nvSpPr>
        <p:spPr>
          <a:xfrm>
            <a:off x="581838" y="24302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647" name="Google Shape;1647;p22"/>
          <p:cNvSpPr/>
          <p:nvPr/>
        </p:nvSpPr>
        <p:spPr>
          <a:xfrm>
            <a:off x="581838" y="30398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프로젝트 과정</a:t>
            </a:r>
            <a:endParaRPr b="0" i="0" sz="1400" u="none" cap="none" strike="noStrike">
              <a:solidFill>
                <a:srgbClr val="66786E"/>
              </a:solidFill>
              <a:latin typeface="Arial"/>
              <a:ea typeface="Arial"/>
              <a:cs typeface="Arial"/>
              <a:sym typeface="Arial"/>
            </a:endParaRPr>
          </a:p>
        </p:txBody>
      </p:sp>
      <p:sp>
        <p:nvSpPr>
          <p:cNvPr id="1648" name="Google Shape;1648;p22"/>
          <p:cNvSpPr/>
          <p:nvPr/>
        </p:nvSpPr>
        <p:spPr>
          <a:xfrm>
            <a:off x="581838" y="3649436"/>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88" u="none" cap="none" strike="noStrike">
                <a:solidFill>
                  <a:srgbClr val="66786E"/>
                </a:solidFill>
                <a:latin typeface="Arial"/>
                <a:ea typeface="Arial"/>
                <a:cs typeface="Arial"/>
                <a:sym typeface="Arial"/>
              </a:rPr>
              <a:t>평가 및 한계</a:t>
            </a:r>
            <a:endParaRPr b="0" i="0" sz="1400" u="none" cap="none" strike="noStrike">
              <a:solidFill>
                <a:srgbClr val="66786E"/>
              </a:solidFill>
              <a:latin typeface="Arial"/>
              <a:ea typeface="Arial"/>
              <a:cs typeface="Arial"/>
              <a:sym typeface="Arial"/>
            </a:endParaRPr>
          </a:p>
        </p:txBody>
      </p:sp>
      <p:sp>
        <p:nvSpPr>
          <p:cNvPr id="1649" name="Google Shape;1649;p22"/>
          <p:cNvSpPr/>
          <p:nvPr/>
        </p:nvSpPr>
        <p:spPr>
          <a:xfrm>
            <a:off x="581838" y="4250964"/>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271D"/>
                </a:solidFill>
                <a:latin typeface="Arial"/>
                <a:ea typeface="Arial"/>
                <a:cs typeface="Arial"/>
                <a:sym typeface="Arial"/>
              </a:rPr>
              <a:t>챗봇 시연</a:t>
            </a:r>
            <a:endParaRPr b="1" i="0" sz="850" u="none" cap="none" strike="noStrike">
              <a:solidFill>
                <a:srgbClr val="11271D"/>
              </a:solidFill>
              <a:latin typeface="Arial"/>
              <a:ea typeface="Arial"/>
              <a:cs typeface="Arial"/>
              <a:sym typeface="Arial"/>
            </a:endParaRPr>
          </a:p>
        </p:txBody>
      </p:sp>
      <p:grpSp>
        <p:nvGrpSpPr>
          <p:cNvPr id="1650" name="Google Shape;1650;p22"/>
          <p:cNvGrpSpPr/>
          <p:nvPr/>
        </p:nvGrpSpPr>
        <p:grpSpPr>
          <a:xfrm>
            <a:off x="288371" y="4264582"/>
            <a:ext cx="209400" cy="209700"/>
            <a:chOff x="-3275292" y="2173036"/>
            <a:chExt cx="209400" cy="209700"/>
          </a:xfrm>
        </p:grpSpPr>
        <p:sp>
          <p:nvSpPr>
            <p:cNvPr id="1651" name="Google Shape;1651;p22"/>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22"/>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53" name="Google Shape;1653;p22"/>
          <p:cNvSpPr/>
          <p:nvPr/>
        </p:nvSpPr>
        <p:spPr>
          <a:xfrm>
            <a:off x="354969" y="19022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22"/>
          <p:cNvSpPr/>
          <p:nvPr/>
        </p:nvSpPr>
        <p:spPr>
          <a:xfrm>
            <a:off x="354969" y="250642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22"/>
          <p:cNvSpPr/>
          <p:nvPr/>
        </p:nvSpPr>
        <p:spPr>
          <a:xfrm>
            <a:off x="351065" y="3118714"/>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22"/>
          <p:cNvSpPr/>
          <p:nvPr/>
        </p:nvSpPr>
        <p:spPr>
          <a:xfrm>
            <a:off x="350969" y="3726964"/>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57" name="Google Shape;1657;p22"/>
          <p:cNvPicPr preferRelativeResize="0"/>
          <p:nvPr/>
        </p:nvPicPr>
        <p:blipFill rotWithShape="1">
          <a:blip r:embed="rId3">
            <a:alphaModFix/>
          </a:blip>
          <a:srcRect b="0" l="0" r="0" t="0"/>
          <a:stretch/>
        </p:blipFill>
        <p:spPr>
          <a:xfrm>
            <a:off x="1935600" y="1238914"/>
            <a:ext cx="10103675" cy="4767000"/>
          </a:xfrm>
          <a:prstGeom prst="rect">
            <a:avLst/>
          </a:prstGeom>
          <a:noFill/>
          <a:ln>
            <a:noFill/>
          </a:ln>
        </p:spPr>
      </p:pic>
      <p:sp>
        <p:nvSpPr>
          <p:cNvPr id="1658" name="Google Shape;1658;p22"/>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22"/>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05.·챗봇 시연</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664" name="Shape 1664"/>
        <p:cNvGrpSpPr/>
        <p:nvPr/>
      </p:nvGrpSpPr>
      <p:grpSpPr>
        <a:xfrm>
          <a:off x="0" y="0"/>
          <a:ext cx="0" cy="0"/>
          <a:chOff x="0" y="0"/>
          <a:chExt cx="0" cy="0"/>
        </a:xfrm>
      </p:grpSpPr>
      <p:sp>
        <p:nvSpPr>
          <p:cNvPr id="1665" name="Google Shape;1665;g3fad817dd61_2_74"/>
          <p:cNvSpPr/>
          <p:nvPr/>
        </p:nvSpPr>
        <p:spPr>
          <a:xfrm>
            <a:off x="-15054" y="0"/>
            <a:ext cx="178320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66" name="Google Shape;1666;g3fad817dd61_2_74"/>
          <p:cNvCxnSpPr/>
          <p:nvPr/>
        </p:nvCxnSpPr>
        <p:spPr>
          <a:xfrm>
            <a:off x="182880" y="5742432"/>
            <a:ext cx="1353300" cy="0"/>
          </a:xfrm>
          <a:prstGeom prst="straightConnector1">
            <a:avLst/>
          </a:prstGeom>
          <a:noFill/>
          <a:ln cap="flat" cmpd="sng" w="11425">
            <a:solidFill>
              <a:srgbClr val="D7E3DA"/>
            </a:solidFill>
            <a:prstDash val="solid"/>
            <a:round/>
            <a:headEnd len="sm" w="sm" type="none"/>
            <a:tailEnd len="sm" w="sm" type="none"/>
          </a:ln>
        </p:spPr>
      </p:cxnSp>
      <p:sp>
        <p:nvSpPr>
          <p:cNvPr id="1667" name="Google Shape;1667;g3fad817dd61_2_74"/>
          <p:cNvSpPr/>
          <p:nvPr/>
        </p:nvSpPr>
        <p:spPr>
          <a:xfrm>
            <a:off x="246888" y="5989320"/>
            <a:ext cx="73200" cy="73200"/>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g3fad817dd61_2_74"/>
          <p:cNvSpPr/>
          <p:nvPr/>
        </p:nvSpPr>
        <p:spPr>
          <a:xfrm>
            <a:off x="393067" y="5957346"/>
            <a:ext cx="10974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2026.09.02</a:t>
            </a:r>
            <a:endParaRPr b="0" i="0" sz="730" u="none" cap="none" strike="noStrike">
              <a:solidFill>
                <a:schemeClr val="dk1"/>
              </a:solidFill>
              <a:latin typeface="Malgun Gothic"/>
              <a:ea typeface="Malgun Gothic"/>
              <a:cs typeface="Malgun Gothic"/>
              <a:sym typeface="Malgun Gothic"/>
            </a:endParaRPr>
          </a:p>
        </p:txBody>
      </p:sp>
      <p:sp>
        <p:nvSpPr>
          <p:cNvPr id="1669" name="Google Shape;1669;g3fad817dd61_2_74"/>
          <p:cNvSpPr/>
          <p:nvPr/>
        </p:nvSpPr>
        <p:spPr>
          <a:xfrm>
            <a:off x="256032" y="6199632"/>
            <a:ext cx="1234500" cy="1464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920" u="none" cap="none" strike="noStrike">
                <a:solidFill>
                  <a:srgbClr val="8A9B92"/>
                </a:solidFill>
                <a:latin typeface="Malgun Gothic"/>
                <a:ea typeface="Malgun Gothic"/>
                <a:cs typeface="Malgun Gothic"/>
                <a:sym typeface="Malgun Gothic"/>
              </a:rPr>
              <a:t>최종 프로젝트</a:t>
            </a:r>
            <a:endParaRPr b="0" i="0" sz="920" u="none" cap="none" strike="noStrike">
              <a:solidFill>
                <a:schemeClr val="dk1"/>
              </a:solidFill>
              <a:latin typeface="Malgun Gothic"/>
              <a:ea typeface="Malgun Gothic"/>
              <a:cs typeface="Malgun Gothic"/>
              <a:sym typeface="Malgun Gothic"/>
            </a:endParaRPr>
          </a:p>
        </p:txBody>
      </p:sp>
      <p:sp>
        <p:nvSpPr>
          <p:cNvPr id="1670" name="Google Shape;1670;g3fad817dd61_2_74"/>
          <p:cNvSpPr/>
          <p:nvPr/>
        </p:nvSpPr>
        <p:spPr>
          <a:xfrm>
            <a:off x="0" y="0"/>
            <a:ext cx="12191700" cy="100500"/>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g3fad817dd61_2_74"/>
          <p:cNvSpPr/>
          <p:nvPr/>
        </p:nvSpPr>
        <p:spPr>
          <a:xfrm>
            <a:off x="2074409" y="2581832"/>
            <a:ext cx="9306600" cy="1626300"/>
          </a:xfrm>
          <a:prstGeom prst="roundRect">
            <a:avLst>
              <a:gd fmla="val 14737" name="adj"/>
            </a:avLst>
          </a:prstGeom>
          <a:solidFill>
            <a:srgbClr val="FFFFFF"/>
          </a:solidFill>
          <a:ln cap="flat" cmpd="sng" w="24600">
            <a:solidFill>
              <a:srgbClr val="D7E3DA"/>
            </a:solidFill>
            <a:prstDash val="solid"/>
            <a:round/>
            <a:headEnd len="sm" w="sm" type="none"/>
            <a:tailEnd len="sm" w="sm" type="none"/>
          </a:ln>
        </p:spPr>
        <p:txBody>
          <a:bodyPr anchorCtr="0" anchor="ctr" bIns="161200" lIns="161200" spcFirstLastPara="1" rIns="161200" wrap="square" tIns="161200">
            <a:noAutofit/>
          </a:bodyPr>
          <a:lstStyle/>
          <a:p>
            <a:pPr indent="0" lvl="0" marL="0" marR="0" rtl="0" algn="l">
              <a:lnSpc>
                <a:spcPct val="100000"/>
              </a:lnSpc>
              <a:spcBef>
                <a:spcPts val="0"/>
              </a:spcBef>
              <a:spcAft>
                <a:spcPts val="0"/>
              </a:spcAft>
              <a:buClr>
                <a:srgbClr val="000000"/>
              </a:buClr>
              <a:buSzPts val="1255"/>
              <a:buFont typeface="Arial"/>
              <a:buNone/>
            </a:pPr>
            <a:r>
              <a:t/>
            </a:r>
            <a:endParaRPr b="0" i="0" sz="1255" u="none" cap="none" strike="noStrike">
              <a:solidFill>
                <a:srgbClr val="000000"/>
              </a:solidFill>
              <a:latin typeface="Arial"/>
              <a:ea typeface="Arial"/>
              <a:cs typeface="Arial"/>
              <a:sym typeface="Arial"/>
            </a:endParaRPr>
          </a:p>
        </p:txBody>
      </p:sp>
      <p:sp>
        <p:nvSpPr>
          <p:cNvPr id="1672" name="Google Shape;1672;g3fad817dd61_2_74"/>
          <p:cNvSpPr/>
          <p:nvPr/>
        </p:nvSpPr>
        <p:spPr>
          <a:xfrm>
            <a:off x="3538767" y="2792100"/>
            <a:ext cx="5694900" cy="1273800"/>
          </a:xfrm>
          <a:prstGeom prst="rect">
            <a:avLst/>
          </a:prstGeom>
          <a:noFill/>
          <a:ln>
            <a:noFill/>
          </a:ln>
        </p:spPr>
        <p:txBody>
          <a:bodyPr anchorCtr="0" anchor="ctr" bIns="450" lIns="450" spcFirstLastPara="1" rIns="450" wrap="square" tIns="450">
            <a:noAutofit/>
          </a:bodyPr>
          <a:lstStyle/>
          <a:p>
            <a:pPr indent="0" lvl="0" marL="0" marR="0" rtl="0" algn="ctr">
              <a:lnSpc>
                <a:spcPct val="95000"/>
              </a:lnSpc>
              <a:spcBef>
                <a:spcPts val="0"/>
              </a:spcBef>
              <a:spcAft>
                <a:spcPts val="0"/>
              </a:spcAft>
              <a:buClr>
                <a:srgbClr val="173F2F"/>
              </a:buClr>
              <a:buSzPts val="4232"/>
              <a:buFont typeface="Malgun Gothic"/>
              <a:buNone/>
            </a:pPr>
            <a:r>
              <a:rPr b="1" i="0" lang="en-US" sz="4583" u="none" cap="none" strike="noStrike">
                <a:solidFill>
                  <a:srgbClr val="1F7A4F"/>
                </a:solidFill>
                <a:latin typeface="Arial"/>
                <a:ea typeface="Arial"/>
                <a:cs typeface="Arial"/>
                <a:sym typeface="Arial"/>
              </a:rPr>
              <a:t>Q &amp; A</a:t>
            </a:r>
            <a:endParaRPr b="1" i="0" sz="4583" u="none" cap="none" strike="noStrike">
              <a:solidFill>
                <a:srgbClr val="1F7A4F"/>
              </a:solidFill>
              <a:latin typeface="Arial"/>
              <a:ea typeface="Arial"/>
              <a:cs typeface="Arial"/>
              <a:sym typeface="Arial"/>
            </a:endParaRPr>
          </a:p>
        </p:txBody>
      </p:sp>
      <p:sp>
        <p:nvSpPr>
          <p:cNvPr id="1673" name="Google Shape;1673;g3fad817dd61_2_74"/>
          <p:cNvSpPr/>
          <p:nvPr/>
        </p:nvSpPr>
        <p:spPr>
          <a:xfrm>
            <a:off x="2057400" y="6510528"/>
            <a:ext cx="2560200" cy="13710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Arial"/>
                <a:ea typeface="Arial"/>
                <a:cs typeface="Arial"/>
                <a:sym typeface="Arial"/>
              </a:rPr>
              <a:t>KOSIS 뉴스 수치 주장 검증 PoC</a:t>
            </a:r>
            <a:endParaRPr b="0" i="0" sz="65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6"/>
        </a:solidFill>
      </p:bgPr>
    </p:bg>
    <p:spTree>
      <p:nvGrpSpPr>
        <p:cNvPr id="1678" name="Shape 1678"/>
        <p:cNvGrpSpPr/>
        <p:nvPr/>
      </p:nvGrpSpPr>
      <p:grpSpPr>
        <a:xfrm>
          <a:off x="0" y="0"/>
          <a:ext cx="0" cy="0"/>
          <a:chOff x="0" y="0"/>
          <a:chExt cx="0" cy="0"/>
        </a:xfrm>
      </p:grpSpPr>
      <p:sp>
        <p:nvSpPr>
          <p:cNvPr id="1679" name="Google Shape;1679;g3faefd80bea_2_64"/>
          <p:cNvSpPr/>
          <p:nvPr/>
        </p:nvSpPr>
        <p:spPr>
          <a:xfrm>
            <a:off x="0" y="0"/>
            <a:ext cx="1783080" cy="6858000"/>
          </a:xfrm>
          <a:prstGeom prst="rect">
            <a:avLst/>
          </a:prstGeom>
          <a:solidFill>
            <a:srgbClr val="EEF4F0"/>
          </a:solidFill>
          <a:ln cap="flat" cmpd="sng" w="12700">
            <a:solidFill>
              <a:srgbClr val="EEF4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80" name="Google Shape;1680;g3faefd80bea_2_64"/>
          <p:cNvCxnSpPr/>
          <p:nvPr/>
        </p:nvCxnSpPr>
        <p:spPr>
          <a:xfrm>
            <a:off x="182880" y="5742432"/>
            <a:ext cx="1353312" cy="0"/>
          </a:xfrm>
          <a:prstGeom prst="straightConnector1">
            <a:avLst/>
          </a:prstGeom>
          <a:noFill/>
          <a:ln cap="flat" cmpd="sng" w="11425">
            <a:solidFill>
              <a:srgbClr val="D7E3DA"/>
            </a:solidFill>
            <a:prstDash val="solid"/>
            <a:round/>
            <a:headEnd len="sm" w="sm" type="none"/>
            <a:tailEnd len="sm" w="sm" type="none"/>
          </a:ln>
        </p:spPr>
      </p:cxnSp>
      <p:sp>
        <p:nvSpPr>
          <p:cNvPr id="1681" name="Google Shape;1681;g3faefd80bea_2_64"/>
          <p:cNvSpPr/>
          <p:nvPr/>
        </p:nvSpPr>
        <p:spPr>
          <a:xfrm>
            <a:off x="246888" y="5989320"/>
            <a:ext cx="73152" cy="73152"/>
          </a:xfrm>
          <a:prstGeom prst="ellipse">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g3faefd80bea_2_64"/>
          <p:cNvSpPr/>
          <p:nvPr/>
        </p:nvSpPr>
        <p:spPr>
          <a:xfrm>
            <a:off x="393192" y="5925312"/>
            <a:ext cx="1097280" cy="13716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173F2F"/>
              </a:buClr>
              <a:buSzPts val="730"/>
              <a:buFont typeface="Malgun Gothic"/>
              <a:buNone/>
            </a:pPr>
            <a:r>
              <a:rPr b="1" i="0" lang="en-US" sz="730" u="none" cap="none" strike="noStrike">
                <a:solidFill>
                  <a:srgbClr val="173F2F"/>
                </a:solidFill>
                <a:latin typeface="Malgun Gothic"/>
                <a:ea typeface="Malgun Gothic"/>
                <a:cs typeface="Malgun Gothic"/>
                <a:sym typeface="Malgun Gothic"/>
              </a:rPr>
              <a:t>KOSIS 공식 통계 연결</a:t>
            </a:r>
            <a:endParaRPr b="0" i="0" sz="730" u="none" cap="none" strike="noStrike">
              <a:solidFill>
                <a:schemeClr val="dk1"/>
              </a:solidFill>
              <a:latin typeface="Malgun Gothic"/>
              <a:ea typeface="Malgun Gothic"/>
              <a:cs typeface="Malgun Gothic"/>
              <a:sym typeface="Malgun Gothic"/>
            </a:endParaRPr>
          </a:p>
        </p:txBody>
      </p:sp>
      <p:sp>
        <p:nvSpPr>
          <p:cNvPr id="1683" name="Google Shape;1683;g3faefd80bea_2_64"/>
          <p:cNvSpPr/>
          <p:nvPr/>
        </p:nvSpPr>
        <p:spPr>
          <a:xfrm>
            <a:off x="256032" y="6199632"/>
            <a:ext cx="1234440" cy="146304"/>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20"/>
              <a:buFont typeface="Malgun Gothic"/>
              <a:buNone/>
            </a:pPr>
            <a:r>
              <a:rPr b="0" i="0" lang="en-US" sz="620" u="none" cap="none" strike="noStrike">
                <a:solidFill>
                  <a:srgbClr val="8A9B92"/>
                </a:solidFill>
                <a:latin typeface="Malgun Gothic"/>
                <a:ea typeface="Malgun Gothic"/>
                <a:cs typeface="Malgun Gothic"/>
                <a:sym typeface="Malgun Gothic"/>
              </a:rPr>
              <a:t>HCX 주장 추출 · KOSIS 좌표 대조</a:t>
            </a:r>
            <a:endParaRPr b="0" i="0" sz="620" u="none" cap="none" strike="noStrike">
              <a:solidFill>
                <a:schemeClr val="dk1"/>
              </a:solidFill>
              <a:latin typeface="Malgun Gothic"/>
              <a:ea typeface="Malgun Gothic"/>
              <a:cs typeface="Malgun Gothic"/>
              <a:sym typeface="Malgun Gothic"/>
            </a:endParaRPr>
          </a:p>
        </p:txBody>
      </p:sp>
      <p:sp>
        <p:nvSpPr>
          <p:cNvPr id="1684" name="Google Shape;1684;g3faefd80bea_2_64"/>
          <p:cNvSpPr/>
          <p:nvPr/>
        </p:nvSpPr>
        <p:spPr>
          <a:xfrm>
            <a:off x="0" y="0"/>
            <a:ext cx="12191695" cy="100584"/>
          </a:xfrm>
          <a:prstGeom prst="rect">
            <a:avLst/>
          </a:prstGeom>
          <a:solidFill>
            <a:srgbClr val="1F7A4F"/>
          </a:solidFill>
          <a:ln cap="flat" cmpd="sng" w="12700">
            <a:solidFill>
              <a:srgbClr val="1F7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g3faefd80bea_2_64"/>
          <p:cNvSpPr/>
          <p:nvPr/>
        </p:nvSpPr>
        <p:spPr>
          <a:xfrm>
            <a:off x="2057400" y="329184"/>
            <a:ext cx="1965960" cy="292608"/>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g3faefd80bea_2_64"/>
          <p:cNvSpPr/>
          <p:nvPr/>
        </p:nvSpPr>
        <p:spPr>
          <a:xfrm>
            <a:off x="2103120" y="329184"/>
            <a:ext cx="1874520" cy="292608"/>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04 · DB 설계</a:t>
            </a:r>
            <a:endParaRPr b="0" i="0" sz="850" u="none" cap="none" strike="noStrike">
              <a:solidFill>
                <a:schemeClr val="dk1"/>
              </a:solidFill>
              <a:latin typeface="Malgun Gothic"/>
              <a:ea typeface="Malgun Gothic"/>
              <a:cs typeface="Malgun Gothic"/>
              <a:sym typeface="Malgun Gothic"/>
            </a:endParaRPr>
          </a:p>
        </p:txBody>
      </p:sp>
      <p:sp>
        <p:nvSpPr>
          <p:cNvPr id="1687" name="Google Shape;1687;g3faefd80bea_2_64"/>
          <p:cNvSpPr/>
          <p:nvPr/>
        </p:nvSpPr>
        <p:spPr>
          <a:xfrm>
            <a:off x="2057400" y="768096"/>
            <a:ext cx="9738360" cy="47548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73F2F"/>
              </a:buClr>
              <a:buSzPts val="2600"/>
              <a:buFont typeface="Malgun Gothic"/>
              <a:buNone/>
            </a:pPr>
            <a:r>
              <a:rPr b="1" i="0" lang="en-US" sz="2600" u="none" cap="none" strike="noStrike">
                <a:solidFill>
                  <a:srgbClr val="173F2F"/>
                </a:solidFill>
                <a:latin typeface="Malgun Gothic"/>
                <a:ea typeface="Malgun Gothic"/>
                <a:cs typeface="Malgun Gothic"/>
                <a:sym typeface="Malgun Gothic"/>
              </a:rPr>
              <a:t>Chroma DB + SQLite → PostgreSQL</a:t>
            </a:r>
            <a:endParaRPr b="0" i="0" sz="2600" u="none" cap="none" strike="noStrike">
              <a:solidFill>
                <a:schemeClr val="dk1"/>
              </a:solidFill>
              <a:latin typeface="Malgun Gothic"/>
              <a:ea typeface="Malgun Gothic"/>
              <a:cs typeface="Malgun Gothic"/>
              <a:sym typeface="Malgun Gothic"/>
            </a:endParaRPr>
          </a:p>
        </p:txBody>
      </p:sp>
      <p:sp>
        <p:nvSpPr>
          <p:cNvPr id="1688" name="Google Shape;1688;g3faefd80bea_2_64"/>
          <p:cNvSpPr/>
          <p:nvPr/>
        </p:nvSpPr>
        <p:spPr>
          <a:xfrm>
            <a:off x="2193471" y="1304977"/>
            <a:ext cx="9738300" cy="2559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F7E76"/>
              </a:buClr>
              <a:buSzPts val="1150"/>
              <a:buFont typeface="Malgun Gothic"/>
              <a:buNone/>
            </a:pPr>
            <a:r>
              <a:rPr b="0" i="0" lang="en-US" sz="1150" u="none" cap="none" strike="noStrike">
                <a:solidFill>
                  <a:srgbClr val="6F7E76"/>
                </a:solidFill>
                <a:latin typeface="Malgun Gothic"/>
                <a:ea typeface="Malgun Gothic"/>
                <a:cs typeface="Malgun Gothic"/>
                <a:sym typeface="Malgun Gothic"/>
              </a:rPr>
              <a:t>좌표까지 근사 검색으로 찾는 방식에서, 정형 메타데이터 기반 승인 구조로 전환.</a:t>
            </a:r>
            <a:endParaRPr b="0" i="0" sz="1150" u="none" cap="none" strike="noStrike">
              <a:solidFill>
                <a:schemeClr val="dk1"/>
              </a:solidFill>
              <a:latin typeface="Malgun Gothic"/>
              <a:ea typeface="Malgun Gothic"/>
              <a:cs typeface="Malgun Gothic"/>
              <a:sym typeface="Malgun Gothic"/>
            </a:endParaRPr>
          </a:p>
        </p:txBody>
      </p:sp>
      <p:sp>
        <p:nvSpPr>
          <p:cNvPr id="1689" name="Google Shape;1689;g3faefd80bea_2_64"/>
          <p:cNvSpPr/>
          <p:nvPr/>
        </p:nvSpPr>
        <p:spPr>
          <a:xfrm>
            <a:off x="2057400" y="6510528"/>
            <a:ext cx="2560320" cy="137160"/>
          </a:xfrm>
          <a:prstGeom prst="rect">
            <a:avLst/>
          </a:prstGeom>
          <a:noFill/>
          <a:ln>
            <a:noFill/>
          </a:ln>
        </p:spPr>
        <p:txBody>
          <a:bodyPr anchorCtr="0" anchor="ctr" bIns="500" lIns="500" spcFirstLastPara="1" rIns="500" wrap="square" tIns="500">
            <a:noAutofit/>
          </a:bodyPr>
          <a:lstStyle/>
          <a:p>
            <a:pPr indent="0" lvl="0" marL="0" marR="0" rtl="0" algn="l">
              <a:lnSpc>
                <a:spcPct val="95000"/>
              </a:lnSpc>
              <a:spcBef>
                <a:spcPts val="0"/>
              </a:spcBef>
              <a:spcAft>
                <a:spcPts val="0"/>
              </a:spcAft>
              <a:buClr>
                <a:srgbClr val="8A9B92"/>
              </a:buClr>
              <a:buSzPts val="650"/>
              <a:buFont typeface="Malgun Gothic"/>
              <a:buNone/>
            </a:pPr>
            <a:r>
              <a:rPr b="0" i="0" lang="en-US" sz="650" u="none" cap="none" strike="noStrike">
                <a:solidFill>
                  <a:srgbClr val="8A9B92"/>
                </a:solidFill>
                <a:latin typeface="Malgun Gothic"/>
                <a:ea typeface="Malgun Gothic"/>
                <a:cs typeface="Malgun Gothic"/>
                <a:sym typeface="Malgun Gothic"/>
              </a:rPr>
              <a:t>KOSIS 뉴스 수치 주장 검증 PoC</a:t>
            </a:r>
            <a:endParaRPr b="0" i="0" sz="650" u="none" cap="none" strike="noStrike">
              <a:solidFill>
                <a:schemeClr val="dk1"/>
              </a:solidFill>
              <a:latin typeface="Malgun Gothic"/>
              <a:ea typeface="Malgun Gothic"/>
              <a:cs typeface="Malgun Gothic"/>
              <a:sym typeface="Malgun Gothic"/>
            </a:endParaRPr>
          </a:p>
        </p:txBody>
      </p:sp>
      <p:graphicFrame>
        <p:nvGraphicFramePr>
          <p:cNvPr id="1690" name="Google Shape;1690;g3faefd80bea_2_64"/>
          <p:cNvGraphicFramePr/>
          <p:nvPr/>
        </p:nvGraphicFramePr>
        <p:xfrm>
          <a:off x="2193471" y="2196783"/>
          <a:ext cx="3000000" cy="3000000"/>
        </p:xfrm>
        <a:graphic>
          <a:graphicData uri="http://schemas.openxmlformats.org/drawingml/2006/table">
            <a:tbl>
              <a:tblPr>
                <a:noFill/>
                <a:tableStyleId>{45964FCD-4E89-4973-9509-FDA47E31D4AA}</a:tableStyleId>
              </a:tblPr>
              <a:tblGrid>
                <a:gridCol w="2286000"/>
                <a:gridCol w="3474725"/>
                <a:gridCol w="3383275"/>
              </a:tblGrid>
              <a:tr h="605800">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250" u="none" cap="none" strike="noStrike">
                          <a:solidFill>
                            <a:srgbClr val="22372E"/>
                          </a:solidFill>
                          <a:latin typeface="Malgun Gothic"/>
                          <a:ea typeface="Malgun Gothic"/>
                          <a:cs typeface="Malgun Gothic"/>
                          <a:sym typeface="Malgun Gothic"/>
                        </a:rPr>
                        <a:t>기존 접근</a:t>
                      </a:r>
                      <a:endParaRPr sz="12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250" u="none" cap="none" strike="noStrike">
                          <a:solidFill>
                            <a:srgbClr val="22372E"/>
                          </a:solidFill>
                          <a:latin typeface="Malgun Gothic"/>
                          <a:ea typeface="Malgun Gothic"/>
                          <a:cs typeface="Malgun Gothic"/>
                          <a:sym typeface="Malgun Gothic"/>
                        </a:rPr>
                        <a:t>문제</a:t>
                      </a:r>
                      <a:endParaRPr sz="12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c>
                  <a:txBody>
                    <a:bodyPr/>
                    <a:lstStyle/>
                    <a:p>
                      <a:pPr indent="0" lvl="0" marL="0" marR="0" rtl="0" algn="ctr">
                        <a:lnSpc>
                          <a:spcPct val="100000"/>
                        </a:lnSpc>
                        <a:spcBef>
                          <a:spcPts val="0"/>
                        </a:spcBef>
                        <a:spcAft>
                          <a:spcPts val="0"/>
                        </a:spcAft>
                        <a:buClr>
                          <a:srgbClr val="22372E"/>
                        </a:buClr>
                        <a:buSzPts val="950"/>
                        <a:buFont typeface="Malgun Gothic"/>
                        <a:buNone/>
                      </a:pPr>
                      <a:r>
                        <a:rPr b="1" lang="en-US" sz="1250" u="none" cap="none" strike="noStrike">
                          <a:solidFill>
                            <a:srgbClr val="22372E"/>
                          </a:solidFill>
                          <a:latin typeface="Malgun Gothic"/>
                          <a:ea typeface="Malgun Gothic"/>
                          <a:cs typeface="Malgun Gothic"/>
                          <a:sym typeface="Malgun Gothic"/>
                        </a:rPr>
                        <a:t>최종 선택</a:t>
                      </a:r>
                      <a:endParaRPr sz="125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E7F1EB"/>
                    </a:solidFill>
                  </a:tcPr>
                </a:tc>
              </a:tr>
              <a:tr h="6058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170" u="none" cap="none" strike="noStrike">
                          <a:solidFill>
                            <a:srgbClr val="22372E"/>
                          </a:solidFill>
                          <a:latin typeface="Malgun Gothic"/>
                          <a:ea typeface="Malgun Gothic"/>
                          <a:cs typeface="Malgun Gothic"/>
                          <a:sym typeface="Malgun Gothic"/>
                        </a:rPr>
                        <a:t>Chroma DB 좌표 문서화</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170" u="none" cap="none" strike="noStrike">
                          <a:solidFill>
                            <a:srgbClr val="22372E"/>
                          </a:solidFill>
                          <a:latin typeface="Malgun Gothic"/>
                          <a:ea typeface="Malgun Gothic"/>
                          <a:cs typeface="Malgun Gothic"/>
                          <a:sym typeface="Malgun Gothic"/>
                        </a:rPr>
                        <a:t>의미적으로 비슷한 좌표가 많지만 모두 정답 좌표는 아님</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170" u="none" cap="none" strike="noStrike">
                          <a:solidFill>
                            <a:srgbClr val="22372E"/>
                          </a:solidFill>
                          <a:latin typeface="Malgun Gothic"/>
                          <a:ea typeface="Malgun Gothic"/>
                          <a:cs typeface="Malgun Gothic"/>
                          <a:sym typeface="Malgun Gothic"/>
                        </a:rPr>
                        <a:t>BGE는 표 후보까지만 선정</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6058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170" u="none" cap="none" strike="noStrike">
                          <a:solidFill>
                            <a:srgbClr val="22372E"/>
                          </a:solidFill>
                          <a:latin typeface="Malgun Gothic"/>
                          <a:ea typeface="Malgun Gothic"/>
                          <a:cs typeface="Malgun Gothic"/>
                          <a:sym typeface="Malgun Gothic"/>
                        </a:rPr>
                        <a:t>SQLite 단순 저장</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170" u="none" cap="none" strike="noStrike">
                          <a:solidFill>
                            <a:srgbClr val="22372E"/>
                          </a:solidFill>
                          <a:latin typeface="Malgun Gothic"/>
                          <a:ea typeface="Malgun Gothic"/>
                          <a:cs typeface="Malgun Gothic"/>
                          <a:sym typeface="Malgun Gothic"/>
                        </a:rPr>
                        <a:t>복잡한 좌표 조합과 조회 확장성 한계</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170" u="none" cap="none" strike="noStrike">
                          <a:solidFill>
                            <a:srgbClr val="22372E"/>
                          </a:solidFill>
                          <a:latin typeface="Malgun Gothic"/>
                          <a:ea typeface="Malgun Gothic"/>
                          <a:cs typeface="Malgun Gothic"/>
                          <a:sym typeface="Malgun Gothic"/>
                        </a:rPr>
                        <a:t>PostgreSQL로 메타데이터 정규화</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r h="605800">
                <a:tc>
                  <a:txBody>
                    <a:bodyPr/>
                    <a:lstStyle/>
                    <a:p>
                      <a:pPr indent="0" lvl="0" marL="0" marR="0" rtl="0" algn="ctr">
                        <a:lnSpc>
                          <a:spcPct val="100000"/>
                        </a:lnSpc>
                        <a:spcBef>
                          <a:spcPts val="0"/>
                        </a:spcBef>
                        <a:spcAft>
                          <a:spcPts val="0"/>
                        </a:spcAft>
                        <a:buClr>
                          <a:srgbClr val="22372E"/>
                        </a:buClr>
                        <a:buSzPts val="870"/>
                        <a:buFont typeface="Malgun Gothic"/>
                        <a:buNone/>
                      </a:pPr>
                      <a:r>
                        <a:rPr b="1" lang="en-US" sz="1170" u="none" cap="none" strike="noStrike">
                          <a:solidFill>
                            <a:srgbClr val="22372E"/>
                          </a:solidFill>
                          <a:latin typeface="Malgun Gothic"/>
                          <a:ea typeface="Malgun Gothic"/>
                          <a:cs typeface="Malgun Gothic"/>
                          <a:sym typeface="Malgun Gothic"/>
                        </a:rPr>
                        <a:t>LLM 좌표 선택</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AFCFB"/>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170" u="none" cap="none" strike="noStrike">
                          <a:solidFill>
                            <a:srgbClr val="22372E"/>
                          </a:solidFill>
                          <a:latin typeface="Malgun Gothic"/>
                          <a:ea typeface="Malgun Gothic"/>
                          <a:cs typeface="Malgun Gothic"/>
                          <a:sym typeface="Malgun Gothic"/>
                        </a:rPr>
                        <a:t>후보 밖 코드를 만들 수 있음</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2372E"/>
                        </a:buClr>
                        <a:buSzPts val="870"/>
                        <a:buFont typeface="Malgun Gothic"/>
                        <a:buNone/>
                      </a:pPr>
                      <a:r>
                        <a:rPr lang="en-US" sz="1170" u="none" cap="none" strike="noStrike">
                          <a:solidFill>
                            <a:srgbClr val="22372E"/>
                          </a:solidFill>
                          <a:latin typeface="Malgun Gothic"/>
                          <a:ea typeface="Malgun Gothic"/>
                          <a:cs typeface="Malgun Gothic"/>
                          <a:sym typeface="Malgun Gothic"/>
                        </a:rPr>
                        <a:t>후보 목록 + DB 검증으로 폐기</a:t>
                      </a:r>
                      <a:endParaRPr sz="1170" u="none" cap="none" strike="noStrike">
                        <a:latin typeface="Malgun Gothic"/>
                        <a:ea typeface="Malgun Gothic"/>
                        <a:cs typeface="Malgun Gothic"/>
                        <a:sym typeface="Malgun Gothic"/>
                      </a:endParaRPr>
                    </a:p>
                  </a:txBody>
                  <a:tcPr marT="64000" marB="64000" marR="64000" marL="64000" anchor="ctr">
                    <a:lnL cap="flat" cmpd="sng" w="10150">
                      <a:solidFill>
                        <a:srgbClr val="D7E3DA"/>
                      </a:solidFill>
                      <a:prstDash val="solid"/>
                      <a:round/>
                      <a:headEnd len="sm" w="sm" type="none"/>
                      <a:tailEnd len="sm" w="sm" type="none"/>
                    </a:lnL>
                    <a:lnR cap="flat" cmpd="sng" w="10150">
                      <a:solidFill>
                        <a:srgbClr val="D7E3DA"/>
                      </a:solidFill>
                      <a:prstDash val="solid"/>
                      <a:round/>
                      <a:headEnd len="sm" w="sm" type="none"/>
                      <a:tailEnd len="sm" w="sm" type="none"/>
                    </a:lnR>
                    <a:lnT cap="flat" cmpd="sng" w="10150">
                      <a:solidFill>
                        <a:srgbClr val="D7E3DA"/>
                      </a:solidFill>
                      <a:prstDash val="solid"/>
                      <a:round/>
                      <a:headEnd len="sm" w="sm" type="none"/>
                      <a:tailEnd len="sm" w="sm" type="none"/>
                    </a:lnT>
                    <a:lnB cap="flat" cmpd="sng" w="10150">
                      <a:solidFill>
                        <a:srgbClr val="D7E3DA"/>
                      </a:solidFill>
                      <a:prstDash val="solid"/>
                      <a:round/>
                      <a:headEnd len="sm" w="sm" type="none"/>
                      <a:tailEnd len="sm" w="sm" type="none"/>
                    </a:lnB>
                    <a:solidFill>
                      <a:srgbClr val="FFFFFF"/>
                    </a:solidFill>
                  </a:tcPr>
                </a:tc>
              </a:tr>
            </a:tbl>
          </a:graphicData>
        </a:graphic>
      </p:graphicFrame>
      <p:sp>
        <p:nvSpPr>
          <p:cNvPr id="1691" name="Google Shape;1691;g3faefd80bea_2_64"/>
          <p:cNvSpPr/>
          <p:nvPr/>
        </p:nvSpPr>
        <p:spPr>
          <a:xfrm>
            <a:off x="2376476" y="4881657"/>
            <a:ext cx="8961000" cy="347400"/>
          </a:xfrm>
          <a:prstGeom prst="rect">
            <a:avLst/>
          </a:prstGeom>
          <a:noFill/>
          <a:ln>
            <a:noFill/>
          </a:ln>
        </p:spPr>
        <p:txBody>
          <a:bodyPr anchorCtr="0" anchor="ctr" bIns="500" lIns="500" spcFirstLastPara="1" rIns="500" wrap="square" tIns="500">
            <a:noAutofit/>
          </a:bodyPr>
          <a:lstStyle/>
          <a:p>
            <a:pPr indent="0" lvl="0" marL="0" marR="0" rtl="0" algn="ctr">
              <a:lnSpc>
                <a:spcPct val="95000"/>
              </a:lnSpc>
              <a:spcBef>
                <a:spcPts val="0"/>
              </a:spcBef>
              <a:spcAft>
                <a:spcPts val="0"/>
              </a:spcAft>
              <a:buClr>
                <a:srgbClr val="173F2F"/>
              </a:buClr>
              <a:buSzPts val="1200"/>
              <a:buFont typeface="Malgun Gothic"/>
              <a:buNone/>
            </a:pPr>
            <a:r>
              <a:rPr b="1" i="0" lang="en-US" sz="1200" u="none" cap="none" strike="noStrike">
                <a:solidFill>
                  <a:srgbClr val="173F2F"/>
                </a:solidFill>
                <a:latin typeface="Malgun Gothic"/>
                <a:ea typeface="Malgun Gothic"/>
                <a:cs typeface="Malgun Gothic"/>
                <a:sym typeface="Malgun Gothic"/>
              </a:rPr>
              <a:t>DB에는 통계표, ITEM, OBJ, period, unit, value처럼 실제 검증에 필요한 좌표형 정보를 분리해 저장</a:t>
            </a:r>
            <a:endParaRPr b="0" i="0" sz="1200" u="none" cap="none" strike="noStrike">
              <a:solidFill>
                <a:schemeClr val="dk1"/>
              </a:solidFill>
              <a:latin typeface="Malgun Gothic"/>
              <a:ea typeface="Malgun Gothic"/>
              <a:cs typeface="Malgun Gothic"/>
              <a:sym typeface="Malgun Gothic"/>
            </a:endParaRPr>
          </a:p>
        </p:txBody>
      </p:sp>
      <p:sp>
        <p:nvSpPr>
          <p:cNvPr id="1692" name="Google Shape;1692;g3faefd80bea_2_64"/>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g3faefd80bea_2_64"/>
          <p:cNvSpPr/>
          <p:nvPr/>
        </p:nvSpPr>
        <p:spPr>
          <a:xfrm>
            <a:off x="2209741" y="304800"/>
            <a:ext cx="1724100" cy="26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a:t>
            </a:r>
            <a:endParaRPr b="0" i="0" sz="1400" u="none" cap="none" strike="noStrike">
              <a:solidFill>
                <a:srgbClr val="000000"/>
              </a:solidFill>
              <a:latin typeface="Arial"/>
              <a:ea typeface="Arial"/>
              <a:cs typeface="Arial"/>
              <a:sym typeface="Arial"/>
            </a:endParaRPr>
          </a:p>
        </p:txBody>
      </p:sp>
      <p:sp>
        <p:nvSpPr>
          <p:cNvPr id="1694" name="Google Shape;1694;g3faefd80bea_2_64"/>
          <p:cNvSpPr/>
          <p:nvPr/>
        </p:nvSpPr>
        <p:spPr>
          <a:xfrm>
            <a:off x="0" y="146500"/>
            <a:ext cx="1621800" cy="6734100"/>
          </a:xfrm>
          <a:prstGeom prst="rect">
            <a:avLst/>
          </a:prstGeom>
          <a:solidFill>
            <a:srgbClr val="EAF1EB"/>
          </a:solidFill>
          <a:ln cap="flat" cmpd="sng" w="11425">
            <a:solidFill>
              <a:srgbClr val="EAF1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g3faefd80bea_2_64"/>
          <p:cNvSpPr/>
          <p:nvPr/>
        </p:nvSpPr>
        <p:spPr>
          <a:xfrm>
            <a:off x="-34500" y="114296"/>
            <a:ext cx="1809600" cy="6743700"/>
          </a:xfrm>
          <a:prstGeom prst="rect">
            <a:avLst/>
          </a:prstGeom>
          <a:solidFill>
            <a:srgbClr val="EEF3EF"/>
          </a:solidFill>
          <a:ln cap="flat" cmpd="sng" w="9525">
            <a:solidFill>
              <a:srgbClr val="EEF3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g3faefd80bea_2_64"/>
          <p:cNvSpPr/>
          <p:nvPr/>
        </p:nvSpPr>
        <p:spPr>
          <a:xfrm>
            <a:off x="376871" y="3232183"/>
            <a:ext cx="18900" cy="1116600"/>
          </a:xfrm>
          <a:prstGeom prst="rect">
            <a:avLst/>
          </a:prstGeom>
          <a:solidFill>
            <a:srgbClr val="D6E0D7"/>
          </a:solidFill>
          <a:ln cap="flat" cmpd="sng" w="9525">
            <a:solidFill>
              <a:srgbClr val="D6E0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g3faefd80bea_2_64"/>
          <p:cNvSpPr/>
          <p:nvPr/>
        </p:nvSpPr>
        <p:spPr>
          <a:xfrm>
            <a:off x="384525" y="1943075"/>
            <a:ext cx="10800" cy="1260000"/>
          </a:xfrm>
          <a:prstGeom prst="rect">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g3faefd80bea_2_64"/>
          <p:cNvSpPr/>
          <p:nvPr/>
        </p:nvSpPr>
        <p:spPr>
          <a:xfrm>
            <a:off x="348277" y="3737711"/>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g3faefd80bea_2_64"/>
          <p:cNvSpPr/>
          <p:nvPr/>
        </p:nvSpPr>
        <p:spPr>
          <a:xfrm>
            <a:off x="580896" y="18288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문제 정의</a:t>
            </a:r>
            <a:endParaRPr b="0" i="0" sz="750" u="none" cap="none" strike="noStrike">
              <a:solidFill>
                <a:srgbClr val="66786E"/>
              </a:solidFill>
              <a:latin typeface="Arial"/>
              <a:ea typeface="Arial"/>
              <a:cs typeface="Arial"/>
              <a:sym typeface="Arial"/>
            </a:endParaRPr>
          </a:p>
        </p:txBody>
      </p:sp>
      <p:sp>
        <p:nvSpPr>
          <p:cNvPr id="1700" name="Google Shape;1700;g3faefd80bea_2_64"/>
          <p:cNvSpPr/>
          <p:nvPr/>
        </p:nvSpPr>
        <p:spPr>
          <a:xfrm>
            <a:off x="580896" y="24384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6786E"/>
                </a:solidFill>
                <a:latin typeface="Arial"/>
                <a:ea typeface="Arial"/>
                <a:cs typeface="Arial"/>
                <a:sym typeface="Arial"/>
              </a:rPr>
              <a:t>프로젝트 계획</a:t>
            </a:r>
            <a:endParaRPr b="0" i="0" sz="750" u="none" cap="none" strike="noStrike">
              <a:solidFill>
                <a:srgbClr val="66786E"/>
              </a:solidFill>
              <a:latin typeface="Arial"/>
              <a:ea typeface="Arial"/>
              <a:cs typeface="Arial"/>
              <a:sym typeface="Arial"/>
            </a:endParaRPr>
          </a:p>
        </p:txBody>
      </p:sp>
      <p:sp>
        <p:nvSpPr>
          <p:cNvPr id="1701" name="Google Shape;1701;g3faefd80bea_2_64"/>
          <p:cNvSpPr/>
          <p:nvPr/>
        </p:nvSpPr>
        <p:spPr>
          <a:xfrm>
            <a:off x="580896" y="30480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1" i="0" lang="en-US" sz="888" u="none" cap="none" strike="noStrike">
                <a:solidFill>
                  <a:srgbClr val="66786E"/>
                </a:solidFill>
                <a:latin typeface="Arial"/>
                <a:ea typeface="Arial"/>
                <a:cs typeface="Arial"/>
                <a:sym typeface="Arial"/>
              </a:rPr>
              <a:t>프로젝트 과정</a:t>
            </a:r>
            <a:endParaRPr b="1" i="0" sz="1500" u="none" cap="none" strike="noStrike">
              <a:solidFill>
                <a:srgbClr val="66786E"/>
              </a:solidFill>
              <a:latin typeface="Arial"/>
              <a:ea typeface="Arial"/>
              <a:cs typeface="Arial"/>
              <a:sym typeface="Arial"/>
            </a:endParaRPr>
          </a:p>
        </p:txBody>
      </p:sp>
      <p:sp>
        <p:nvSpPr>
          <p:cNvPr id="1702" name="Google Shape;1702;g3faefd80bea_2_64"/>
          <p:cNvSpPr/>
          <p:nvPr/>
        </p:nvSpPr>
        <p:spPr>
          <a:xfrm>
            <a:off x="580896" y="3657611"/>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88"/>
              <a:buFont typeface="Arial"/>
              <a:buNone/>
            </a:pPr>
            <a:r>
              <a:rPr b="0" i="0" lang="en-US" sz="750" u="none" cap="none" strike="noStrike">
                <a:solidFill>
                  <a:srgbClr val="9AA9A0"/>
                </a:solidFill>
                <a:latin typeface="Arial"/>
                <a:ea typeface="Arial"/>
                <a:cs typeface="Arial"/>
                <a:sym typeface="Arial"/>
              </a:rPr>
              <a:t>평가 및 한계</a:t>
            </a:r>
            <a:endParaRPr b="0" i="0" sz="750" u="none" cap="none" strike="noStrike">
              <a:solidFill>
                <a:srgbClr val="9AA9A0"/>
              </a:solidFill>
              <a:latin typeface="Arial"/>
              <a:ea typeface="Arial"/>
              <a:cs typeface="Arial"/>
              <a:sym typeface="Arial"/>
            </a:endParaRPr>
          </a:p>
        </p:txBody>
      </p:sp>
      <p:sp>
        <p:nvSpPr>
          <p:cNvPr id="1703" name="Google Shape;1703;g3faefd80bea_2_64"/>
          <p:cNvSpPr/>
          <p:nvPr/>
        </p:nvSpPr>
        <p:spPr>
          <a:xfrm>
            <a:off x="580896" y="4244597"/>
            <a:ext cx="8763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50"/>
              <a:buFont typeface="Arial"/>
              <a:buNone/>
            </a:pPr>
            <a:r>
              <a:rPr b="0" i="0" lang="en-US" sz="750" u="none" cap="none" strike="noStrike">
                <a:solidFill>
                  <a:srgbClr val="9AA9A0"/>
                </a:solidFill>
                <a:latin typeface="Arial"/>
                <a:ea typeface="Arial"/>
                <a:cs typeface="Arial"/>
                <a:sym typeface="Arial"/>
              </a:rPr>
              <a:t>챗봇 시연</a:t>
            </a:r>
            <a:endParaRPr b="0" i="0" sz="750" u="none" cap="none" strike="noStrike">
              <a:solidFill>
                <a:srgbClr val="9AA9A0"/>
              </a:solidFill>
              <a:latin typeface="Arial"/>
              <a:ea typeface="Arial"/>
              <a:cs typeface="Arial"/>
              <a:sym typeface="Arial"/>
            </a:endParaRPr>
          </a:p>
        </p:txBody>
      </p:sp>
      <p:grpSp>
        <p:nvGrpSpPr>
          <p:cNvPr id="1704" name="Google Shape;1704;g3faefd80bea_2_64"/>
          <p:cNvGrpSpPr/>
          <p:nvPr/>
        </p:nvGrpSpPr>
        <p:grpSpPr>
          <a:xfrm>
            <a:off x="283429" y="3067107"/>
            <a:ext cx="209400" cy="209700"/>
            <a:chOff x="-3275292" y="2173036"/>
            <a:chExt cx="209400" cy="209700"/>
          </a:xfrm>
        </p:grpSpPr>
        <p:sp>
          <p:nvSpPr>
            <p:cNvPr id="1705" name="Google Shape;1705;g3faefd80bea_2_64"/>
            <p:cNvSpPr/>
            <p:nvPr/>
          </p:nvSpPr>
          <p:spPr>
            <a:xfrm>
              <a:off x="-3275292" y="2173036"/>
              <a:ext cx="209400" cy="209700"/>
            </a:xfrm>
            <a:prstGeom prst="ellipse">
              <a:avLst/>
            </a:prstGeom>
            <a:solidFill>
              <a:srgbClr val="EAF1EB"/>
            </a:solidFill>
            <a:ln cap="flat" cmpd="sng" w="1427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g3faefd80bea_2_64"/>
            <p:cNvSpPr/>
            <p:nvPr/>
          </p:nvSpPr>
          <p:spPr>
            <a:xfrm>
              <a:off x="-3237193" y="2211136"/>
              <a:ext cx="133200" cy="1335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07" name="Google Shape;1707;g3faefd80bea_2_64"/>
          <p:cNvSpPr/>
          <p:nvPr/>
        </p:nvSpPr>
        <p:spPr>
          <a:xfrm>
            <a:off x="354027" y="1910377"/>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g3faefd80bea_2_64"/>
          <p:cNvSpPr/>
          <p:nvPr/>
        </p:nvSpPr>
        <p:spPr>
          <a:xfrm>
            <a:off x="354027" y="2514602"/>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g3faefd80bea_2_64"/>
          <p:cNvSpPr/>
          <p:nvPr/>
        </p:nvSpPr>
        <p:spPr>
          <a:xfrm>
            <a:off x="350123" y="312688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g3faefd80bea_2_64"/>
          <p:cNvSpPr/>
          <p:nvPr/>
        </p:nvSpPr>
        <p:spPr>
          <a:xfrm>
            <a:off x="350027" y="3735139"/>
            <a:ext cx="76200" cy="76200"/>
          </a:xfrm>
          <a:prstGeom prst="ellipse">
            <a:avLst/>
          </a:prstGeom>
          <a:solidFill>
            <a:srgbClr val="3F7A57"/>
          </a:solidFill>
          <a:ln cap="flat" cmpd="sng" w="9525">
            <a:solidFill>
              <a:srgbClr val="3F7A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g3faefd80bea_2_64"/>
          <p:cNvSpPr/>
          <p:nvPr/>
        </p:nvSpPr>
        <p:spPr>
          <a:xfrm>
            <a:off x="348294" y="4310711"/>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g3faefd80bea_2_64"/>
          <p:cNvSpPr/>
          <p:nvPr/>
        </p:nvSpPr>
        <p:spPr>
          <a:xfrm>
            <a:off x="348294" y="3736868"/>
            <a:ext cx="76200" cy="76200"/>
          </a:xfrm>
          <a:prstGeom prst="ellipse">
            <a:avLst/>
          </a:prstGeom>
          <a:solidFill>
            <a:srgbClr val="FFFFFF"/>
          </a:solidFill>
          <a:ln cap="flat" cmpd="sng" w="11425">
            <a:solidFill>
              <a:srgbClr val="9AA9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g3faefd80bea_2_64"/>
          <p:cNvSpPr/>
          <p:nvPr/>
        </p:nvSpPr>
        <p:spPr>
          <a:xfrm>
            <a:off x="2057400" y="329184"/>
            <a:ext cx="1965900" cy="292500"/>
          </a:xfrm>
          <a:prstGeom prst="roundRect">
            <a:avLst>
              <a:gd fmla="val 43750" name="adj"/>
            </a:avLst>
          </a:prstGeom>
          <a:solidFill>
            <a:srgbClr val="E7F1EB"/>
          </a:solidFill>
          <a:ln cap="flat" cmpd="sng" w="13950">
            <a:solidFill>
              <a:srgbClr val="D7E3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g3faefd80bea_2_64"/>
          <p:cNvSpPr/>
          <p:nvPr/>
        </p:nvSpPr>
        <p:spPr>
          <a:xfrm>
            <a:off x="2103120" y="329184"/>
            <a:ext cx="1874400" cy="292500"/>
          </a:xfrm>
          <a:prstGeom prst="rect">
            <a:avLst/>
          </a:prstGeom>
          <a:noFill/>
          <a:ln>
            <a:noFill/>
          </a:ln>
        </p:spPr>
        <p:txBody>
          <a:bodyPr anchorCtr="0" anchor="ctr" bIns="125" lIns="125" spcFirstLastPara="1" rIns="125" wrap="square" tIns="125">
            <a:noAutofit/>
          </a:bodyPr>
          <a:lstStyle/>
          <a:p>
            <a:pPr indent="0" lvl="0" marL="0" marR="0" rtl="0" algn="l">
              <a:lnSpc>
                <a:spcPct val="95000"/>
              </a:lnSpc>
              <a:spcBef>
                <a:spcPts val="0"/>
              </a:spcBef>
              <a:spcAft>
                <a:spcPts val="0"/>
              </a:spcAft>
              <a:buClr>
                <a:srgbClr val="1F7A4F"/>
              </a:buClr>
              <a:buSzPts val="850"/>
              <a:buFont typeface="Malgun Gothic"/>
              <a:buNone/>
            </a:pPr>
            <a:r>
              <a:rPr b="1" i="0" lang="en-US" sz="850" u="none" cap="none" strike="noStrike">
                <a:solidFill>
                  <a:srgbClr val="1F7A4F"/>
                </a:solidFill>
                <a:latin typeface="Malgun Gothic"/>
                <a:ea typeface="Malgun Gothic"/>
                <a:cs typeface="Malgun Gothic"/>
                <a:sym typeface="Malgun Gothic"/>
              </a:rPr>
              <a:t>04 · 검색 전략</a:t>
            </a:r>
            <a:endParaRPr b="0" i="0" sz="850" u="none" cap="none" strike="noStrike">
              <a:solidFill>
                <a:schemeClr val="dk1"/>
              </a:solidFill>
              <a:latin typeface="Malgun Gothic"/>
              <a:ea typeface="Malgun Gothic"/>
              <a:cs typeface="Malgun Gothic"/>
              <a:sym typeface="Malgun Gothic"/>
            </a:endParaRPr>
          </a:p>
        </p:txBody>
      </p:sp>
      <p:sp>
        <p:nvSpPr>
          <p:cNvPr id="1715" name="Google Shape;1715;g3faefd80bea_2_64"/>
          <p:cNvSpPr/>
          <p:nvPr/>
        </p:nvSpPr>
        <p:spPr>
          <a:xfrm>
            <a:off x="2095444" y="295275"/>
            <a:ext cx="1952700" cy="295200"/>
          </a:xfrm>
          <a:prstGeom prst="roundRect">
            <a:avLst>
              <a:gd fmla="val 38710" name="adj"/>
            </a:avLst>
          </a:prstGeom>
          <a:solidFill>
            <a:srgbClr val="E8F1EA"/>
          </a:solidFill>
          <a:ln cap="flat" cmpd="sng" w="9525">
            <a:solidFill>
              <a:srgbClr val="E8F1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g3faefd80bea_2_64"/>
          <p:cNvSpPr/>
          <p:nvPr/>
        </p:nvSpPr>
        <p:spPr>
          <a:xfrm>
            <a:off x="2190700" y="304800"/>
            <a:ext cx="18096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3F7A57"/>
                </a:solidFill>
                <a:latin typeface="Calibri"/>
                <a:ea typeface="Calibri"/>
                <a:cs typeface="Calibri"/>
                <a:sym typeface="Calibri"/>
              </a:rPr>
              <a:t>03.·프로젝트 과정 - </a:t>
            </a:r>
            <a:r>
              <a:rPr b="1" lang="en-US" sz="975">
                <a:solidFill>
                  <a:srgbClr val="3F7A57"/>
                </a:solidFill>
                <a:latin typeface="Calibri"/>
                <a:ea typeface="Calibri"/>
                <a:cs typeface="Calibri"/>
                <a:sym typeface="Calibri"/>
              </a:rPr>
              <a:t>트러블슈팅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2026-08-24T06:56:48Z</dcterms:created>
  <dc:creator>OpenAI</dc:creator>
</cp:coreProperties>
</file>